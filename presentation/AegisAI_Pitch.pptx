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Open with a bold, single identity: Aegis AI is infrastructure, not a chatbot.</a:t>
            </a:r>
          </a:p>
          <a:p/>
          <a:p>
            <a:r>
              <a:t>🎤 SCRIPT</a:t>
            </a:r>
          </a:p>
          <a:p>
            <a:r>
              <a:t>Good [morning/afternoon]. I'm Sri, and this is Aegis AI — an intelligent AI infrastructure platform for insurance. Not a chatbot, not a single model — an AI operating system that any insurer can plug into through APIs. Today I'll show you what we've built, the research behind it, and where this becomes a company.</a:t>
            </a:r>
          </a:p>
          <a:p/>
          <a:p>
            <a:r>
              <a:t>❓ ANTICIPATED JURY Q&amp;A</a:t>
            </a:r>
          </a:p>
          <a:p>
            <a:r>
              <a:t>Q: Is this a product or a research project?</a:t>
            </a:r>
          </a:p>
          <a:p>
            <a:r>
              <a:t>A: Both — it is engineered as a working platform and grounded in current insurance-AI research. That dual nature is deliberate: a final-year project with startup ambition.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Frame the category: infrastructure/OS, integrated via APIs.</a:t>
            </a:r>
          </a:p>
          <a:p/>
          <a:p>
            <a:r>
              <a:t>🎤 SCRIPT</a:t>
            </a:r>
          </a:p>
          <a:p>
            <a:r>
              <a:t>Every insurer today is trying to build AI in-house and failing — it's expensive, opaque, and hard to trust. Aegis flips that: we become the AI layer they call. Today that layer is a live advisory and recommendation platform; the roadmap turns it into a full intelligence suite — fraud, damage, documents, identity, decisions.</a:t>
            </a:r>
          </a:p>
          <a:p/>
          <a:p>
            <a:r>
              <a:t>❓ ANTICIPATED JURY Q&amp;A</a:t>
            </a:r>
          </a:p>
          <a:p>
            <a:r>
              <a:t>Q: Why an OS analogy?</a:t>
            </a:r>
          </a:p>
          <a:p>
            <a:r>
              <a:t>A: Like an OS, we sit between the insurer's applications and the underlying AI, offering standard, governed, explainable services any app can call.</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Set expectations: this deck is honest about built vs. vision.</a:t>
            </a:r>
          </a:p>
          <a:p/>
          <a:p>
            <a:r>
              <a:t>🎤 SCRIPT</a:t>
            </a:r>
          </a:p>
          <a:p>
            <a:r>
              <a:t>I'll be precise throughout about what is running today versus what is on the roadmap — because in insurance, trust is the product. Everything I label ‘built’ you can see in the codebase; everything I label ‘vision’ is a funded next step, not a claim.</a:t>
            </a:r>
          </a:p>
          <a:p/>
          <a:p>
            <a:r>
              <a:t>❓ ANTICIPATED JURY Q&amp;A</a:t>
            </a:r>
          </a:p>
          <a:p>
            <a:r>
              <a:t>Q: How much is actually working?</a:t>
            </a:r>
          </a:p>
          <a:p>
            <a:r>
              <a:t>A: The advisory, recommendation, voice, memory, auth and API layers are working and tested. Computer-vision fraud/damage/OCR are the roadmap — I'll mark them clearly.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State the north star in one sentence.</a:t>
            </a:r>
          </a:p>
          <a:p/>
          <a:p>
            <a:r>
              <a:t>🎤 SCRIPT</a:t>
            </a:r>
          </a:p>
          <a:p>
            <a:r>
              <a:t>Our vision is simple to say and hard to build: make insurance AI you can actually trust — explainable, secure, and available to every insurer as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Show the capability surface as a set of API-shaped modules.</a:t>
            </a:r>
          </a:p>
          <a:p/>
          <a:p>
            <a:r>
              <a:t>🎤 SCRIPT</a:t>
            </a:r>
          </a:p>
          <a:p>
            <a:r>
              <a:t>Our mission is to deliver these nine intelligences as clean APIs. Three are live in advisory form today; the rest are the roadmap. The point is the shape: modular, composable, callable.</a:t>
            </a:r>
          </a:p>
          <a:p/>
          <a:p>
            <a:r>
              <a:t>❓ ANTICIPATED JURY Q&amp;A</a:t>
            </a:r>
          </a:p>
          <a:p>
            <a:r>
              <a:t>Q: Nine modules is a lot — realistic?</a:t>
            </a:r>
          </a:p>
          <a:p>
            <a:r>
              <a:t>A: We don't ship all nine at once. Each is an independent API with its own models and roadmap; we sequence them by customer pull and data availability.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Crystallise the strategy: integrate, don't replace.</a:t>
            </a:r>
          </a:p>
          <a:p/>
          <a:p>
            <a:r>
              <a:t>🎤 SCRIPT</a:t>
            </a:r>
          </a:p>
          <a:p>
            <a:r>
              <a:t>The single most important strategic choice we make: we do not ask insurers to replace anything. We sit alongside their core systems and give them AI through APIs. That's how you actually get into a conservative, regulated industry.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Contrast near-term deliverables with the platform end-state.</a:t>
            </a:r>
          </a:p>
          <a:p/>
          <a:p>
            <a:r>
              <a:t>🎤 SCRIPT</a:t>
            </a:r>
          </a:p>
          <a:p>
            <a:r>
              <a:t>Short term, we harden the MVP and add the first computer-vision modules. Long term, this becomes multi-tenant SaaS, a marketplace, and eventually a foundation model trained specifically for insurance.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Set up the problem at industry scale before the deep dives.</a:t>
            </a:r>
          </a:p>
          <a:p/>
          <a:p>
            <a:r>
              <a:t>🎤 SCRIPT</a:t>
            </a:r>
          </a:p>
          <a:p>
            <a:r>
              <a:t>Insurance is a trust business running on processes that can't verify trust. Widely cited industry estimates put fraud leakage in the hundreds of billions of dollars a year globally, while honest customers wait days for claims. I'll cite estimates as estimates — but the direction is not in dispute.</a:t>
            </a:r>
          </a:p>
          <a:p/>
          <a:p>
            <a:r>
              <a:t>❓ ANTICIPATED JURY Q&amp;A</a:t>
            </a:r>
          </a:p>
          <a:p>
            <a:r>
              <a:t>Q: Your market numbers — where from?</a:t>
            </a:r>
          </a:p>
          <a:p>
            <a:r>
              <a:t>A: Public industry estimates (e.g., Coalition Against Insurance Fraud, Swiss Re/Deloitte reports). I present them as cited estimates, never as our own measured data.</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Establish fraud as a networked, systemic problem — motivating a graph approach later.</a:t>
            </a:r>
          </a:p>
          <a:p/>
          <a:p>
            <a:r>
              <a:t>🎤 SCRIPT</a:t>
            </a:r>
          </a:p>
          <a:p>
            <a:r>
              <a:t>Fraud isn't one bad actor; it's networks — a garage, an agent, a customer, sometimes a clinic, repeating patterns across claims. Humans can't see those networks at scale. This is exactly why our fraud roadmap centres on graph intelligence.</a:t>
            </a:r>
          </a:p>
          <a:p/>
          <a:p>
            <a:r>
              <a:t>❓ ANTICIPATED JURY Q&amp;A</a:t>
            </a:r>
          </a:p>
          <a:p>
            <a:r>
              <a:t>Q: Isn't fraud detection already solved?</a:t>
            </a:r>
          </a:p>
          <a:p>
            <a:r>
              <a:t>A: Rules and basic anomaly scoring exist and are commoditised. What's missing is networked, explainable, evidence-backed detection — that's our differentiation.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Show that the evidence layer is broken — motivates CV forensics + provenance.</a:t>
            </a:r>
          </a:p>
          <a:p/>
          <a:p>
            <a:r>
              <a:t>🎤 SCRIPT</a:t>
            </a:r>
          </a:p>
          <a:p>
            <a:r>
              <a:t>Even when a claim is honest-looking, the evidence can be fabricated. Edited images, recycled old damage, forged bills, and increasingly deepfakes. There is no automated forensic check today. That's a whole product category by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Tie operational cost to customer experience — and to our mission's underserved users.</a:t>
            </a:r>
          </a:p>
          <a:p/>
          <a:p>
            <a:r>
              <a:t>🎤 SCRIPT</a:t>
            </a:r>
          </a:p>
          <a:p>
            <a:r>
              <a:t>Manual process is slow and expensive for the insurer and miserable for the customer. And it fails hardest for the people insurance already underserves — first-time buyers, seniors, rural and multilingual users. That underserved audience is where our advisory product already delivers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Name the gap our platform is designed around: trustworthy, explainable AI.</a:t>
            </a:r>
          </a:p>
          <a:p/>
          <a:p>
            <a:r>
              <a:t>🎤 SCRIPT</a:t>
            </a:r>
          </a:p>
          <a:p>
            <a:r>
              <a:t>Here's the deepest problem. Even accurate AI is useless in claims if it can't explain itself. Insurance is regulated and adversarial — every automated decision must be explainable, evidence-based, auditable, and human-supervised. Almost nobody builds AI that way. We do, from the ground 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One glance: problems on the left, our modules on the right; note recommendation is already live.</a:t>
            </a:r>
          </a:p>
          <a:p/>
          <a:p>
            <a:r>
              <a:t>🎤 SCRIPT</a:t>
            </a:r>
          </a:p>
          <a:p>
            <a:r>
              <a:t>This is the whole thesis on one slide. Left column, the problems. Right column, the Aegis intelligence that answers each. Notice the last row is already live — advisory and recommendation — and everything else is a sequenced roadmap off the same platform.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Signal academic rigour: our product is a response to a specific research gap.</a:t>
            </a:r>
          </a:p>
          <a:p/>
          <a:p>
            <a:r>
              <a:t>🎤 SCRIPT</a:t>
            </a:r>
          </a:p>
          <a:p>
            <a:r>
              <a:t>We didn't start from ‘let's build AI'. We started from the literature. This paper — Bridging Research and Reality — maps what research promises against what insurers actually deploy. The delta between the two is our product.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Summarise objectives and findings crisply.</a:t>
            </a:r>
          </a:p>
          <a:p/>
          <a:p>
            <a:r>
              <a:t>🎤 SCRIPT</a:t>
            </a:r>
          </a:p>
          <a:p>
            <a:r>
              <a:t>The findings are striking: AI demos beautifully and dies in production. The blockers aren't model accuracy — they're trust, explainability, data quality and integration. That reframes the opportunity from ‘better models' to ‘deployable, trustworthy platform'.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Disarm the ‘this already exists' objection by naming prior art first.</a:t>
            </a:r>
          </a:p>
          <a:p/>
          <a:p>
            <a:r>
              <a:t>🎤 SCRIPT</a:t>
            </a:r>
          </a:p>
          <a:p>
            <a:r>
              <a:t>Let me be the first to say it: chatbots, OCR, fraud scoring, recommendation and claims automation all exist and are commoditised. If that's all we were, we'd be late. But these are features. None of them make an explainable, evidence-based decision or run an investigation. That composition is the whitespace.</a:t>
            </a:r>
          </a:p>
          <a:p/>
          <a:p>
            <a:r>
              <a:t>❓ ANTICIPATED JURY Q&amp;A</a:t>
            </a:r>
          </a:p>
          <a:p>
            <a:r>
              <a:t>Q: How are you different from existing insurtech?</a:t>
            </a:r>
          </a:p>
          <a:p>
            <a:r>
              <a:t>A: They sell point features. We sell the decision + evidence + explanation layer that orchestrates those features — plus the API platform to deliver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List the exact gaps we will map to features next.</a:t>
            </a:r>
          </a:p>
          <a:p/>
          <a:p>
            <a:r>
              <a:t>🎤 SCRIPT</a:t>
            </a:r>
          </a:p>
          <a:p>
            <a:r>
              <a:t>Six gaps: explainability, decision, integration, trust, data and investigation. Keep these six in mind — the next slide maps each one directly to an Aegis capability. That one-to-one mapping is what makes this research-driven, not feature-driven.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Present the nine differentiators as the missing ‘decision &amp; trust' layer.</a:t>
            </a:r>
          </a:p>
          <a:p/>
          <a:p>
            <a:r>
              <a:t>🎤 SCRIPT</a:t>
            </a:r>
          </a:p>
          <a:p>
            <a:r>
              <a:t>Our nine differentiators aren't more detectors — they're the layer above detection: an Executive AI that orchestrates, decision and evidence intelligence, explainability, investigation, and the enterprise API to ship it — all human-in-the-loop. That's the bridge the paper says is missing.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Prove the research-to-build traceability, honestly labelled.</a:t>
            </a:r>
          </a:p>
          <a:p/>
          <a:p>
            <a:r>
              <a:t>🎤 SCRIPT</a:t>
            </a:r>
          </a:p>
          <a:p>
            <a:r>
              <a:t>Every gap becomes a concrete decision, and I mark exactly what's live versus roadmap versus vision. Explainability and integration are live in the core today; decision and investigation are the funded next steps; the knowledge graph and foundation model are the long-horizon vision.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Give the mental model: a 5-layer stack, mostly built.</a:t>
            </a:r>
          </a:p>
          <a:p/>
          <a:p>
            <a:r>
              <a:t>🎤 SCRIPT</a:t>
            </a:r>
          </a:p>
          <a:p>
            <a:r>
              <a:t>Think of Aegis as five layers. Experience, orchestration, intelligence, memory, and platform. Four of the five are live today; the intelligence layer is where the computer-vision roadmap plugs in. The architecture already assumes those modules.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This is the credibility slide — everything here is verifiable in the repo.</a:t>
            </a:r>
          </a:p>
          <a:p/>
          <a:p>
            <a:r>
              <a:t>🎤 SCRIPT</a:t>
            </a:r>
          </a:p>
          <a:p>
            <a:r>
              <a:t>This is the slide I most want you to hold me to. Every line here is in the codebase and under test. A working multi-agent AI engine, a secure full-stack product, voice, memory, recommendations, dashboards, and 200-plus tests. This is a real system, today.</a:t>
            </a:r>
          </a:p>
          <a:p/>
          <a:p>
            <a:r>
              <a:t>❓ ANTICIPATED JURY Q&amp;A</a:t>
            </a:r>
          </a:p>
          <a:p>
            <a:r>
              <a:t>Q: Can you demo it live?</a:t>
            </a:r>
          </a:p>
          <a:p>
            <a:r>
              <a:t>A: Yes — the advisor chat, recommendation flow, voice and dashboards all run locally. I can show the multi-agent transfer and the live reasoning trace on request.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Walk the request path and stress agent isolation + single router.</a:t>
            </a:r>
          </a:p>
          <a:p/>
          <a:p>
            <a:r>
              <a:t>🎤 SCRIPT</a:t>
            </a:r>
          </a:p>
          <a:p>
            <a:r>
              <a:t>A request comes from the UI, through the secure backend, into the Central Orchestrator — the only router. It detects intent, handles interruptions, and dispatches to one isolated specialist agent. Agents never read each other's memory except through the Memory Orchestrator. The knowledge base and LLM layer sit underneath. And on the right, the roadmap CV/fraud/OCR modules plug into the same orchestration — the architecture is already built to receive them.</a:t>
            </a:r>
          </a:p>
          <a:p/>
          <a:p>
            <a:r>
              <a:t>❓ ANTICIPATED JURY Q&amp;A</a:t>
            </a:r>
          </a:p>
          <a:p>
            <a:r>
              <a:t>Q: What stops one agent leaking another's data?</a:t>
            </a:r>
          </a:p>
          <a:p>
            <a:r>
              <a:t>A: Agent isolation is enforced: each has its own memory namespace, and the only cross-domain path is a sanctioned export in the Memory Orchestrator.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Explain the consented-transfer model and why it generalises to future agents.</a:t>
            </a:r>
          </a:p>
          <a:p/>
          <a:p>
            <a:r>
              <a:t>🎤 SCRIPT</a:t>
            </a:r>
          </a:p>
          <a:p>
            <a:r>
              <a:t>This is what makes us a platform, not a bot. The Executive AI behaves like a smart front desk: it understands intent and routes you to the right specialist, but only with your consent, and it can handle you changing your mind mid-conversation. Crucially, the exact same mechanism will route to a fraud agent or a damage agent tomorrow.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Show a real, growing agent org-chart; be explicit about live vs roadmap.</a:t>
            </a:r>
          </a:p>
          <a:p/>
          <a:p>
            <a:r>
              <a:t>🎤 SCRIPT</a:t>
            </a:r>
          </a:p>
          <a:p>
            <a:r>
              <a:t>Five specialist agents run today under the Executive AI. The roadmap adds an investigation cluster — fraud, OCR, damage, claim, evidence and investigation agents — onto the identical orchestration fabric. We're not redesigning; we're extending.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Position memory as both a UX win and a governance boundary.</a:t>
            </a:r>
          </a:p>
          <a:p/>
          <a:p>
            <a:r>
              <a:t>🎤 SCRIPT</a:t>
            </a:r>
          </a:p>
          <a:p>
            <a:r>
              <a:t>Memory does two jobs: it makes the experience feel personal and continuous, and it's a security boundary. Each domain has its own namespace; the only way data crosses domains is a sanctioned, audited export. That's how you personalise without leaking.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Tie the recommendation engine to the mission and to trust integrity.</a:t>
            </a:r>
          </a:p>
          <a:p/>
          <a:p>
            <a:r>
              <a:t>🎤 SCRIPT</a:t>
            </a:r>
          </a:p>
          <a:p>
            <a:r>
              <a:t>Our recommendation engine is live and, importantly, honest — it only shows facts we can verify from the catalogue, with visible guardrails against invented claims. It's budget-first and plain-language, built for the people insurance usually underserves.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Voice is an accessibility and reach story, not a gimmick.</a:t>
            </a:r>
          </a:p>
          <a:p/>
          <a:p>
            <a:r>
              <a:t>🎤 SCRIPT</a:t>
            </a:r>
          </a:p>
          <a:p>
            <a:r>
              <a:t>Voice and streaming aren't decoration — they're how we reach rural, senior and multilingual customers who won't fill a web form. The system streams its answer and even shows its reasoning live, which builds trust in the moment.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Show explainability is a live principle, deepening into evidence-based decisions.</a:t>
            </a:r>
          </a:p>
          <a:p/>
          <a:p>
            <a:r>
              <a:t>🎤 SCRIPT</a:t>
            </a:r>
          </a:p>
          <a:p>
            <a:r>
              <a:t>Explainability isn't a future promise for us — it's live in a basic form: the agent shows its reasoning, and recommendations explain themselves. The roadmap deepens this into evidence-linked decision receipts and model-level explanations for the ML modules.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Security is a feature in insurance — lead with it.</a:t>
            </a:r>
          </a:p>
          <a:p/>
          <a:p>
            <a:r>
              <a:t>🎤 SCRIPT</a:t>
            </a:r>
          </a:p>
          <a:p>
            <a:r>
              <a:t>In insurance, security and governance are product features, not afterthoughts. Auth, RBAC, tenant isolation, a gated AI engine, bounded inputs — all live. The roadmap adds formal compliance and AI-governance layers as we approach enterprise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Two portals live, two are the enterprise roadmap.</a:t>
            </a:r>
          </a:p>
          <a:p/>
          <a:p>
            <a:r>
              <a:t>🎤 SCRIPT</a:t>
            </a:r>
          </a:p>
          <a:p>
            <a:r>
              <a:t>Customer and admin portals are live. The enterprise console and developer portal — the surfaces that make this multi-tenant SaaS — are the roadmap, and they're what a design partner would help us shape.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The reference slide for honesty — return here if a jury pushes on scope.</a:t>
            </a:r>
          </a:p>
          <a:p/>
          <a:p>
            <a:r>
              <a:t>🎤 SCRIPT</a:t>
            </a:r>
          </a:p>
          <a:p>
            <a:r>
              <a:t>If you remember one slide, make it this one. Left is shipped and tested. Right is the funded roadmap. The reason I can promise the right column is that the left column's architecture — orchestration, memory, APIs, governance — was built to carry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Sell Vision — Damage Intelligence as a self-contained API business with clear models and value.</a:t>
            </a:r>
          </a:p>
          <a:p/>
          <a:p>
            <a:r>
              <a:t>🎤 SCRIPT</a:t>
            </a:r>
          </a:p>
          <a:p>
            <a:r>
              <a:t>Vehicle &amp; property damage is assessed by human eyeballing of photos — slow, inconsistent, and gameable with edited or old images. A CV pipeline that detects, segments and estimates damage severity from photos/video, flags reused or edited images, and produces an explainable repair estimate. Commercially, per-inspection api pricing + enterprise seats for claims teams.</a:t>
            </a:r>
          </a:p>
          <a:p/>
          <a:p>
            <a:r>
              <a:t>❓ ANTICIPATED JURY Q&amp;A</a:t>
            </a:r>
          </a:p>
          <a:p>
            <a:r>
              <a:t>Q: Do you have the data/models for this yet?</a:t>
            </a:r>
          </a:p>
          <a:p>
            <a:r>
              <a:t>A: Not deployed yet — this is roadmap. The architecture, agent fabric and API layer that host it are built; the models are the funded build. </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Sell Vision — Fraud &amp; Network Intelligence as a self-contained API business with clear models and value.</a:t>
            </a:r>
          </a:p>
          <a:p/>
          <a:p>
            <a:r>
              <a:t>🎤 SCRIPT</a:t>
            </a:r>
          </a:p>
          <a:p>
            <a:r>
              <a:t>Fraud is networked (garage–agent–customer rings) and adaptive; rules and single-claim scoring miss coordinated abuse. A hybrid engine: anomaly detection on each claim plus a Graph Neural Network over the actor network to surface rings, with an explained risk score and evidence. Commercially, usage-based scoring api + premium ‘network intelligence' tier.</a:t>
            </a:r>
          </a:p>
          <a:p/>
          <a:p>
            <a:r>
              <a:t>❓ ANTICIPATED JURY Q&amp;A</a:t>
            </a:r>
          </a:p>
          <a:p>
            <a:r>
              <a:t>Q: Do you have the data/models for this yet?</a:t>
            </a:r>
          </a:p>
          <a:p>
            <a:r>
              <a:t>A: Not deployed yet — this is roadmap. The architecture, agent fabric and API layer that host it are built; the models are the funded build. </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Sell Vision — OCR &amp; Document Forgery Intelligence as a self-contained API business with clear models and value.</a:t>
            </a:r>
          </a:p>
          <a:p/>
          <a:p>
            <a:r>
              <a:t>🎤 SCRIPT</a:t>
            </a:r>
          </a:p>
          <a:p>
            <a:r>
              <a:t>Claims run on documents — bills, prescriptions, RCs, FIRs — that are trivially forged and only spot-checked by humans. Intelligent OCR that extracts and structures fields, cross-checks them for consistency, and runs forgery/tamper forensics on the document image itself. Commercially, per-page ocr pricing + forgery-check add-on.</a:t>
            </a:r>
          </a:p>
          <a:p/>
          <a:p>
            <a:r>
              <a:t>❓ ANTICIPATED JURY Q&amp;A</a:t>
            </a:r>
          </a:p>
          <a:p>
            <a:r>
              <a:t>Q: Do you have the data/models for this yet?</a:t>
            </a:r>
          </a:p>
          <a:p>
            <a:r>
              <a:t>A: Not deployed yet — this is roadmap. The architecture, agent fabric and API layer that host it are built; the models are the funded build. </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Sell Vision — Identity, Liveness &amp; Deepfake Defence as a self-contained API business with clear models and value.</a:t>
            </a:r>
          </a:p>
          <a:p/>
          <a:p>
            <a:r>
              <a:t>🎤 SCRIPT</a:t>
            </a:r>
          </a:p>
          <a:p>
            <a:r>
              <a:t>Identity fraud, deepfakes and GPS spoofing let bad actors impersonate customers and fake where/when an incident happened. Live camera &amp; video verification with liveness detection, face matching, deepfake detection, and location/metadata anti-spoofing at claim intake. Commercially, per-verification api + enterprise kyc bundle.</a:t>
            </a:r>
          </a:p>
          <a:p/>
          <a:p>
            <a:r>
              <a:t>❓ ANTICIPATED JURY Q&amp;A</a:t>
            </a:r>
          </a:p>
          <a:p>
            <a:r>
              <a:t>Q: Do you have the data/models for this yet?</a:t>
            </a:r>
          </a:p>
          <a:p>
            <a:r>
              <a:t>A: Not deployed yet — this is roadmap. The architecture, agent fabric and API layer that host it are built; the models are the funded build. </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Sell Vision — Evidence &amp; Investigation Agents as a self-contained API business with clear models and value.</a:t>
            </a:r>
          </a:p>
          <a:p/>
          <a:p>
            <a:r>
              <a:t>🎤 SCRIPT</a:t>
            </a:r>
          </a:p>
          <a:p>
            <a:r>
              <a:t>Investigation is manual: an adjuster hand-collects evidence and can't see cross-claim relationships, so complex fraud slips through. Autonomous agents that gather evidence, assemble a provenance-checked case file, and run network analysis — always handing a human the final call. Commercially, seat-based investigator saas + per-case pricing.</a:t>
            </a:r>
          </a:p>
          <a:p/>
          <a:p>
            <a:r>
              <a:t>❓ ANTICIPATED JURY Q&amp;A</a:t>
            </a:r>
          </a:p>
          <a:p>
            <a:r>
              <a:t>Q: Do you have the data/models for this yet?</a:t>
            </a:r>
          </a:p>
          <a:p>
            <a:r>
              <a:t>A: Not deployed yet — this is roadmap. The architecture, agent fabric and API layer that host it are built; the models are the funded build. </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Sell Vision — Decision Intelligence, Learning &amp; Governance as a self-contained API business with clear models and value.</a:t>
            </a:r>
          </a:p>
          <a:p/>
          <a:p>
            <a:r>
              <a:t>🎤 SCRIPT</a:t>
            </a:r>
          </a:p>
          <a:p>
            <a:r>
              <a:t>Detection without a governed decision layer means inconsistent outcomes and no way to learn safely or prove compliance. A decision engine that fuses all signals into an explained, policy-aware verdict, with continuous &amp; federated learning, model monitoring and AI governance around it. Commercially, core platform tier — the layer everything else feeds.</a:t>
            </a:r>
          </a:p>
          <a:p/>
          <a:p>
            <a:r>
              <a:t>❓ ANTICIPATED JURY Q&amp;A</a:t>
            </a:r>
          </a:p>
          <a:p>
            <a:r>
              <a:t>Q: Do you have the data/models for this yet?</a:t>
            </a:r>
          </a:p>
          <a:p>
            <a:r>
              <a:t>A: Not deployed yet — this is roadmap. The architecture, agent fabric and API layer that host it are built; the models are the funded build. </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Sell Vision — Insurance Foundation Model &amp; Knowledge Graph as a self-contained API business with clear models and value.</a:t>
            </a:r>
          </a:p>
          <a:p/>
          <a:p>
            <a:r>
              <a:t>🎤 SCRIPT</a:t>
            </a:r>
          </a:p>
          <a:p>
            <a:r>
              <a:t>General LLMs don't understand insurance deeply; knowledge is fragmented across policies, claims and regulation. A private, insurance-specific foundation model plus an Insurance Knowledge Graph powering an ‘Insurance Copilot' for staff and customers. Commercially, platform-wide differentiator; licensing &amp; premium intelligence tiers.</a:t>
            </a:r>
          </a:p>
          <a:p/>
          <a:p>
            <a:r>
              <a:t>❓ ANTICIPATED JURY Q&amp;A</a:t>
            </a:r>
          </a:p>
          <a:p>
            <a:r>
              <a:t>Q: Do you have the data/models for this yet?</a:t>
            </a:r>
          </a:p>
          <a:p>
            <a:r>
              <a:t>A: Not deployed yet — this is roadmap. The architecture, agent fabric and API layer that host it are built; the models are the funded build. This is the long-horizon vision — it depends on data accumulated by the earlier modules.</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Demonstrate ML breadth and that model choices are deliberate, not buzzwords.</a:t>
            </a:r>
          </a:p>
          <a:p/>
          <a:p>
            <a:r>
              <a:t>🎤 SCRIPT</a:t>
            </a:r>
          </a:p>
          <a:p>
            <a:r>
              <a:t>We're not sprinkling buzzwords. Each model earns its place: tree ensembles for tabular fraud risk, graph nets for rings, YOLO and SAM for damage, transformers for documents, and provider-agnostic LLMs — which are live — for reasoning and the future Copilot.</a:t>
            </a:r>
          </a:p>
          <a:p/>
          <a:p>
            <a:r>
              <a:t>❓ ANTICIPATED JURY Q&amp;A</a:t>
            </a:r>
          </a:p>
          <a:p>
            <a:r>
              <a:t>Q: Why so many models?</a:t>
            </a:r>
          </a:p>
          <a:p>
            <a:r>
              <a:t>A: Because insurance spans tabular, image, text and graph data. One model can't cover it; the platform's job is to orchestrate the right one per task.</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Explain the business-critical integration model and its current status.</a:t>
            </a:r>
          </a:p>
          <a:p/>
          <a:p>
            <a:r>
              <a:t>🎤 SCRIPT</a:t>
            </a:r>
          </a:p>
          <a:p>
            <a:r>
              <a:t>The go-to-market is API-as-a-Service. An insurer integrates once and calls whichever intelligences they need, priced by usage. A service API exists today; the full multi-tenant developer platform with keys, quotas and billing is the roadmap we're raising to build.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Show diversified, platform-driven revenue.</a:t>
            </a:r>
          </a:p>
          <a:p/>
          <a:p>
            <a:r>
              <a:t>🎤 SCRIPT</a:t>
            </a:r>
          </a:p>
          <a:p>
            <a:r>
              <a:t>Because it's a platform, revenue compounds: SaaS seats, usage-based API pricing, enterprise licences, white-label, self-serve developer tiers, and public-sector and health channels. Land with advisory, expand into the high-value fraud and claims APIs.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Give a credible ‘why now' without inventing precise numbers.</a:t>
            </a:r>
          </a:p>
          <a:p/>
          <a:p>
            <a:r>
              <a:t>🎤 SCRIPT</a:t>
            </a:r>
          </a:p>
          <a:p>
            <a:r>
              <a:t>The market is enormous and digitising, and — critically — insurers are buying AI but don't trust it. The timing is right because LLMs, computer vision and graph ML have all matured, and regulation now rewards exactly the transparency we build in. I cite market figures as industry estimates, clearly labelled.</a:t>
            </a:r>
          </a:p>
          <a:p/>
          <a:p>
            <a:r>
              <a:t>❓ ANTICIPATED JURY Q&amp;A</a:t>
            </a:r>
          </a:p>
          <a:p>
            <a:r>
              <a:t>Q: What's your TAM?</a:t>
            </a:r>
          </a:p>
          <a:p>
            <a:r>
              <a:t>A: Global insurance premiums are multi-trillion; even a small AI-services slice is a large market. I present these as cited third-party estimates, and our beachhead is advisory + fraud APIs, not the whole TAM.</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Directly claim the altitude — respectfully but firmly.</a:t>
            </a:r>
          </a:p>
          <a:p/>
          <a:p>
            <a:r>
              <a:t>🎤 SCRIPT</a:t>
            </a:r>
          </a:p>
          <a:p>
            <a:r>
              <a:t>I want to be direct about ambition. This is engineered as a platform and a company, not a course submission. It has real architecture, tests, security, a business model and a research foundation. That's the bar we're holding ourselves to.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Anchor everything on a concrete, staged plan with Phase 1 already done.</a:t>
            </a:r>
          </a:p>
          <a:p/>
          <a:p>
            <a:r>
              <a:t>🎤 SCRIPT</a:t>
            </a:r>
          </a:p>
          <a:p>
            <a:r>
              <a:t>Phase 1 — the advisory platform — is done. Phase 2 adds the first CV and fraud modules and the API. Phases 3 to 5 scale it to multi-tenant SaaS, a global API platform, and finally an insurance foundation model. Funding accelerates Phase 2 to 3.</a:t>
            </a:r>
          </a:p>
          <a:p/>
          <a:p>
            <a:r>
              <a:t>❓ ANTICIPATED JURY Q&amp;A</a:t>
            </a:r>
          </a:p>
          <a:p>
            <a:r>
              <a:t>Q: What would investment buy?</a:t>
            </a:r>
          </a:p>
          <a:p>
            <a:r>
              <a:t>A: Phase 2 execution: the fraud/OCR/damage APIs, a design-partner insurer, and the multi-tenant foundations for Phase 3.</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Frame the moat as the decision layer + data compounding.</a:t>
            </a:r>
          </a:p>
          <a:p/>
          <a:p>
            <a:r>
              <a:t>🎤 SCRIPT</a:t>
            </a:r>
          </a:p>
          <a:p>
            <a:r>
              <a:t>Competitors ship features and get commoditised. Our defensibility is the decision and trust layer on top, and the data that compounds through it into a knowledge graph and eventually a foundation model. That's a widening moat, not a model of the month.</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Close the problem loop: impact for insurer, customer and society.</a:t>
            </a:r>
          </a:p>
          <a:p/>
          <a:p>
            <a:r>
              <a:t>🎤 SCRIPT</a:t>
            </a:r>
          </a:p>
          <a:p>
            <a:r>
              <a:t>The impact is symmetric: insurers save money and defend decisions; customers get speed, fairness and understanding. And because we reach underserved users, there's a genuine social dimension — insurance that finally explains itself.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Ground the pitch in verifiable, current metrics — all from the repo.</a:t>
            </a:r>
          </a:p>
          <a:p/>
          <a:p>
            <a:r>
              <a:t>🎤 SCRIPT</a:t>
            </a:r>
          </a:p>
          <a:p>
            <a:r>
              <a:t>These numbers are all verifiable in the codebase, not marketing. Five live agents, a 36-plan catalogue, 200-plus tests, provider-agnostic LLMs, two live portals, Phase 1 complete. We're past the risky ‘does anything work' stage.</a:t>
            </a:r>
          </a:p>
          <a:p/>
          <a:p>
            <a:r>
              <a:t>❓ ANTICIPATED JURY Q&amp;A</a:t>
            </a:r>
          </a:p>
          <a:p>
            <a:r>
              <a:t>Q: Any customers or revenue yet?</a:t>
            </a:r>
          </a:p>
          <a:p>
            <a:r>
              <a:t>A: Not yet — this is a final-year build seeking its first design-partner insurer. The ask is a pilot, not a claim of traction we don't have.</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Pre-empt the hard questions; answer with the honesty theme.</a:t>
            </a:r>
          </a:p>
          <a:p/>
          <a:p>
            <a:r>
              <a:t>🎤 SCRIPT</a:t>
            </a:r>
          </a:p>
          <a:p>
            <a:r>
              <a:t>I'll leave these here for the panel. The through-line in every answer is the same: be precise about built vs. roadmap, lead with trust, and let the working system speak. Happy to go deep on any of them.</a:t>
            </a:r>
          </a:p>
          <a:p/>
          <a:p>
            <a:r>
              <a:t>❓ ANTICIPATED JURY Q&amp;A</a:t>
            </a:r>
          </a:p>
          <a:p>
            <a:r>
              <a:t>Q: What's the single biggest risk?</a:t>
            </a:r>
          </a:p>
          <a:p>
            <a:r>
              <a:t>A: Execution risk on the CV/fraud models and landing a first insurer. We de-risk by building on a proven platform and starting with a narrow, high-value fraud/OCR wedge.</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Lift back up to the vision before the close.</a:t>
            </a:r>
          </a:p>
          <a:p/>
          <a:p>
            <a:r>
              <a:t>🎤 SCRIPT</a:t>
            </a:r>
          </a:p>
          <a:p>
            <a:r>
              <a:t>Zoom back out. The world we're building is one where insurance AI is trusted by default — fraud stopped with evidence, claims in minutes, every decision explainable. Aegis is the operating system that gets the industry there.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Signal scholarship and honest sourcing.</a:t>
            </a:r>
          </a:p>
          <a:p/>
          <a:p>
            <a:r>
              <a:t>🎤 SCRIPT</a:t>
            </a:r>
          </a:p>
          <a:p>
            <a:r>
              <a:t>References are IEEE-style and real: the anchor paper, the core ML/CV/graph and explainability works, federated learning, and vendor technical reports. Market figures are attributed to cited industry sources, consistent with how I presented them.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OBJECTIVE</a:t>
            </a:r>
          </a:p>
          <a:p>
            <a:r>
              <a:t>End on the ask, not just thanks.</a:t>
            </a:r>
          </a:p>
          <a:p/>
          <a:p>
            <a:r>
              <a:t>🎤 SCRIPT</a:t>
            </a:r>
          </a:p>
          <a:p>
            <a:r>
              <a:t>So to close: we've built the platform and proven the architecture. What I'm looking for is a design-partner insurer and the backing to ship Phase 2 — the fraud, OCR and damage APIs. That's how Aegis becomes the industry's default intelligence layer. Thank you — I'd love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0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10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965960"/>
            <a:ext cx="1280160" cy="100584"/>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10515600" cy="2377440"/>
          </a:xfrm>
          <a:prstGeom prst="rect">
            <a:avLst/>
          </a:prstGeom>
          <a:noFill/>
        </p:spPr>
        <p:txBody>
          <a:bodyPr wrap="square" anchor="t" lIns="0" rIns="0" tIns="0" bIns="0">
            <a:spAutoFit/>
          </a:bodyPr>
          <a:lstStyle/>
          <a:p>
            <a:pPr algn="l">
              <a:spcBef>
                <a:spcPts val="0"/>
              </a:spcBef>
              <a:spcAft>
                <a:spcPts val="0"/>
              </a:spcAft>
            </a:pPr>
            <a:r>
              <a:rPr sz="6600" b="1" i="0">
                <a:solidFill>
                  <a:srgbClr val="F5F8FF"/>
                </a:solidFill>
                <a:latin typeface="Segoe UI Semibold"/>
              </a:rPr>
              <a:t>AEGIS </a:t>
            </a:r>
            <a:r>
              <a:rPr sz="6600" b="1" i="0">
                <a:solidFill>
                  <a:srgbClr val="2DD4E0"/>
                </a:solidFill>
                <a:latin typeface="Segoe UI Semibold"/>
              </a:rPr>
              <a:t>AI</a:t>
            </a:r>
          </a:p>
          <a:p>
            <a:pPr algn="l">
              <a:spcBef>
                <a:spcPts val="600"/>
              </a:spcBef>
              <a:spcAft>
                <a:spcPts val="0"/>
              </a:spcAft>
            </a:pPr>
            <a:r>
              <a:rPr sz="2200" b="0" i="0">
                <a:solidFill>
                  <a:srgbClr val="9AA8C8"/>
                </a:solidFill>
                <a:latin typeface="Segoe UI"/>
              </a:rPr>
              <a:t>The Intelligent AI Infrastructure Platform for the Future of Insurance</a:t>
            </a:r>
          </a:p>
        </p:txBody>
      </p:sp>
      <p:sp>
        <p:nvSpPr>
          <p:cNvPr id="6" name="TextBox 5"/>
          <p:cNvSpPr txBox="1"/>
          <p:nvPr/>
        </p:nvSpPr>
        <p:spPr>
          <a:xfrm>
            <a:off x="822960" y="4572000"/>
            <a:ext cx="10515600" cy="914400"/>
          </a:xfrm>
          <a:prstGeom prst="rect">
            <a:avLst/>
          </a:prstGeom>
          <a:noFill/>
        </p:spPr>
        <p:txBody>
          <a:bodyPr wrap="square" anchor="t" lIns="0" rIns="0" tIns="0" bIns="0">
            <a:spAutoFit/>
          </a:bodyPr>
          <a:lstStyle/>
          <a:p>
            <a:pPr algn="l">
              <a:spcBef>
                <a:spcPts val="0"/>
              </a:spcBef>
              <a:spcAft>
                <a:spcPts val="0"/>
              </a:spcAft>
            </a:pPr>
            <a:r>
              <a:rPr sz="1400" b="1" i="0">
                <a:solidFill>
                  <a:srgbClr val="2DD4E0"/>
                </a:solidFill>
                <a:latin typeface="Segoe UI"/>
              </a:rPr>
              <a:t>Multi-Agent AI   ·   Explainable AI   ·   Decision Intelligence   ·   Enterprise API Platform</a:t>
            </a:r>
          </a:p>
        </p:txBody>
      </p:sp>
      <p:sp>
        <p:nvSpPr>
          <p:cNvPr id="7" name="TextBox 6"/>
          <p:cNvSpPr txBox="1"/>
          <p:nvPr/>
        </p:nvSpPr>
        <p:spPr>
          <a:xfrm>
            <a:off x="822960" y="5806440"/>
            <a:ext cx="10515600" cy="548640"/>
          </a:xfrm>
          <a:prstGeom prst="rect">
            <a:avLst/>
          </a:prstGeom>
          <a:noFill/>
        </p:spPr>
        <p:txBody>
          <a:bodyPr wrap="square" anchor="t" lIns="0" rIns="0" tIns="0" bIns="0">
            <a:spAutoFit/>
          </a:bodyPr>
          <a:lstStyle/>
          <a:p>
            <a:pPr algn="l">
              <a:spcBef>
                <a:spcPts val="0"/>
              </a:spcBef>
              <a:spcAft>
                <a:spcPts val="0"/>
              </a:spcAft>
            </a:pPr>
            <a:r>
              <a:rPr sz="1300" b="0" i="0">
                <a:solidFill>
                  <a:srgbClr val="6C7A9C"/>
                </a:solidFill>
                <a:latin typeface="Segoe UI"/>
              </a:rPr>
              <a:t>Final-Year Engineering Project  ×  AI Startup     |     Sri Nivaspanneer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THE ONE-LINE IDEA</a:t>
            </a:r>
          </a:p>
          <a:p>
            <a:pPr algn="l">
              <a:spcBef>
                <a:spcPts val="0"/>
              </a:spcBef>
              <a:spcAft>
                <a:spcPts val="0"/>
              </a:spcAft>
            </a:pPr>
            <a:r>
              <a:rPr sz="2900" b="1" i="0">
                <a:solidFill>
                  <a:srgbClr val="F5F8FF"/>
                </a:solidFill>
                <a:latin typeface="Segoe UI Semibold"/>
              </a:rPr>
              <a:t>An AI Operating System for Insurance</a:t>
            </a:r>
          </a:p>
          <a:p>
            <a:pPr algn="l">
              <a:spcBef>
                <a:spcPts val="200"/>
              </a:spcBef>
              <a:spcAft>
                <a:spcPts val="0"/>
              </a:spcAft>
            </a:pPr>
            <a:r>
              <a:rPr sz="1400" b="0" i="0">
                <a:solidFill>
                  <a:srgbClr val="9AA8C8"/>
                </a:solidFill>
                <a:latin typeface="Segoe UI"/>
              </a:rPr>
              <a:t>We don't replace an insurer's software — we give it enterprise-grade AI through APIs.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Overview</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02</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BUILT TODAY</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multi-agent conversational advisory platform that educates and guides customers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Personalised recommendation &amp; scoring across curated insurance plans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Real-time voice, memory, secure auth and a service API layer</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THE VISION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Fraud, damage, OCR, identity &amp; decision intelligence — delivered as APIs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modular “AI OS” insurers integrate, instead of rebuilding AI in-house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Explainable, evidence-based, human-in-the-loop by design</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Center hero diagram: an ‘AI OS’ core ringed by pluggable intelligence APIs feeding existing insurer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HOW TO READ THIS DECK</a:t>
            </a:r>
          </a:p>
          <a:p>
            <a:pPr algn="l">
              <a:spcBef>
                <a:spcPts val="0"/>
              </a:spcBef>
              <a:spcAft>
                <a:spcPts val="0"/>
              </a:spcAft>
            </a:pPr>
            <a:r>
              <a:rPr sz="2900" b="1" i="0">
                <a:solidFill>
                  <a:srgbClr val="F5F8FF"/>
                </a:solidFill>
                <a:latin typeface="Segoe UI Semibold"/>
              </a:rPr>
              <a:t>One Project, Two Altitudes</a:t>
            </a:r>
          </a:p>
          <a:p>
            <a:pPr algn="l">
              <a:spcBef>
                <a:spcPts val="200"/>
              </a:spcBef>
              <a:spcAft>
                <a:spcPts val="0"/>
              </a:spcAft>
            </a:pPr>
            <a:r>
              <a:rPr sz="1400" b="0" i="0">
                <a:solidFill>
                  <a:srgbClr val="9AA8C8"/>
                </a:solidFill>
                <a:latin typeface="Segoe UI"/>
              </a:rPr>
              <a:t>Engineered to satisfy an academic jury and an investment committee at once.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Overview</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03</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AS A FINAL-YEAR ENGINEERING PROJECT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Real multi-agent architecture, not a toy chatbot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Grounded in peer-reviewed insurance-AI research</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Full-stack system: AI engine, backend, database, UI</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200+ automated tests, CI, security hardening</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AS A STARTUP</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platform + business model, not a single feature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API-as-a-Service go-to-market for global insurers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5-phase roadmap to an Insurance Foundation Model</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Clear separation of what is shipped vs. what is funded next</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Split-screen: graduation cap ↔ rocket, sharing one core platform icon in the middle.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WHERE WE ARE GOING</a:t>
            </a:r>
          </a:p>
          <a:p>
            <a:pPr algn="l">
              <a:spcBef>
                <a:spcPts val="0"/>
              </a:spcBef>
              <a:spcAft>
                <a:spcPts val="0"/>
              </a:spcAft>
            </a:pPr>
            <a:r>
              <a:rPr sz="2900" b="1" i="0">
                <a:solidFill>
                  <a:srgbClr val="F5F8FF"/>
                </a:solidFill>
                <a:latin typeface="Segoe UI Semibold"/>
              </a:rPr>
              <a:t>Vision</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Direction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04</a:t>
            </a:r>
          </a:p>
        </p:txBody>
      </p:sp>
      <p:sp>
        <p:nvSpPr>
          <p:cNvPr id="6" name="TextBox 5"/>
          <p:cNvSpPr txBox="1"/>
          <p:nvPr/>
        </p:nvSpPr>
        <p:spPr>
          <a:xfrm>
            <a:off x="868680" y="1920240"/>
            <a:ext cx="10424160" cy="2011680"/>
          </a:xfrm>
          <a:prstGeom prst="rect">
            <a:avLst/>
          </a:prstGeom>
          <a:noFill/>
        </p:spPr>
        <p:txBody>
          <a:bodyPr wrap="square" anchor="t" lIns="0" rIns="0" tIns="0" bIns="0">
            <a:spAutoFit/>
          </a:bodyPr>
          <a:lstStyle/>
          <a:p>
            <a:pPr algn="l">
              <a:lnSpc>
                <a:spcPct val="115000"/>
              </a:lnSpc>
              <a:spcBef>
                <a:spcPts val="0"/>
              </a:spcBef>
              <a:spcAft>
                <a:spcPts val="0"/>
              </a:spcAft>
            </a:pPr>
            <a:r>
              <a:rPr sz="2400" b="0" i="0">
                <a:solidFill>
                  <a:srgbClr val="F5F8FF"/>
                </a:solidFill>
                <a:latin typeface="Segoe UI"/>
              </a:rPr>
              <a:t>To build the world's most intelligent AI infrastructure platform that transforms insurance through </a:t>
            </a:r>
            <a:r>
              <a:rPr sz="2400" b="1" i="0">
                <a:solidFill>
                  <a:srgbClr val="2DD4E0"/>
                </a:solidFill>
                <a:latin typeface="Segoe UI"/>
              </a:rPr>
              <a:t>explainable, secure, and trustworthy AI</a:t>
            </a:r>
            <a:r>
              <a:rPr sz="2400" b="0" i="0">
                <a:solidFill>
                  <a:srgbClr val="F5F8FF"/>
                </a:solidFill>
                <a:latin typeface="Segoe UI"/>
              </a:rPr>
              <a:t> — preventing fraud, accelerating claims, improving customer experience, and letting every insurer integrate enterprise-grade AI through APIs.</a:t>
            </a:r>
          </a:p>
        </p:txBody>
      </p:sp>
      <p:sp>
        <p:nvSpPr>
          <p:cNvPr id="7" name="TextBox 6"/>
          <p:cNvSpPr txBox="1"/>
          <p:nvPr/>
        </p:nvSpPr>
        <p:spPr>
          <a:xfrm>
            <a:off x="868680" y="4297680"/>
            <a:ext cx="10607040" cy="4114800"/>
          </a:xfrm>
          <a:prstGeom prst="rect">
            <a:avLst/>
          </a:prstGeom>
          <a:noFill/>
        </p:spPr>
        <p:txBody>
          <a:bodyPr wrap="square" anchor="t" lIns="0" rIns="0" tIns="0" bIns="0">
            <a:spAutoFit/>
          </a:bodyPr>
          <a:lstStyle/>
          <a:p>
            <a:pPr algn="l">
              <a:lnSpc>
                <a:spcPct val="105000"/>
              </a:lnSpc>
              <a:spcBef>
                <a:spcPts val="0"/>
              </a:spcBef>
              <a:spcAft>
                <a:spcPts val="700"/>
              </a:spcAft>
            </a:pPr>
            <a:r>
              <a:rPr sz="1400" b="1" i="0">
                <a:solidFill>
                  <a:srgbClr val="2DD4E0"/>
                </a:solidFill>
                <a:latin typeface="Segoe UI"/>
              </a:rPr>
              <a:t>Prevent   </a:t>
            </a:r>
            <a:r>
              <a:rPr sz="1400" b="0" i="0">
                <a:solidFill>
                  <a:srgbClr val="F5F8FF"/>
                </a:solidFill>
                <a:latin typeface="Segoe UI"/>
              </a:rPr>
              <a:t>Stop fraud before payout, with evidence.</a:t>
            </a:r>
          </a:p>
          <a:p>
            <a:pPr algn="l">
              <a:lnSpc>
                <a:spcPct val="105000"/>
              </a:lnSpc>
              <a:spcBef>
                <a:spcPts val="0"/>
              </a:spcBef>
              <a:spcAft>
                <a:spcPts val="700"/>
              </a:spcAft>
            </a:pPr>
            <a:r>
              <a:rPr sz="1400" b="1" i="0">
                <a:solidFill>
                  <a:srgbClr val="2DD4E0"/>
                </a:solidFill>
                <a:latin typeface="Segoe UI"/>
              </a:rPr>
              <a:t>Accelerate   </a:t>
            </a:r>
            <a:r>
              <a:rPr sz="1400" b="0" i="0">
                <a:solidFill>
                  <a:srgbClr val="F5F8FF"/>
                </a:solidFill>
                <a:latin typeface="Segoe UI"/>
              </a:rPr>
              <a:t>Turn multi-day claims into minutes.</a:t>
            </a:r>
          </a:p>
          <a:p>
            <a:pPr algn="l">
              <a:lnSpc>
                <a:spcPct val="105000"/>
              </a:lnSpc>
              <a:spcBef>
                <a:spcPts val="0"/>
              </a:spcBef>
              <a:spcAft>
                <a:spcPts val="700"/>
              </a:spcAft>
            </a:pPr>
            <a:r>
              <a:rPr sz="1400" b="1" i="0">
                <a:solidFill>
                  <a:srgbClr val="2DD4E0"/>
                </a:solidFill>
                <a:latin typeface="Segoe UI"/>
              </a:rPr>
              <a:t>Trust   </a:t>
            </a:r>
            <a:r>
              <a:rPr sz="1400" b="0" i="0">
                <a:solidFill>
                  <a:srgbClr val="F5F8FF"/>
                </a:solidFill>
                <a:latin typeface="Segoe UI"/>
              </a:rPr>
              <a:t>Every decision explainable and auditable.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WHAT WE DO</a:t>
            </a:r>
          </a:p>
          <a:p>
            <a:pPr algn="l">
              <a:spcBef>
                <a:spcPts val="0"/>
              </a:spcBef>
              <a:spcAft>
                <a:spcPts val="0"/>
              </a:spcAft>
            </a:pPr>
            <a:r>
              <a:rPr sz="2900" b="1" i="0">
                <a:solidFill>
                  <a:srgbClr val="F5F8FF"/>
                </a:solidFill>
                <a:latin typeface="Segoe UI Semibold"/>
              </a:rPr>
              <a:t>Mission</a:t>
            </a:r>
          </a:p>
          <a:p>
            <a:pPr algn="l">
              <a:spcBef>
                <a:spcPts val="200"/>
              </a:spcBef>
              <a:spcAft>
                <a:spcPts val="0"/>
              </a:spcAft>
            </a:pPr>
            <a:r>
              <a:rPr sz="1400" b="0" i="0">
                <a:solidFill>
                  <a:srgbClr val="9AA8C8"/>
                </a:solidFill>
                <a:latin typeface="Segoe UI"/>
              </a:rPr>
              <a:t>A modular enterprise platform delivering insurance intelligence as scalable APIs.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Direction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05</a:t>
            </a:r>
          </a:p>
        </p:txBody>
      </p:sp>
      <p:sp>
        <p:nvSpPr>
          <p:cNvPr id="6" name="Rounded Rectangle 5"/>
          <p:cNvSpPr/>
          <p:nvPr/>
        </p:nvSpPr>
        <p:spPr>
          <a:xfrm>
            <a:off x="868680" y="1965960"/>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Fraud Intelligence</a:t>
            </a:r>
          </a:p>
          <a:p>
            <a:pPr algn="ctr">
              <a:spcBef>
                <a:spcPts val="300"/>
              </a:spcBef>
              <a:spcAft>
                <a:spcPts val="0"/>
              </a:spcAft>
            </a:pPr>
            <a:r>
              <a:rPr sz="900" b="1" i="0">
                <a:solidFill>
                  <a:srgbClr val="F4B440"/>
                </a:solidFill>
                <a:latin typeface="Segoe UI"/>
              </a:rPr>
              <a:t>VISION / API</a:t>
            </a:r>
          </a:p>
        </p:txBody>
      </p:sp>
      <p:sp>
        <p:nvSpPr>
          <p:cNvPr id="7" name="Rounded Rectangle 6"/>
          <p:cNvSpPr/>
          <p:nvPr/>
        </p:nvSpPr>
        <p:spPr>
          <a:xfrm>
            <a:off x="4462272" y="1965960"/>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Damage Intelligence</a:t>
            </a:r>
          </a:p>
          <a:p>
            <a:pPr algn="ctr">
              <a:spcBef>
                <a:spcPts val="300"/>
              </a:spcBef>
              <a:spcAft>
                <a:spcPts val="0"/>
              </a:spcAft>
            </a:pPr>
            <a:r>
              <a:rPr sz="900" b="1" i="0">
                <a:solidFill>
                  <a:srgbClr val="F4B440"/>
                </a:solidFill>
                <a:latin typeface="Segoe UI"/>
              </a:rPr>
              <a:t>VISION / API</a:t>
            </a:r>
          </a:p>
        </p:txBody>
      </p:sp>
      <p:sp>
        <p:nvSpPr>
          <p:cNvPr id="8" name="Rounded Rectangle 7"/>
          <p:cNvSpPr/>
          <p:nvPr/>
        </p:nvSpPr>
        <p:spPr>
          <a:xfrm>
            <a:off x="8055864" y="1965960"/>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OCR Intelligence</a:t>
            </a:r>
          </a:p>
          <a:p>
            <a:pPr algn="ctr">
              <a:spcBef>
                <a:spcPts val="300"/>
              </a:spcBef>
              <a:spcAft>
                <a:spcPts val="0"/>
              </a:spcAft>
            </a:pPr>
            <a:r>
              <a:rPr sz="900" b="1" i="0">
                <a:solidFill>
                  <a:srgbClr val="F4B440"/>
                </a:solidFill>
                <a:latin typeface="Segoe UI"/>
              </a:rPr>
              <a:t>VISION / API</a:t>
            </a:r>
          </a:p>
        </p:txBody>
      </p:sp>
      <p:sp>
        <p:nvSpPr>
          <p:cNvPr id="9" name="Rounded Rectangle 8"/>
          <p:cNvSpPr/>
          <p:nvPr/>
        </p:nvSpPr>
        <p:spPr>
          <a:xfrm>
            <a:off x="868680" y="3218688"/>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Recommendation Intelligence</a:t>
            </a:r>
          </a:p>
          <a:p>
            <a:pPr algn="ctr">
              <a:spcBef>
                <a:spcPts val="300"/>
              </a:spcBef>
              <a:spcAft>
                <a:spcPts val="0"/>
              </a:spcAft>
            </a:pPr>
            <a:r>
              <a:rPr sz="900" b="1" i="0">
                <a:solidFill>
                  <a:srgbClr val="35D08A"/>
                </a:solidFill>
                <a:latin typeface="Segoe UI"/>
              </a:rPr>
              <a:t>BUILT (advisory)</a:t>
            </a:r>
          </a:p>
        </p:txBody>
      </p:sp>
      <p:sp>
        <p:nvSpPr>
          <p:cNvPr id="10" name="Rounded Rectangle 9"/>
          <p:cNvSpPr/>
          <p:nvPr/>
        </p:nvSpPr>
        <p:spPr>
          <a:xfrm>
            <a:off x="4462272" y="3218688"/>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Claims Intelligence</a:t>
            </a:r>
          </a:p>
          <a:p>
            <a:pPr algn="ctr">
              <a:spcBef>
                <a:spcPts val="300"/>
              </a:spcBef>
              <a:spcAft>
                <a:spcPts val="0"/>
              </a:spcAft>
            </a:pPr>
            <a:r>
              <a:rPr sz="900" b="1" i="0">
                <a:solidFill>
                  <a:srgbClr val="F4B440"/>
                </a:solidFill>
                <a:latin typeface="Segoe UI"/>
              </a:rPr>
              <a:t>VISION / API</a:t>
            </a:r>
          </a:p>
        </p:txBody>
      </p:sp>
      <p:sp>
        <p:nvSpPr>
          <p:cNvPr id="11" name="Rounded Rectangle 10"/>
          <p:cNvSpPr/>
          <p:nvPr/>
        </p:nvSpPr>
        <p:spPr>
          <a:xfrm>
            <a:off x="8055864" y="3218688"/>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Identity Verification</a:t>
            </a:r>
          </a:p>
          <a:p>
            <a:pPr algn="ctr">
              <a:spcBef>
                <a:spcPts val="300"/>
              </a:spcBef>
              <a:spcAft>
                <a:spcPts val="0"/>
              </a:spcAft>
            </a:pPr>
            <a:r>
              <a:rPr sz="900" b="1" i="0">
                <a:solidFill>
                  <a:srgbClr val="F4B440"/>
                </a:solidFill>
                <a:latin typeface="Segoe UI"/>
              </a:rPr>
              <a:t>VISION / API</a:t>
            </a:r>
          </a:p>
        </p:txBody>
      </p:sp>
      <p:sp>
        <p:nvSpPr>
          <p:cNvPr id="12" name="Rounded Rectangle 11"/>
          <p:cNvSpPr/>
          <p:nvPr/>
        </p:nvSpPr>
        <p:spPr>
          <a:xfrm>
            <a:off x="868680" y="4471416"/>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Policy Intelligence</a:t>
            </a:r>
          </a:p>
          <a:p>
            <a:pPr algn="ctr">
              <a:spcBef>
                <a:spcPts val="300"/>
              </a:spcBef>
              <a:spcAft>
                <a:spcPts val="0"/>
              </a:spcAft>
            </a:pPr>
            <a:r>
              <a:rPr sz="900" b="1" i="0">
                <a:solidFill>
                  <a:srgbClr val="35D08A"/>
                </a:solidFill>
                <a:latin typeface="Segoe UI"/>
              </a:rPr>
              <a:t>BUILT (advisory)</a:t>
            </a:r>
          </a:p>
        </p:txBody>
      </p:sp>
      <p:sp>
        <p:nvSpPr>
          <p:cNvPr id="13" name="Rounded Rectangle 12"/>
          <p:cNvSpPr/>
          <p:nvPr/>
        </p:nvSpPr>
        <p:spPr>
          <a:xfrm>
            <a:off x="4462272" y="4471416"/>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Decision Intelligence</a:t>
            </a:r>
          </a:p>
          <a:p>
            <a:pPr algn="ctr">
              <a:spcBef>
                <a:spcPts val="300"/>
              </a:spcBef>
              <a:spcAft>
                <a:spcPts val="0"/>
              </a:spcAft>
            </a:pPr>
            <a:r>
              <a:rPr sz="900" b="1" i="0">
                <a:solidFill>
                  <a:srgbClr val="F4B440"/>
                </a:solidFill>
                <a:latin typeface="Segoe UI"/>
              </a:rPr>
              <a:t>VISION / API</a:t>
            </a:r>
          </a:p>
        </p:txBody>
      </p:sp>
      <p:sp>
        <p:nvSpPr>
          <p:cNvPr id="14" name="Rounded Rectangle 13"/>
          <p:cNvSpPr/>
          <p:nvPr/>
        </p:nvSpPr>
        <p:spPr>
          <a:xfrm>
            <a:off x="8055864" y="4471416"/>
            <a:ext cx="3429000" cy="10515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5F8FF"/>
                </a:solidFill>
                <a:latin typeface="Segoe UI Semibold"/>
              </a:rPr>
              <a:t>Explainable AI</a:t>
            </a:r>
          </a:p>
          <a:p>
            <a:pPr algn="ctr">
              <a:spcBef>
                <a:spcPts val="300"/>
              </a:spcBef>
              <a:spcAft>
                <a:spcPts val="0"/>
              </a:spcAft>
            </a:pPr>
            <a:r>
              <a:rPr sz="900" b="1" i="0">
                <a:solidFill>
                  <a:srgbClr val="35D08A"/>
                </a:solidFill>
                <a:latin typeface="Segoe UI"/>
              </a:rPr>
              <a:t>BUILT (advisory)</a:t>
            </a:r>
          </a:p>
        </p:txBody>
      </p:sp>
      <p:sp>
        <p:nvSpPr>
          <p:cNvPr id="15" name="TextBox 14"/>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3×3 capability grid with green = built, amber = roadmap; each tile becomes an API endpoint.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THE THESIS</a:t>
            </a:r>
          </a:p>
          <a:p>
            <a:pPr algn="l">
              <a:spcBef>
                <a:spcPts val="0"/>
              </a:spcBef>
              <a:spcAft>
                <a:spcPts val="0"/>
              </a:spcAft>
            </a:pPr>
            <a:r>
              <a:rPr sz="2900" b="1" i="0">
                <a:solidFill>
                  <a:srgbClr val="F5F8FF"/>
                </a:solidFill>
                <a:latin typeface="Segoe UI Semibold"/>
              </a:rPr>
              <a:t>Main Goal</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Direction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06</a:t>
            </a:r>
          </a:p>
        </p:txBody>
      </p:sp>
      <p:sp>
        <p:nvSpPr>
          <p:cNvPr id="6" name="TextBox 5"/>
          <p:cNvSpPr txBox="1"/>
          <p:nvPr/>
        </p:nvSpPr>
        <p:spPr>
          <a:xfrm>
            <a:off x="868680" y="2011680"/>
            <a:ext cx="10424160" cy="1645920"/>
          </a:xfrm>
          <a:prstGeom prst="rect">
            <a:avLst/>
          </a:prstGeom>
          <a:noFill/>
        </p:spPr>
        <p:txBody>
          <a:bodyPr wrap="square" anchor="t" lIns="0" rIns="0" tIns="0" bIns="0">
            <a:spAutoFit/>
          </a:bodyPr>
          <a:lstStyle/>
          <a:p>
            <a:pPr algn="l">
              <a:lnSpc>
                <a:spcPct val="115000"/>
              </a:lnSpc>
              <a:spcBef>
                <a:spcPts val="0"/>
              </a:spcBef>
              <a:spcAft>
                <a:spcPts val="600"/>
              </a:spcAft>
            </a:pPr>
            <a:r>
              <a:rPr sz="2600" b="0" i="0">
                <a:solidFill>
                  <a:srgbClr val="F5F8FF"/>
                </a:solidFill>
                <a:latin typeface="Segoe UI"/>
              </a:rPr>
              <a:t>Build an </a:t>
            </a:r>
            <a:r>
              <a:rPr sz="2600" b="1" i="0">
                <a:solidFill>
                  <a:srgbClr val="2DD4E0"/>
                </a:solidFill>
                <a:latin typeface="Segoe UI"/>
              </a:rPr>
              <a:t>AI Operating System for Insurance</a:t>
            </a:r>
            <a:r>
              <a:rPr sz="2600" b="0" i="0">
                <a:solidFill>
                  <a:srgbClr val="F5F8FF"/>
                </a:solidFill>
                <a:latin typeface="Segoe UI"/>
              </a:rPr>
              <a:t> that insurers worldwide integrate through APIs — </a:t>
            </a:r>
            <a:r>
              <a:rPr sz="2600" b="1" i="0">
                <a:solidFill>
                  <a:srgbClr val="F5F8FF"/>
                </a:solidFill>
                <a:latin typeface="Segoe UI"/>
              </a:rPr>
              <a:t>augmenting</a:t>
            </a:r>
            <a:r>
              <a:rPr sz="2600" b="0" i="0">
                <a:solidFill>
                  <a:srgbClr val="F5F8FF"/>
                </a:solidFill>
                <a:latin typeface="Segoe UI"/>
              </a:rPr>
              <a:t> their existing software, not replacing it.</a:t>
            </a:r>
          </a:p>
        </p:txBody>
      </p:sp>
      <p:sp>
        <p:nvSpPr>
          <p:cNvPr id="7" name="TextBox 6"/>
          <p:cNvSpPr txBox="1"/>
          <p:nvPr/>
        </p:nvSpPr>
        <p:spPr>
          <a:xfrm>
            <a:off x="868680" y="3657600"/>
            <a:ext cx="5212080" cy="237744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WHY AUGMENT, NOT REPLACE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Insurers have decades of core systems — rip-and-replace fails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APIs mean weeks-to-integrate, not years-to-migrate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We own the AI layer; they keep their systems of record</a:t>
            </a:r>
          </a:p>
        </p:txBody>
      </p:sp>
      <p:sp>
        <p:nvSpPr>
          <p:cNvPr id="8" name="TextBox 7"/>
          <p:cNvSpPr txBox="1"/>
          <p:nvPr/>
        </p:nvSpPr>
        <p:spPr>
          <a:xfrm>
            <a:off x="6400800" y="3657600"/>
            <a:ext cx="5029200" cy="237744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WHAT THAT UNLOCKS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One integration → many intelligences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Central governance, monitoring and explainability</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defensible platform position, not a point tool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THE PATH</a:t>
            </a:r>
          </a:p>
          <a:p>
            <a:pPr algn="l">
              <a:spcBef>
                <a:spcPts val="0"/>
              </a:spcBef>
              <a:spcAft>
                <a:spcPts val="0"/>
              </a:spcAft>
            </a:pPr>
            <a:r>
              <a:rPr sz="2900" b="1" i="0">
                <a:solidFill>
                  <a:srgbClr val="F5F8FF"/>
                </a:solidFill>
                <a:latin typeface="Segoe UI Semibold"/>
              </a:rPr>
              <a:t>Short-Term &amp; Long-Term Goals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Direction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07</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SHORT-TERM — THE MVP</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Executive AI orchestration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Customer &amp; Admin portals, authentication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Recommendation + Policy intelligence (advisory)</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REST API surface + Explainable reasoning trace</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Roadmap MVP add-ons: Fraud · OCR · Damage detection</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LONG-TERM — THE PLATFORM</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Enterprise SaaS + multi-tenant platform</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Insurance AI Marketplace of intelligences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Global enterprise APIs &amp; developer ecosystem</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Private Insurance Foundation Model</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An industry-standard intelligence platform</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Horizontal timeline arrow from ‘MVP’ to ‘Industry Standard’, milestones as nodes.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PROBLEM LANDSCAPE</a:t>
            </a:r>
          </a:p>
          <a:p>
            <a:pPr algn="l">
              <a:spcBef>
                <a:spcPts val="0"/>
              </a:spcBef>
              <a:spcAft>
                <a:spcPts val="0"/>
              </a:spcAft>
            </a:pPr>
            <a:r>
              <a:rPr sz="2900" b="1" i="0">
                <a:solidFill>
                  <a:srgbClr val="F5F8FF"/>
                </a:solidFill>
                <a:latin typeface="Segoe UI Semibold"/>
              </a:rPr>
              <a:t>The Insurance Industry Runs on Trust It Can't Verify</a:t>
            </a:r>
          </a:p>
          <a:p>
            <a:pPr algn="l">
              <a:spcBef>
                <a:spcPts val="200"/>
              </a:spcBef>
              <a:spcAft>
                <a:spcPts val="0"/>
              </a:spcAft>
            </a:pPr>
            <a:r>
              <a:rPr sz="1400" b="0" i="0">
                <a:solidFill>
                  <a:srgbClr val="9AA8C8"/>
                </a:solidFill>
                <a:latin typeface="Segoe UI"/>
              </a:rPr>
              <a:t>Four structural failures compound into leakage, delay, and distrust.</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Problem</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08</a:t>
            </a:r>
          </a:p>
        </p:txBody>
      </p:sp>
      <p:sp>
        <p:nvSpPr>
          <p:cNvPr id="6" name="Rounded Rectangle 5"/>
          <p:cNvSpPr/>
          <p:nvPr/>
        </p:nvSpPr>
        <p:spPr>
          <a:xfrm>
            <a:off x="868680" y="1965960"/>
            <a:ext cx="5257800" cy="169164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rIns="182880"/>
          <a:lstStyle/>
          <a:p>
            <a:pPr algn="l">
              <a:spcBef>
                <a:spcPts val="0"/>
              </a:spcBef>
              <a:spcAft>
                <a:spcPts val="400"/>
              </a:spcAft>
            </a:pPr>
            <a:r>
              <a:rPr sz="1500" b="1" i="0">
                <a:solidFill>
                  <a:srgbClr val="F4B440"/>
                </a:solidFill>
                <a:latin typeface="Segoe UI Semibold"/>
              </a:rPr>
              <a:t>FRAUD LEAKAGE</a:t>
            </a:r>
          </a:p>
          <a:p>
            <a:pPr algn="l">
              <a:lnSpc>
                <a:spcPct val="105000"/>
              </a:lnSpc>
              <a:spcBef>
                <a:spcPts val="0"/>
              </a:spcBef>
              <a:spcAft>
                <a:spcPts val="0"/>
              </a:spcAft>
            </a:pPr>
            <a:r>
              <a:rPr sz="1300" b="0" i="0">
                <a:solidFill>
                  <a:srgbClr val="9AA8C8"/>
                </a:solidFill>
                <a:latin typeface="Segoe UI"/>
              </a:rPr>
              <a:t>Fake, duplicate and staged claims drain a large share of every payout pool.</a:t>
            </a:r>
          </a:p>
        </p:txBody>
      </p:sp>
      <p:sp>
        <p:nvSpPr>
          <p:cNvPr id="7" name="Rectangle 6"/>
          <p:cNvSpPr/>
          <p:nvPr/>
        </p:nvSpPr>
        <p:spPr>
          <a:xfrm>
            <a:off x="868680" y="1965960"/>
            <a:ext cx="82296" cy="169164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46520" y="1965960"/>
            <a:ext cx="5257800" cy="169164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rIns="182880"/>
          <a:lstStyle/>
          <a:p>
            <a:pPr algn="l">
              <a:spcBef>
                <a:spcPts val="0"/>
              </a:spcBef>
              <a:spcAft>
                <a:spcPts val="400"/>
              </a:spcAft>
            </a:pPr>
            <a:r>
              <a:rPr sz="1500" b="1" i="0">
                <a:solidFill>
                  <a:srgbClr val="2DD4E0"/>
                </a:solidFill>
                <a:latin typeface="Segoe UI Semibold"/>
              </a:rPr>
              <a:t>SLOW CLAIMS</a:t>
            </a:r>
          </a:p>
          <a:p>
            <a:pPr algn="l">
              <a:lnSpc>
                <a:spcPct val="105000"/>
              </a:lnSpc>
              <a:spcBef>
                <a:spcPts val="0"/>
              </a:spcBef>
              <a:spcAft>
                <a:spcPts val="0"/>
              </a:spcAft>
            </a:pPr>
            <a:r>
              <a:rPr sz="1300" b="0" i="0">
                <a:solidFill>
                  <a:srgbClr val="9AA8C8"/>
                </a:solidFill>
                <a:latin typeface="Segoe UI"/>
              </a:rPr>
              <a:t>Manual verification and investigation stretch settlements to days or weeks.</a:t>
            </a:r>
          </a:p>
        </p:txBody>
      </p:sp>
      <p:sp>
        <p:nvSpPr>
          <p:cNvPr id="9" name="Rectangle 8"/>
          <p:cNvSpPr/>
          <p:nvPr/>
        </p:nvSpPr>
        <p:spPr>
          <a:xfrm>
            <a:off x="6446520" y="1965960"/>
            <a:ext cx="82296" cy="1691640"/>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931920"/>
            <a:ext cx="5257800" cy="169164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rIns="182880"/>
          <a:lstStyle/>
          <a:p>
            <a:pPr algn="l">
              <a:spcBef>
                <a:spcPts val="0"/>
              </a:spcBef>
              <a:spcAft>
                <a:spcPts val="400"/>
              </a:spcAft>
            </a:pPr>
            <a:r>
              <a:rPr sz="1500" b="1" i="0">
                <a:solidFill>
                  <a:srgbClr val="3B6EF5"/>
                </a:solidFill>
                <a:latin typeface="Segoe UI Semibold"/>
              </a:rPr>
              <a:t>OPAQUE AI</a:t>
            </a:r>
          </a:p>
          <a:p>
            <a:pPr algn="l">
              <a:lnSpc>
                <a:spcPct val="105000"/>
              </a:lnSpc>
              <a:spcBef>
                <a:spcPts val="0"/>
              </a:spcBef>
              <a:spcAft>
                <a:spcPts val="0"/>
              </a:spcAft>
            </a:pPr>
            <a:r>
              <a:rPr sz="1300" b="0" i="0">
                <a:solidFill>
                  <a:srgbClr val="9AA8C8"/>
                </a:solidFill>
                <a:latin typeface="Segoe UI"/>
              </a:rPr>
              <a:t>Black-box models make decisions no adjuster can explain or defend.</a:t>
            </a:r>
          </a:p>
        </p:txBody>
      </p:sp>
      <p:sp>
        <p:nvSpPr>
          <p:cNvPr id="11" name="Rectangle 10"/>
          <p:cNvSpPr/>
          <p:nvPr/>
        </p:nvSpPr>
        <p:spPr>
          <a:xfrm>
            <a:off x="868680" y="3931920"/>
            <a:ext cx="82296" cy="1691640"/>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931920"/>
            <a:ext cx="5257800" cy="169164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rIns="182880"/>
          <a:lstStyle/>
          <a:p>
            <a:pPr algn="l">
              <a:spcBef>
                <a:spcPts val="0"/>
              </a:spcBef>
              <a:spcAft>
                <a:spcPts val="400"/>
              </a:spcAft>
            </a:pPr>
            <a:r>
              <a:rPr sz="1500" b="1" i="0">
                <a:solidFill>
                  <a:srgbClr val="35D08A"/>
                </a:solidFill>
                <a:latin typeface="Segoe UI Semibold"/>
              </a:rPr>
              <a:t>BROKEN TRUST</a:t>
            </a:r>
          </a:p>
          <a:p>
            <a:pPr algn="l">
              <a:lnSpc>
                <a:spcPct val="105000"/>
              </a:lnSpc>
              <a:spcBef>
                <a:spcPts val="0"/>
              </a:spcBef>
              <a:spcAft>
                <a:spcPts val="0"/>
              </a:spcAft>
            </a:pPr>
            <a:r>
              <a:rPr sz="1300" b="0" i="0">
                <a:solidFill>
                  <a:srgbClr val="9AA8C8"/>
                </a:solidFill>
                <a:latin typeface="Segoe UI"/>
              </a:rPr>
              <a:t>Customers distrust insurers; insurers distrust claims. Everyone loses.</a:t>
            </a:r>
          </a:p>
        </p:txBody>
      </p:sp>
      <p:sp>
        <p:nvSpPr>
          <p:cNvPr id="13" name="Rectangle 12"/>
          <p:cNvSpPr/>
          <p:nvPr/>
        </p:nvSpPr>
        <p:spPr>
          <a:xfrm>
            <a:off x="6446520" y="3931920"/>
            <a:ext cx="82296" cy="169164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Four-quadrant ‘cost of the status quo’; industry-estimate figures cited, labelled as estimates.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DEEP DIVE · FRAUD</a:t>
            </a:r>
          </a:p>
          <a:p>
            <a:pPr algn="l">
              <a:spcBef>
                <a:spcPts val="0"/>
              </a:spcBef>
              <a:spcAft>
                <a:spcPts val="0"/>
              </a:spcAft>
            </a:pPr>
            <a:r>
              <a:rPr sz="2900" b="1" i="0">
                <a:solidFill>
                  <a:srgbClr val="F5F8FF"/>
                </a:solidFill>
                <a:latin typeface="Segoe UI Semibold"/>
              </a:rPr>
              <a:t>Problem 1 — Claims Fraud Is Organised, Not Occasional</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Problem</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09</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THE FAILURE MODES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Fake &amp; duplicate claims filed across insurers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Collusion rings: hospital · garage · agent · customer</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Staged accidents and inflated repair estimates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Identity fraud and policy misuse</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WHY IT PERSISTS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Verification is manual, siloed and time-boxed</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No cross-insurer signal to catch duplicates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Adjusters lack tools to see relationships between actors</a:t>
            </a:r>
          </a:p>
          <a:p>
            <a:pPr algn="l">
              <a:spcBef>
                <a:spcPts val="600"/>
              </a:spcBef>
              <a:spcAft>
                <a:spcPts val="300"/>
              </a:spcAft>
            </a:pPr>
            <a:r>
              <a:rPr sz="1250" b="1" i="0">
                <a:solidFill>
                  <a:srgbClr val="2DD4E0"/>
                </a:solidFill>
                <a:latin typeface="Segoe UI Semibold"/>
              </a:rPr>
              <a:t>BUSINESS IMPACT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Direct leakage + higher premiums for honest customers</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Fraud-ring graph: nodes for customer/hospital/garage/agent, edges = suspicious co-occurrence.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DEEP DIVE · EVIDENCE INTEGRITY</a:t>
            </a:r>
          </a:p>
          <a:p>
            <a:pPr algn="l">
              <a:spcBef>
                <a:spcPts val="0"/>
              </a:spcBef>
              <a:spcAft>
                <a:spcPts val="0"/>
              </a:spcAft>
            </a:pPr>
            <a:r>
              <a:rPr sz="2900" b="1" i="0">
                <a:solidFill>
                  <a:srgbClr val="F5F8FF"/>
                </a:solidFill>
                <a:latin typeface="Segoe UI Semibold"/>
              </a:rPr>
              <a:t>Problem 2 — The Evidence Itself Is Manipulable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Problem</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10</a:t>
            </a:r>
          </a:p>
        </p:txBody>
      </p:sp>
      <p:sp>
        <p:nvSpPr>
          <p:cNvPr id="6" name="TextBox 5"/>
          <p:cNvSpPr txBox="1"/>
          <p:nvPr/>
        </p:nvSpPr>
        <p:spPr>
          <a:xfrm>
            <a:off x="868680" y="1737360"/>
            <a:ext cx="10607040" cy="4114800"/>
          </a:xfrm>
          <a:prstGeom prst="rect">
            <a:avLst/>
          </a:prstGeom>
          <a:noFill/>
        </p:spPr>
        <p:txBody>
          <a:bodyPr wrap="square" anchor="t" lIns="0" rIns="0" tIns="0" bIns="0">
            <a:spAutoFit/>
          </a:bodyPr>
          <a:lstStyle/>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Fake or forged documents — bills, prescriptions, FIRs, RCs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Edited images — cloned dents, added damage, tampered metadata</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Old-damage reuse — a prior accident re-submitted as new</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Deepfake risk — synthetic photos, video and voice in claims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GPS / location spoofing — faking where an incident occurred</a:t>
            </a:r>
          </a:p>
          <a:p>
            <a:pPr algn="l">
              <a:spcBef>
                <a:spcPts val="0"/>
              </a:spcBef>
              <a:spcAft>
                <a:spcPts val="400"/>
              </a:spcAft>
            </a:pPr>
            <a:r>
              <a:rPr sz="1400" b="0" i="0">
                <a:solidFill>
                  <a:srgbClr val="F5F8FF"/>
                </a:solidFill>
                <a:latin typeface="Segoe UI"/>
              </a:rPr>
              <a:t/>
            </a:r>
          </a:p>
          <a:p>
            <a:pPr algn="l">
              <a:spcBef>
                <a:spcPts val="600"/>
              </a:spcBef>
              <a:spcAft>
                <a:spcPts val="300"/>
              </a:spcAft>
            </a:pPr>
            <a:r>
              <a:rPr sz="1250" b="1" i="0">
                <a:solidFill>
                  <a:srgbClr val="2DD4E0"/>
                </a:solidFill>
                <a:latin typeface="Segoe UI Semibold"/>
              </a:rPr>
              <a:t>TECHNICAL ROOT CAUSE</a:t>
            </a:r>
          </a:p>
          <a:p>
            <a:pPr algn="l">
              <a:lnSpc>
                <a:spcPct val="110000"/>
              </a:lnSpc>
              <a:spcBef>
                <a:spcPts val="0"/>
              </a:spcBef>
              <a:spcAft>
                <a:spcPts val="900"/>
              </a:spcAft>
            </a:pPr>
            <a:r>
              <a:rPr sz="1400" b="0" i="0">
                <a:solidFill>
                  <a:srgbClr val="9AA8C8"/>
                </a:solidFill>
                <a:latin typeface="Segoe UI"/>
              </a:rPr>
              <a:t>Claims are still adjudicated on human eyeballing of digital evidence that modern tools can forge faster than an adjuster can catch — with no automated provenance, tamper, or reuse checks in the loop.</a:t>
            </a:r>
          </a:p>
        </p:txBody>
      </p:sp>
      <p:sp>
        <p:nvSpPr>
          <p:cNvPr id="7" name="TextBox 6"/>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Before/after image pair with forensic overlay (ELA / metadata / duplicate-match heatmap).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DEEP DIVE · SPEED &amp; CX</a:t>
            </a:r>
          </a:p>
          <a:p>
            <a:pPr algn="l">
              <a:spcBef>
                <a:spcPts val="0"/>
              </a:spcBef>
              <a:spcAft>
                <a:spcPts val="0"/>
              </a:spcAft>
            </a:pPr>
            <a:r>
              <a:rPr sz="2900" b="1" i="0">
                <a:solidFill>
                  <a:srgbClr val="F5F8FF"/>
                </a:solidFill>
                <a:latin typeface="Segoe UI Semibold"/>
              </a:rPr>
              <a:t>Problem 3 — Manual Process Kills Speed and Experience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Problem</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11</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CURRENT WORKFLOW</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Intake → manual document review → field/desk investigation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Back-and-forth with the customer for missing evidence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Human adjudication → payout — days to weeks</a:t>
            </a:r>
          </a:p>
          <a:p>
            <a:pPr algn="l">
              <a:spcBef>
                <a:spcPts val="600"/>
              </a:spcBef>
              <a:spcAft>
                <a:spcPts val="300"/>
              </a:spcAft>
            </a:pPr>
            <a:r>
              <a:rPr sz="1250" b="1" i="0">
                <a:solidFill>
                  <a:srgbClr val="2DD4E0"/>
                </a:solidFill>
                <a:latin typeface="Segoe UI Semibold"/>
              </a:rPr>
              <a:t>BUSINESS IMPACT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High operating cost per claim; adjuster burnout</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CUSTOMER-SIDE PAIN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Opaque status, jargon-heavy policies, poor guidance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One-size recommendations that ignore real need &amp; budget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Distrust at the exact moment of vulnerability (a loss event)</a:t>
            </a:r>
          </a:p>
          <a:p>
            <a:pPr algn="l">
              <a:spcBef>
                <a:spcPts val="600"/>
              </a:spcBef>
              <a:spcAft>
                <a:spcPts val="300"/>
              </a:spcAft>
            </a:pPr>
            <a:r>
              <a:rPr sz="1250" b="1" i="0">
                <a:solidFill>
                  <a:srgbClr val="2DD4E0"/>
                </a:solidFill>
                <a:latin typeface="Segoe UI Semibold"/>
              </a:rPr>
              <a:t>UNDERSERVED USERS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First-time buyers, seniors, rural &amp; multilingual customers</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Swimlane: today's multi-day manual claim vs. an Aegis-assisted minutes-scale flow.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DEEP DIVE · THE AI TRUST GAP</a:t>
            </a:r>
          </a:p>
          <a:p>
            <a:pPr algn="l">
              <a:spcBef>
                <a:spcPts val="0"/>
              </a:spcBef>
              <a:spcAft>
                <a:spcPts val="0"/>
              </a:spcAft>
            </a:pPr>
            <a:r>
              <a:rPr sz="2900" b="1" i="0">
                <a:solidFill>
                  <a:srgbClr val="F5F8FF"/>
                </a:solidFill>
                <a:latin typeface="Segoe UI Semibold"/>
              </a:rPr>
              <a:t>Problem 4 — Today's AI Can't Be Trusted With Claims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Problem</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12</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THE BLACK-BOX PROBLEM</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Models output a score with no reason a human can audit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No evidence trail linking decision → data → rule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Regulators &amp; adjusters cannot defend the outcome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Bias and errors are invisible until they cause harm</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WHAT INSURANCE ACTUALLY NEEDS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Explainable, evidence-based decisions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Human-in-the-loop on every high-stakes call</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Full audit logs and model monitoring</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Governance, security and compliance as first-class</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Contrast panel: ‘black box → score’ vs. ‘Aegis → decision + evidence + explanation + audit’.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SUMMARY</a:t>
            </a:r>
          </a:p>
          <a:p>
            <a:pPr algn="l">
              <a:spcBef>
                <a:spcPts val="0"/>
              </a:spcBef>
              <a:spcAft>
                <a:spcPts val="0"/>
              </a:spcAft>
            </a:pPr>
            <a:r>
              <a:rPr sz="2900" b="1" i="0">
                <a:solidFill>
                  <a:srgbClr val="F5F8FF"/>
                </a:solidFill>
                <a:latin typeface="Segoe UI Semibold"/>
              </a:rPr>
              <a:t>The Problem, Mapped</a:t>
            </a:r>
          </a:p>
          <a:p>
            <a:pPr algn="l">
              <a:spcBef>
                <a:spcPts val="200"/>
              </a:spcBef>
              <a:spcAft>
                <a:spcPts val="0"/>
              </a:spcAft>
            </a:pPr>
            <a:r>
              <a:rPr sz="1400" b="0" i="0">
                <a:solidFill>
                  <a:srgbClr val="9AA8C8"/>
                </a:solidFill>
                <a:latin typeface="Segoe UI"/>
              </a:rPr>
              <a:t>Every failure below has a corresponding Aegis intelligence.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Problem</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13</a:t>
            </a:r>
          </a:p>
        </p:txBody>
      </p:sp>
      <p:sp>
        <p:nvSpPr>
          <p:cNvPr id="6" name="Rectangle 5"/>
          <p:cNvSpPr/>
          <p:nvPr/>
        </p:nvSpPr>
        <p:spPr>
          <a:xfrm>
            <a:off x="868680" y="1874519"/>
            <a:ext cx="4023360" cy="566928"/>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50" b="1" i="0">
                <a:solidFill>
                  <a:srgbClr val="2DD4E0"/>
                </a:solidFill>
                <a:latin typeface="Segoe UI"/>
              </a:rPr>
              <a:t>Problem cluster</a:t>
            </a:r>
          </a:p>
        </p:txBody>
      </p:sp>
      <p:sp>
        <p:nvSpPr>
          <p:cNvPr id="7" name="Rectangle 6"/>
          <p:cNvSpPr/>
          <p:nvPr/>
        </p:nvSpPr>
        <p:spPr>
          <a:xfrm>
            <a:off x="4892040" y="1874519"/>
            <a:ext cx="2834640" cy="566928"/>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50" b="1" i="0">
                <a:solidFill>
                  <a:srgbClr val="2DD4E0"/>
                </a:solidFill>
                <a:latin typeface="Segoe UI"/>
              </a:rPr>
              <a:t>Who it hurts</a:t>
            </a:r>
          </a:p>
        </p:txBody>
      </p:sp>
      <p:sp>
        <p:nvSpPr>
          <p:cNvPr id="8" name="Rectangle 7"/>
          <p:cNvSpPr/>
          <p:nvPr/>
        </p:nvSpPr>
        <p:spPr>
          <a:xfrm>
            <a:off x="7726680" y="1874519"/>
            <a:ext cx="3749039" cy="566928"/>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50" b="1" i="0">
                <a:solidFill>
                  <a:srgbClr val="2DD4E0"/>
                </a:solidFill>
                <a:latin typeface="Segoe UI"/>
              </a:rPr>
              <a:t>Aegis answer</a:t>
            </a:r>
          </a:p>
        </p:txBody>
      </p:sp>
      <p:sp>
        <p:nvSpPr>
          <p:cNvPr id="9" name="Rectangle 8"/>
          <p:cNvSpPr/>
          <p:nvPr/>
        </p:nvSpPr>
        <p:spPr>
          <a:xfrm>
            <a:off x="868680" y="2441447"/>
            <a:ext cx="402336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Fake / duplicate / ring fraud</a:t>
            </a:r>
          </a:p>
        </p:txBody>
      </p:sp>
      <p:sp>
        <p:nvSpPr>
          <p:cNvPr id="10" name="Rectangle 9"/>
          <p:cNvSpPr/>
          <p:nvPr/>
        </p:nvSpPr>
        <p:spPr>
          <a:xfrm>
            <a:off x="4892040" y="2441447"/>
            <a:ext cx="283464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Insurer payout pool</a:t>
            </a:r>
          </a:p>
        </p:txBody>
      </p:sp>
      <p:sp>
        <p:nvSpPr>
          <p:cNvPr id="11" name="Rectangle 10"/>
          <p:cNvSpPr/>
          <p:nvPr/>
        </p:nvSpPr>
        <p:spPr>
          <a:xfrm>
            <a:off x="7726680" y="2441447"/>
            <a:ext cx="3749039"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1" i="0">
                <a:solidFill>
                  <a:srgbClr val="F5F8FF"/>
                </a:solidFill>
                <a:latin typeface="Segoe UI"/>
              </a:rPr>
              <a:t>Fraud + Network Intelligence</a:t>
            </a:r>
          </a:p>
        </p:txBody>
      </p:sp>
      <p:sp>
        <p:nvSpPr>
          <p:cNvPr id="12" name="Rectangle 11"/>
          <p:cNvSpPr/>
          <p:nvPr/>
        </p:nvSpPr>
        <p:spPr>
          <a:xfrm>
            <a:off x="868680" y="3008375"/>
            <a:ext cx="402336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Forged docs / edited &amp; old images</a:t>
            </a:r>
          </a:p>
        </p:txBody>
      </p:sp>
      <p:sp>
        <p:nvSpPr>
          <p:cNvPr id="13" name="Rectangle 12"/>
          <p:cNvSpPr/>
          <p:nvPr/>
        </p:nvSpPr>
        <p:spPr>
          <a:xfrm>
            <a:off x="4892040" y="3008375"/>
            <a:ext cx="283464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Claims integrity</a:t>
            </a:r>
          </a:p>
        </p:txBody>
      </p:sp>
      <p:sp>
        <p:nvSpPr>
          <p:cNvPr id="14" name="Rectangle 13"/>
          <p:cNvSpPr/>
          <p:nvPr/>
        </p:nvSpPr>
        <p:spPr>
          <a:xfrm>
            <a:off x="7726680" y="3008375"/>
            <a:ext cx="3749039"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1" i="0">
                <a:solidFill>
                  <a:srgbClr val="F5F8FF"/>
                </a:solidFill>
                <a:latin typeface="Segoe UI"/>
              </a:rPr>
              <a:t>OCR + Damage + Evidence Intelligence</a:t>
            </a:r>
          </a:p>
        </p:txBody>
      </p:sp>
      <p:sp>
        <p:nvSpPr>
          <p:cNvPr id="15" name="Rectangle 14"/>
          <p:cNvSpPr/>
          <p:nvPr/>
        </p:nvSpPr>
        <p:spPr>
          <a:xfrm>
            <a:off x="868680" y="3575303"/>
            <a:ext cx="402336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Identity fraud / deepfake / spoofing</a:t>
            </a:r>
          </a:p>
        </p:txBody>
      </p:sp>
      <p:sp>
        <p:nvSpPr>
          <p:cNvPr id="16" name="Rectangle 15"/>
          <p:cNvSpPr/>
          <p:nvPr/>
        </p:nvSpPr>
        <p:spPr>
          <a:xfrm>
            <a:off x="4892040" y="3575303"/>
            <a:ext cx="283464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Underwriting &amp; claims</a:t>
            </a:r>
          </a:p>
        </p:txBody>
      </p:sp>
      <p:sp>
        <p:nvSpPr>
          <p:cNvPr id="17" name="Rectangle 16"/>
          <p:cNvSpPr/>
          <p:nvPr/>
        </p:nvSpPr>
        <p:spPr>
          <a:xfrm>
            <a:off x="7726680" y="3575303"/>
            <a:ext cx="3749039"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1" i="0">
                <a:solidFill>
                  <a:srgbClr val="F5F8FF"/>
                </a:solidFill>
                <a:latin typeface="Segoe UI"/>
              </a:rPr>
              <a:t>Identity + Liveness Intelligence</a:t>
            </a:r>
          </a:p>
        </p:txBody>
      </p:sp>
      <p:sp>
        <p:nvSpPr>
          <p:cNvPr id="18" name="Rectangle 17"/>
          <p:cNvSpPr/>
          <p:nvPr/>
        </p:nvSpPr>
        <p:spPr>
          <a:xfrm>
            <a:off x="868680" y="4142231"/>
            <a:ext cx="402336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Slow, manual, costly claims</a:t>
            </a:r>
          </a:p>
        </p:txBody>
      </p:sp>
      <p:sp>
        <p:nvSpPr>
          <p:cNvPr id="19" name="Rectangle 18"/>
          <p:cNvSpPr/>
          <p:nvPr/>
        </p:nvSpPr>
        <p:spPr>
          <a:xfrm>
            <a:off x="4892040" y="4142231"/>
            <a:ext cx="283464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Insurer + customer</a:t>
            </a:r>
          </a:p>
        </p:txBody>
      </p:sp>
      <p:sp>
        <p:nvSpPr>
          <p:cNvPr id="20" name="Rectangle 19"/>
          <p:cNvSpPr/>
          <p:nvPr/>
        </p:nvSpPr>
        <p:spPr>
          <a:xfrm>
            <a:off x="7726680" y="4142231"/>
            <a:ext cx="3749039"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1" i="0">
                <a:solidFill>
                  <a:srgbClr val="F5F8FF"/>
                </a:solidFill>
                <a:latin typeface="Segoe UI"/>
              </a:rPr>
              <a:t>Claims + Investigation Agents</a:t>
            </a:r>
          </a:p>
        </p:txBody>
      </p:sp>
      <p:sp>
        <p:nvSpPr>
          <p:cNvPr id="21" name="Rectangle 20"/>
          <p:cNvSpPr/>
          <p:nvPr/>
        </p:nvSpPr>
        <p:spPr>
          <a:xfrm>
            <a:off x="868680" y="4709159"/>
            <a:ext cx="402336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Black-box, untrusted AI</a:t>
            </a:r>
          </a:p>
        </p:txBody>
      </p:sp>
      <p:sp>
        <p:nvSpPr>
          <p:cNvPr id="22" name="Rectangle 21"/>
          <p:cNvSpPr/>
          <p:nvPr/>
        </p:nvSpPr>
        <p:spPr>
          <a:xfrm>
            <a:off x="4892040" y="4709159"/>
            <a:ext cx="283464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Regulator + adjuster</a:t>
            </a:r>
          </a:p>
        </p:txBody>
      </p:sp>
      <p:sp>
        <p:nvSpPr>
          <p:cNvPr id="23" name="Rectangle 22"/>
          <p:cNvSpPr/>
          <p:nvPr/>
        </p:nvSpPr>
        <p:spPr>
          <a:xfrm>
            <a:off x="7726680" y="4709159"/>
            <a:ext cx="3749039"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1" i="0">
                <a:solidFill>
                  <a:srgbClr val="F5F8FF"/>
                </a:solidFill>
                <a:latin typeface="Segoe UI"/>
              </a:rPr>
              <a:t>Explainable + Decision Intelligence</a:t>
            </a:r>
          </a:p>
        </p:txBody>
      </p:sp>
      <p:sp>
        <p:nvSpPr>
          <p:cNvPr id="24" name="Rectangle 23"/>
          <p:cNvSpPr/>
          <p:nvPr/>
        </p:nvSpPr>
        <p:spPr>
          <a:xfrm>
            <a:off x="868680" y="5276087"/>
            <a:ext cx="402336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Poor guidance &amp; recommendations</a:t>
            </a:r>
          </a:p>
        </p:txBody>
      </p:sp>
      <p:sp>
        <p:nvSpPr>
          <p:cNvPr id="25" name="Rectangle 24"/>
          <p:cNvSpPr/>
          <p:nvPr/>
        </p:nvSpPr>
        <p:spPr>
          <a:xfrm>
            <a:off x="4892040" y="5276087"/>
            <a:ext cx="283464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0" i="0">
                <a:solidFill>
                  <a:srgbClr val="F5F8FF"/>
                </a:solidFill>
                <a:latin typeface="Segoe UI"/>
              </a:rPr>
              <a:t>Underserved customers</a:t>
            </a:r>
          </a:p>
        </p:txBody>
      </p:sp>
      <p:sp>
        <p:nvSpPr>
          <p:cNvPr id="26" name="Rectangle 25"/>
          <p:cNvSpPr/>
          <p:nvPr/>
        </p:nvSpPr>
        <p:spPr>
          <a:xfrm>
            <a:off x="7726680" y="5276087"/>
            <a:ext cx="3749039"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l">
              <a:spcBef>
                <a:spcPts val="0"/>
              </a:spcBef>
              <a:spcAft>
                <a:spcPts val="0"/>
              </a:spcAft>
            </a:pPr>
            <a:r>
              <a:rPr sz="1200" b="1" i="0">
                <a:solidFill>
                  <a:srgbClr val="35D08A"/>
                </a:solidFill>
                <a:latin typeface="Segoe UI"/>
              </a:rPr>
              <a:t>Advisory + Recommendation</a:t>
            </a:r>
            <a:r>
              <a:rPr sz="1000" b="1" i="0">
                <a:solidFill>
                  <a:srgbClr val="35D08A"/>
                </a:solidFill>
                <a:latin typeface="Segoe UI"/>
              </a:rPr>
              <a:t>  ● LIVE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CHAPTER · BRIDGING RESEARCH AND REALITY</a:t>
            </a:r>
          </a:p>
          <a:p>
            <a:pPr algn="l">
              <a:spcBef>
                <a:spcPts val="0"/>
              </a:spcBef>
              <a:spcAft>
                <a:spcPts val="0"/>
              </a:spcAft>
            </a:pPr>
            <a:r>
              <a:rPr sz="2900" b="1" i="0">
                <a:solidFill>
                  <a:srgbClr val="F5F8FF"/>
                </a:solidFill>
                <a:latin typeface="Segoe UI Semibold"/>
              </a:rPr>
              <a:t>Research Foundation</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Research</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14</a:t>
            </a:r>
          </a:p>
        </p:txBody>
      </p:sp>
      <p:sp>
        <p:nvSpPr>
          <p:cNvPr id="6" name="Rounded Rectangle 5"/>
          <p:cNvSpPr/>
          <p:nvPr/>
        </p:nvSpPr>
        <p:spPr>
          <a:xfrm>
            <a:off x="868680" y="1920240"/>
            <a:ext cx="10424160" cy="12801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03120"/>
            <a:ext cx="10058400" cy="1005840"/>
          </a:xfrm>
          <a:prstGeom prst="rect">
            <a:avLst/>
          </a:prstGeom>
          <a:noFill/>
        </p:spPr>
        <p:txBody>
          <a:bodyPr wrap="square" anchor="ctr" lIns="0" rIns="0" tIns="0" bIns="0">
            <a:spAutoFit/>
          </a:bodyPr>
          <a:lstStyle/>
          <a:p>
            <a:pPr algn="l">
              <a:spcBef>
                <a:spcPts val="0"/>
              </a:spcBef>
              <a:spcAft>
                <a:spcPts val="0"/>
              </a:spcAft>
            </a:pPr>
            <a:r>
              <a:rPr sz="2000" b="1" i="0">
                <a:solidFill>
                  <a:srgbClr val="F5F8FF"/>
                </a:solidFill>
                <a:latin typeface="Segoe UI Semibold"/>
              </a:rPr>
              <a:t>“AI Revolution in Insurance: Bridging Research and Reality”</a:t>
            </a:r>
          </a:p>
          <a:p>
            <a:pPr algn="l">
              <a:spcBef>
                <a:spcPts val="400"/>
              </a:spcBef>
              <a:spcAft>
                <a:spcPts val="0"/>
              </a:spcAft>
            </a:pPr>
            <a:r>
              <a:rPr sz="1300" b="0" i="0">
                <a:solidFill>
                  <a:srgbClr val="9AA8C8"/>
                </a:solidFill>
                <a:latin typeface="Segoe UI"/>
              </a:rPr>
              <a:t>Anchor paper for our gap analysis — what the literature promises vs. what industry ships.</a:t>
            </a:r>
          </a:p>
        </p:txBody>
      </p:sp>
      <p:sp>
        <p:nvSpPr>
          <p:cNvPr id="8" name="TextBox 7"/>
          <p:cNvSpPr txBox="1"/>
          <p:nvPr/>
        </p:nvSpPr>
        <p:spPr>
          <a:xfrm>
            <a:off x="868680" y="3566160"/>
            <a:ext cx="10607040" cy="411480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THIS CHAPTER COVERS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Paper overview, objectives and key findings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Current industry status &amp; already-existing technologies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Research gaps, challenges and limitations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How Aegis AI converts each gap into a product decision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OBJECTIVES &amp; FINDINGS</a:t>
            </a:r>
          </a:p>
          <a:p>
            <a:pPr algn="l">
              <a:spcBef>
                <a:spcPts val="0"/>
              </a:spcBef>
              <a:spcAft>
                <a:spcPts val="0"/>
              </a:spcAft>
            </a:pPr>
            <a:r>
              <a:rPr sz="2900" b="1" i="0">
                <a:solidFill>
                  <a:srgbClr val="F5F8FF"/>
                </a:solidFill>
                <a:latin typeface="Segoe UI Semibold"/>
              </a:rPr>
              <a:t>What the Research Set Out to Answer — and Found</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Research</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15</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RESEARCH OBJECTIVES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Map AI adoption across the insurance value chain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Assess maturity of fraud, claims and CX automation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Identify blockers to real-world deployment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Surface open research directions</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KEY FINDINGS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AI works in pilots; stalls in production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Trust, explainability &amp; data quality are the real blockers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Point solutions exist; integrated platforms don’t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Regulation demands transparency few systems provide</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Value-chain heatmap: AI maturity per stage (quote/underwrite/service/claim/fraud).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EXISTING TECHNOLOGIES</a:t>
            </a:r>
          </a:p>
          <a:p>
            <a:pPr algn="l">
              <a:spcBef>
                <a:spcPts val="0"/>
              </a:spcBef>
              <a:spcAft>
                <a:spcPts val="0"/>
              </a:spcAft>
            </a:pPr>
            <a:r>
              <a:rPr sz="2900" b="1" i="0">
                <a:solidFill>
                  <a:srgbClr val="F5F8FF"/>
                </a:solidFill>
                <a:latin typeface="Segoe UI Semibold"/>
              </a:rPr>
              <a:t>What Already Exists — and Is Commoditised</a:t>
            </a:r>
          </a:p>
          <a:p>
            <a:pPr algn="l">
              <a:spcBef>
                <a:spcPts val="200"/>
              </a:spcBef>
              <a:spcAft>
                <a:spcPts val="0"/>
              </a:spcAft>
            </a:pPr>
            <a:r>
              <a:rPr sz="1400" b="0" i="0">
                <a:solidFill>
                  <a:srgbClr val="9AA8C8"/>
                </a:solidFill>
                <a:latin typeface="Segoe UI"/>
              </a:rPr>
              <a:t>Being honest about prior art sharpens our differentiation.</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Research</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16</a:t>
            </a:r>
          </a:p>
        </p:txBody>
      </p:sp>
      <p:sp>
        <p:nvSpPr>
          <p:cNvPr id="6" name="Rounded Rectangle 5"/>
          <p:cNvSpPr/>
          <p:nvPr/>
        </p:nvSpPr>
        <p:spPr>
          <a:xfrm>
            <a:off x="868680" y="2103120"/>
            <a:ext cx="2048256" cy="18288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spcBef>
                <a:spcPts val="0"/>
              </a:spcBef>
              <a:spcAft>
                <a:spcPts val="600"/>
              </a:spcAft>
            </a:pPr>
            <a:r>
              <a:rPr sz="1400" b="1" i="0">
                <a:solidFill>
                  <a:srgbClr val="F5F8FF"/>
                </a:solidFill>
                <a:latin typeface="Segoe UI Semibold"/>
              </a:rPr>
              <a:t>Chatbots</a:t>
            </a:r>
          </a:p>
          <a:p>
            <a:pPr algn="ctr">
              <a:lnSpc>
                <a:spcPct val="105000"/>
              </a:lnSpc>
              <a:spcBef>
                <a:spcPts val="0"/>
              </a:spcBef>
              <a:spcAft>
                <a:spcPts val="800"/>
              </a:spcAft>
            </a:pPr>
            <a:r>
              <a:rPr sz="1100" b="0" i="0">
                <a:solidFill>
                  <a:srgbClr val="9AA8C8"/>
                </a:solidFill>
                <a:latin typeface="Segoe UI"/>
              </a:rPr>
              <a:t>Conversational FAQ &amp; sales bots</a:t>
            </a:r>
          </a:p>
          <a:p>
            <a:pPr algn="ctr">
              <a:spcBef>
                <a:spcPts val="0"/>
              </a:spcBef>
              <a:spcAft>
                <a:spcPts val="0"/>
              </a:spcAft>
            </a:pPr>
            <a:r>
              <a:rPr sz="900" b="1" i="0">
                <a:solidFill>
                  <a:srgbClr val="F4B440"/>
                </a:solidFill>
                <a:latin typeface="Segoe UI"/>
              </a:rPr>
              <a:t>COMMODITY</a:t>
            </a:r>
          </a:p>
        </p:txBody>
      </p:sp>
      <p:sp>
        <p:nvSpPr>
          <p:cNvPr id="7" name="Rounded Rectangle 6"/>
          <p:cNvSpPr/>
          <p:nvPr/>
        </p:nvSpPr>
        <p:spPr>
          <a:xfrm>
            <a:off x="3035808" y="2103120"/>
            <a:ext cx="2048256" cy="18288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spcBef>
                <a:spcPts val="0"/>
              </a:spcBef>
              <a:spcAft>
                <a:spcPts val="600"/>
              </a:spcAft>
            </a:pPr>
            <a:r>
              <a:rPr sz="1400" b="1" i="0">
                <a:solidFill>
                  <a:srgbClr val="F5F8FF"/>
                </a:solidFill>
                <a:latin typeface="Segoe UI Semibold"/>
              </a:rPr>
              <a:t>OCR</a:t>
            </a:r>
          </a:p>
          <a:p>
            <a:pPr algn="ctr">
              <a:lnSpc>
                <a:spcPct val="105000"/>
              </a:lnSpc>
              <a:spcBef>
                <a:spcPts val="0"/>
              </a:spcBef>
              <a:spcAft>
                <a:spcPts val="800"/>
              </a:spcAft>
            </a:pPr>
            <a:r>
              <a:rPr sz="1100" b="0" i="0">
                <a:solidFill>
                  <a:srgbClr val="9AA8C8"/>
                </a:solidFill>
                <a:latin typeface="Segoe UI"/>
              </a:rPr>
              <a:t>Document text extraction</a:t>
            </a:r>
          </a:p>
          <a:p>
            <a:pPr algn="ctr">
              <a:spcBef>
                <a:spcPts val="0"/>
              </a:spcBef>
              <a:spcAft>
                <a:spcPts val="0"/>
              </a:spcAft>
            </a:pPr>
            <a:r>
              <a:rPr sz="900" b="1" i="0">
                <a:solidFill>
                  <a:srgbClr val="F4B440"/>
                </a:solidFill>
                <a:latin typeface="Segoe UI"/>
              </a:rPr>
              <a:t>COMMODITY</a:t>
            </a:r>
          </a:p>
        </p:txBody>
      </p:sp>
      <p:sp>
        <p:nvSpPr>
          <p:cNvPr id="8" name="Rounded Rectangle 7"/>
          <p:cNvSpPr/>
          <p:nvPr/>
        </p:nvSpPr>
        <p:spPr>
          <a:xfrm>
            <a:off x="5202936" y="2103120"/>
            <a:ext cx="2048256" cy="18288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spcBef>
                <a:spcPts val="0"/>
              </a:spcBef>
              <a:spcAft>
                <a:spcPts val="600"/>
              </a:spcAft>
            </a:pPr>
            <a:r>
              <a:rPr sz="1400" b="1" i="0">
                <a:solidFill>
                  <a:srgbClr val="F5F8FF"/>
                </a:solidFill>
                <a:latin typeface="Segoe UI Semibold"/>
              </a:rPr>
              <a:t>Fraud scoring</a:t>
            </a:r>
          </a:p>
          <a:p>
            <a:pPr algn="ctr">
              <a:lnSpc>
                <a:spcPct val="105000"/>
              </a:lnSpc>
              <a:spcBef>
                <a:spcPts val="0"/>
              </a:spcBef>
              <a:spcAft>
                <a:spcPts val="800"/>
              </a:spcAft>
            </a:pPr>
            <a:r>
              <a:rPr sz="1100" b="0" i="0">
                <a:solidFill>
                  <a:srgbClr val="9AA8C8"/>
                </a:solidFill>
                <a:latin typeface="Segoe UI"/>
              </a:rPr>
              <a:t>Rules + basic anomaly models</a:t>
            </a:r>
          </a:p>
          <a:p>
            <a:pPr algn="ctr">
              <a:spcBef>
                <a:spcPts val="0"/>
              </a:spcBef>
              <a:spcAft>
                <a:spcPts val="0"/>
              </a:spcAft>
            </a:pPr>
            <a:r>
              <a:rPr sz="900" b="1" i="0">
                <a:solidFill>
                  <a:srgbClr val="F4B440"/>
                </a:solidFill>
                <a:latin typeface="Segoe UI"/>
              </a:rPr>
              <a:t>COMMODITY</a:t>
            </a:r>
          </a:p>
        </p:txBody>
      </p:sp>
      <p:sp>
        <p:nvSpPr>
          <p:cNvPr id="9" name="Rounded Rectangle 8"/>
          <p:cNvSpPr/>
          <p:nvPr/>
        </p:nvSpPr>
        <p:spPr>
          <a:xfrm>
            <a:off x="7370064" y="2103120"/>
            <a:ext cx="2048256" cy="18288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spcBef>
                <a:spcPts val="0"/>
              </a:spcBef>
              <a:spcAft>
                <a:spcPts val="600"/>
              </a:spcAft>
            </a:pPr>
            <a:r>
              <a:rPr sz="1400" b="1" i="0">
                <a:solidFill>
                  <a:srgbClr val="F5F8FF"/>
                </a:solidFill>
                <a:latin typeface="Segoe UI Semibold"/>
              </a:rPr>
              <a:t>Recommendation</a:t>
            </a:r>
          </a:p>
          <a:p>
            <a:pPr algn="ctr">
              <a:lnSpc>
                <a:spcPct val="105000"/>
              </a:lnSpc>
              <a:spcBef>
                <a:spcPts val="0"/>
              </a:spcBef>
              <a:spcAft>
                <a:spcPts val="800"/>
              </a:spcAft>
            </a:pPr>
            <a:r>
              <a:rPr sz="1100" b="0" i="0">
                <a:solidFill>
                  <a:srgbClr val="9AA8C8"/>
                </a:solidFill>
                <a:latin typeface="Segoe UI"/>
              </a:rPr>
              <a:t>Product suggestion engines</a:t>
            </a:r>
          </a:p>
          <a:p>
            <a:pPr algn="ctr">
              <a:spcBef>
                <a:spcPts val="0"/>
              </a:spcBef>
              <a:spcAft>
                <a:spcPts val="0"/>
              </a:spcAft>
            </a:pPr>
            <a:r>
              <a:rPr sz="900" b="1" i="0">
                <a:solidFill>
                  <a:srgbClr val="F4B440"/>
                </a:solidFill>
                <a:latin typeface="Segoe UI"/>
              </a:rPr>
              <a:t>COMMODITY</a:t>
            </a:r>
          </a:p>
        </p:txBody>
      </p:sp>
      <p:sp>
        <p:nvSpPr>
          <p:cNvPr id="10" name="Rounded Rectangle 9"/>
          <p:cNvSpPr/>
          <p:nvPr/>
        </p:nvSpPr>
        <p:spPr>
          <a:xfrm>
            <a:off x="9537192" y="2103120"/>
            <a:ext cx="2048256" cy="18288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spcBef>
                <a:spcPts val="0"/>
              </a:spcBef>
              <a:spcAft>
                <a:spcPts val="600"/>
              </a:spcAft>
            </a:pPr>
            <a:r>
              <a:rPr sz="1400" b="1" i="0">
                <a:solidFill>
                  <a:srgbClr val="F5F8FF"/>
                </a:solidFill>
                <a:latin typeface="Segoe UI Semibold"/>
              </a:rPr>
              <a:t>Claims automation</a:t>
            </a:r>
          </a:p>
          <a:p>
            <a:pPr algn="ctr">
              <a:lnSpc>
                <a:spcPct val="105000"/>
              </a:lnSpc>
              <a:spcBef>
                <a:spcPts val="0"/>
              </a:spcBef>
              <a:spcAft>
                <a:spcPts val="800"/>
              </a:spcAft>
            </a:pPr>
            <a:r>
              <a:rPr sz="1100" b="0" i="0">
                <a:solidFill>
                  <a:srgbClr val="9AA8C8"/>
                </a:solidFill>
                <a:latin typeface="Segoe UI"/>
              </a:rPr>
              <a:t>Workflow / RPA pipelines</a:t>
            </a:r>
          </a:p>
          <a:p>
            <a:pPr algn="ctr">
              <a:spcBef>
                <a:spcPts val="0"/>
              </a:spcBef>
              <a:spcAft>
                <a:spcPts val="0"/>
              </a:spcAft>
            </a:pPr>
            <a:r>
              <a:rPr sz="900" b="1" i="0">
                <a:solidFill>
                  <a:srgbClr val="F4B440"/>
                </a:solidFill>
                <a:latin typeface="Segoe UI"/>
              </a:rPr>
              <a:t>COMMODITY</a:t>
            </a:r>
          </a:p>
        </p:txBody>
      </p:sp>
      <p:sp>
        <p:nvSpPr>
          <p:cNvPr id="11" name="TextBox 10"/>
          <p:cNvSpPr txBox="1"/>
          <p:nvPr/>
        </p:nvSpPr>
        <p:spPr>
          <a:xfrm>
            <a:off x="868680" y="4297680"/>
            <a:ext cx="10424160" cy="1097280"/>
          </a:xfrm>
          <a:prstGeom prst="rect">
            <a:avLst/>
          </a:prstGeom>
          <a:noFill/>
        </p:spPr>
        <p:txBody>
          <a:bodyPr wrap="square" anchor="t" lIns="0" rIns="0" tIns="0" bIns="0">
            <a:spAutoFit/>
          </a:bodyPr>
          <a:lstStyle/>
          <a:p>
            <a:pPr algn="l">
              <a:lnSpc>
                <a:spcPct val="115000"/>
              </a:lnSpc>
              <a:spcBef>
                <a:spcPts val="0"/>
              </a:spcBef>
              <a:spcAft>
                <a:spcPts val="600"/>
              </a:spcAft>
            </a:pPr>
            <a:r>
              <a:rPr sz="1500" b="0" i="0">
                <a:solidFill>
                  <a:srgbClr val="F5F8FF"/>
                </a:solidFill>
                <a:latin typeface="Segoe UI"/>
              </a:rPr>
              <a:t>None of these decide, explain, or investigate. They are features. </a:t>
            </a:r>
            <a:r>
              <a:rPr sz="1500" b="1" i="0">
                <a:solidFill>
                  <a:srgbClr val="2DD4E0"/>
                </a:solidFill>
                <a:latin typeface="Segoe UI"/>
              </a:rPr>
              <a:t>Aegis composes them into governed, explainable decisions.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THE WHITESPACE</a:t>
            </a:r>
          </a:p>
          <a:p>
            <a:pPr algn="l">
              <a:spcBef>
                <a:spcPts val="0"/>
              </a:spcBef>
              <a:spcAft>
                <a:spcPts val="0"/>
              </a:spcAft>
            </a:pPr>
            <a:r>
              <a:rPr sz="2900" b="1" i="0">
                <a:solidFill>
                  <a:srgbClr val="F5F8FF"/>
                </a:solidFill>
                <a:latin typeface="Segoe UI Semibold"/>
              </a:rPr>
              <a:t>Research Gaps, Challenges &amp; Limitations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Research</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17</a:t>
            </a:r>
          </a:p>
        </p:txBody>
      </p:sp>
      <p:sp>
        <p:nvSpPr>
          <p:cNvPr id="6" name="TextBox 5"/>
          <p:cNvSpPr txBox="1"/>
          <p:nvPr/>
        </p:nvSpPr>
        <p:spPr>
          <a:xfrm>
            <a:off x="868680" y="1737360"/>
            <a:ext cx="10607040" cy="4114800"/>
          </a:xfrm>
          <a:prstGeom prst="rect">
            <a:avLst/>
          </a:prstGeom>
          <a:noFill/>
        </p:spPr>
        <p:txBody>
          <a:bodyPr wrap="square" anchor="t" lIns="0" rIns="0" tIns="0" bIns="0">
            <a:spAutoFit/>
          </a:bodyPr>
          <a:lstStyle/>
          <a:p>
            <a:pPr algn="l">
              <a:lnSpc>
                <a:spcPct val="105000"/>
              </a:lnSpc>
              <a:spcBef>
                <a:spcPts val="0"/>
              </a:spcBef>
              <a:spcAft>
                <a:spcPts val="1100"/>
              </a:spcAft>
            </a:pPr>
            <a:r>
              <a:rPr sz="1500" b="1" i="0">
                <a:solidFill>
                  <a:srgbClr val="2DD4E0"/>
                </a:solidFill>
                <a:latin typeface="Segoe UI"/>
              </a:rPr>
              <a:t>Explainability gap   </a:t>
            </a:r>
            <a:r>
              <a:rPr sz="1500" b="0" i="0">
                <a:solidFill>
                  <a:srgbClr val="F5F8FF"/>
                </a:solidFill>
                <a:latin typeface="Segoe UI"/>
              </a:rPr>
              <a:t>Scores without reasons no regulator or adjuster can defend.</a:t>
            </a:r>
          </a:p>
          <a:p>
            <a:pPr algn="l">
              <a:lnSpc>
                <a:spcPct val="105000"/>
              </a:lnSpc>
              <a:spcBef>
                <a:spcPts val="0"/>
              </a:spcBef>
              <a:spcAft>
                <a:spcPts val="1100"/>
              </a:spcAft>
            </a:pPr>
            <a:r>
              <a:rPr sz="1500" b="1" i="0">
                <a:solidFill>
                  <a:srgbClr val="2DD4E0"/>
                </a:solidFill>
                <a:latin typeface="Segoe UI"/>
              </a:rPr>
              <a:t>Decision gap   </a:t>
            </a:r>
            <a:r>
              <a:rPr sz="1500" b="0" i="0">
                <a:solidFill>
                  <a:srgbClr val="F5F8FF"/>
                </a:solidFill>
                <a:latin typeface="Segoe UI"/>
              </a:rPr>
              <a:t>Detection exists; end-to-end evidence-based decisioning does not.</a:t>
            </a:r>
          </a:p>
          <a:p>
            <a:pPr algn="l">
              <a:lnSpc>
                <a:spcPct val="105000"/>
              </a:lnSpc>
              <a:spcBef>
                <a:spcPts val="0"/>
              </a:spcBef>
              <a:spcAft>
                <a:spcPts val="1100"/>
              </a:spcAft>
            </a:pPr>
            <a:r>
              <a:rPr sz="1500" b="1" i="0">
                <a:solidFill>
                  <a:srgbClr val="2DD4E0"/>
                </a:solidFill>
                <a:latin typeface="Segoe UI"/>
              </a:rPr>
              <a:t>Integration gap   </a:t>
            </a:r>
            <a:r>
              <a:rPr sz="1500" b="0" i="0">
                <a:solidFill>
                  <a:srgbClr val="F5F8FF"/>
                </a:solidFill>
                <a:latin typeface="Segoe UI"/>
              </a:rPr>
              <a:t>Point tools; no unified, API-first AI platform for insurers.</a:t>
            </a:r>
          </a:p>
          <a:p>
            <a:pPr algn="l">
              <a:lnSpc>
                <a:spcPct val="105000"/>
              </a:lnSpc>
              <a:spcBef>
                <a:spcPts val="0"/>
              </a:spcBef>
              <a:spcAft>
                <a:spcPts val="1100"/>
              </a:spcAft>
            </a:pPr>
            <a:r>
              <a:rPr sz="1500" b="1" i="0">
                <a:solidFill>
                  <a:srgbClr val="2DD4E0"/>
                </a:solidFill>
                <a:latin typeface="Segoe UI"/>
              </a:rPr>
              <a:t>Trust gap   </a:t>
            </a:r>
            <a:r>
              <a:rPr sz="1500" b="0" i="0">
                <a:solidFill>
                  <a:srgbClr val="F5F8FF"/>
                </a:solidFill>
                <a:latin typeface="Segoe UI"/>
              </a:rPr>
              <a:t>No human-in-the-loop, audit and governance baked in.</a:t>
            </a:r>
          </a:p>
          <a:p>
            <a:pPr algn="l">
              <a:lnSpc>
                <a:spcPct val="105000"/>
              </a:lnSpc>
              <a:spcBef>
                <a:spcPts val="0"/>
              </a:spcBef>
              <a:spcAft>
                <a:spcPts val="1100"/>
              </a:spcAft>
            </a:pPr>
            <a:r>
              <a:rPr sz="1500" b="1" i="0">
                <a:solidFill>
                  <a:srgbClr val="2DD4E0"/>
                </a:solidFill>
                <a:latin typeface="Segoe UI"/>
              </a:rPr>
              <a:t>Data gap   </a:t>
            </a:r>
            <a:r>
              <a:rPr sz="1500" b="0" i="0">
                <a:solidFill>
                  <a:srgbClr val="F5F8FF"/>
                </a:solidFill>
                <a:latin typeface="Segoe UI"/>
              </a:rPr>
              <a:t>Fragmented, low-quality, non-shared claims data.</a:t>
            </a:r>
          </a:p>
          <a:p>
            <a:pPr algn="l">
              <a:lnSpc>
                <a:spcPct val="105000"/>
              </a:lnSpc>
              <a:spcBef>
                <a:spcPts val="0"/>
              </a:spcBef>
              <a:spcAft>
                <a:spcPts val="1100"/>
              </a:spcAft>
            </a:pPr>
            <a:r>
              <a:rPr sz="1500" b="1" i="0">
                <a:solidFill>
                  <a:srgbClr val="2DD4E0"/>
                </a:solidFill>
                <a:latin typeface="Segoe UI"/>
              </a:rPr>
              <a:t>Investigation gap   </a:t>
            </a:r>
            <a:r>
              <a:rPr sz="1500" b="0" i="0">
                <a:solidFill>
                  <a:srgbClr val="F5F8FF"/>
                </a:solidFill>
                <a:latin typeface="Segoe UI"/>
              </a:rPr>
              <a:t>No autonomous evidence collection &amp; network analysis.</a:t>
            </a:r>
          </a:p>
        </p:txBody>
      </p:sp>
      <p:sp>
        <p:nvSpPr>
          <p:cNvPr id="7" name="TextBox 6"/>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Six-gap ‘bridge’ graphic — research on one bank, reality on the other, Aegis as the bridge.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DIFFERENTIATION</a:t>
            </a:r>
          </a:p>
          <a:p>
            <a:pPr algn="l">
              <a:spcBef>
                <a:spcPts val="0"/>
              </a:spcBef>
              <a:spcAft>
                <a:spcPts val="0"/>
              </a:spcAft>
            </a:pPr>
            <a:r>
              <a:rPr sz="2900" b="1" i="0">
                <a:solidFill>
                  <a:srgbClr val="F5F8FF"/>
                </a:solidFill>
                <a:latin typeface="Segoe UI Semibold"/>
              </a:rPr>
              <a:t>How Aegis AI Is Different</a:t>
            </a:r>
          </a:p>
          <a:p>
            <a:pPr algn="l">
              <a:spcBef>
                <a:spcPts val="200"/>
              </a:spcBef>
              <a:spcAft>
                <a:spcPts val="0"/>
              </a:spcAft>
            </a:pPr>
            <a:r>
              <a:rPr sz="1400" b="0" i="0">
                <a:solidFill>
                  <a:srgbClr val="9AA8C8"/>
                </a:solidFill>
                <a:latin typeface="Segoe UI"/>
              </a:rPr>
              <a:t>We don't add another model — we add the missing layer.</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Research</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18</a:t>
            </a:r>
          </a:p>
        </p:txBody>
      </p:sp>
      <p:sp>
        <p:nvSpPr>
          <p:cNvPr id="6" name="Rounded Rectangle 5"/>
          <p:cNvSpPr/>
          <p:nvPr/>
        </p:nvSpPr>
        <p:spPr>
          <a:xfrm>
            <a:off x="868680" y="2011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Executive AI</a:t>
            </a:r>
          </a:p>
        </p:txBody>
      </p:sp>
      <p:sp>
        <p:nvSpPr>
          <p:cNvPr id="7" name="Rectangle 6"/>
          <p:cNvSpPr/>
          <p:nvPr/>
        </p:nvSpPr>
        <p:spPr>
          <a:xfrm>
            <a:off x="868680" y="2011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62272" y="2011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Decision Intelligence</a:t>
            </a:r>
          </a:p>
        </p:txBody>
      </p:sp>
      <p:sp>
        <p:nvSpPr>
          <p:cNvPr id="9" name="Rectangle 8"/>
          <p:cNvSpPr/>
          <p:nvPr/>
        </p:nvSpPr>
        <p:spPr>
          <a:xfrm>
            <a:off x="4462272" y="2011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55864" y="2011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Explainable AI</a:t>
            </a:r>
          </a:p>
        </p:txBody>
      </p:sp>
      <p:sp>
        <p:nvSpPr>
          <p:cNvPr id="11" name="Rectangle 10"/>
          <p:cNvSpPr/>
          <p:nvPr/>
        </p:nvSpPr>
        <p:spPr>
          <a:xfrm>
            <a:off x="8055864" y="2011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3154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Investigation AI</a:t>
            </a:r>
          </a:p>
        </p:txBody>
      </p:sp>
      <p:sp>
        <p:nvSpPr>
          <p:cNvPr id="13" name="Rectangle 12"/>
          <p:cNvSpPr/>
          <p:nvPr/>
        </p:nvSpPr>
        <p:spPr>
          <a:xfrm>
            <a:off x="868680" y="3154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62272" y="3154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Evidence Intelligence</a:t>
            </a:r>
          </a:p>
        </p:txBody>
      </p:sp>
      <p:sp>
        <p:nvSpPr>
          <p:cNvPr id="15" name="Rectangle 14"/>
          <p:cNvSpPr/>
          <p:nvPr/>
        </p:nvSpPr>
        <p:spPr>
          <a:xfrm>
            <a:off x="4462272" y="3154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55864" y="3154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Enterprise API Platform</a:t>
            </a:r>
          </a:p>
        </p:txBody>
      </p:sp>
      <p:sp>
        <p:nvSpPr>
          <p:cNvPr id="17" name="Rectangle 16"/>
          <p:cNvSpPr/>
          <p:nvPr/>
        </p:nvSpPr>
        <p:spPr>
          <a:xfrm>
            <a:off x="8055864" y="3154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4297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AI Infrastructure</a:t>
            </a:r>
          </a:p>
        </p:txBody>
      </p:sp>
      <p:sp>
        <p:nvSpPr>
          <p:cNvPr id="19" name="Rectangle 18"/>
          <p:cNvSpPr/>
          <p:nvPr/>
        </p:nvSpPr>
        <p:spPr>
          <a:xfrm>
            <a:off x="868680" y="4297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62272" y="4297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Human-in-the-Loop</a:t>
            </a:r>
          </a:p>
        </p:txBody>
      </p:sp>
      <p:sp>
        <p:nvSpPr>
          <p:cNvPr id="21" name="Rectangle 20"/>
          <p:cNvSpPr/>
          <p:nvPr/>
        </p:nvSpPr>
        <p:spPr>
          <a:xfrm>
            <a:off x="4462272" y="4297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55864" y="4297680"/>
            <a:ext cx="3429000" cy="96012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50" b="1" i="0">
                <a:solidFill>
                  <a:srgbClr val="F5F8FF"/>
                </a:solidFill>
                <a:latin typeface="Segoe UI Semibold"/>
              </a:rPr>
              <a:t>Trustworthy AI</a:t>
            </a:r>
          </a:p>
        </p:txBody>
      </p:sp>
      <p:sp>
        <p:nvSpPr>
          <p:cNvPr id="23" name="Rectangle 22"/>
          <p:cNvSpPr/>
          <p:nvPr/>
        </p:nvSpPr>
        <p:spPr>
          <a:xfrm>
            <a:off x="8055864" y="4297680"/>
            <a:ext cx="342900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GAP → ANSWER</a:t>
            </a:r>
          </a:p>
          <a:p>
            <a:pPr algn="l">
              <a:spcBef>
                <a:spcPts val="0"/>
              </a:spcBef>
              <a:spcAft>
                <a:spcPts val="0"/>
              </a:spcAft>
            </a:pPr>
            <a:r>
              <a:rPr sz="2900" b="1" i="0">
                <a:solidFill>
                  <a:srgbClr val="F5F8FF"/>
                </a:solidFill>
                <a:latin typeface="Segoe UI Semibold"/>
              </a:rPr>
              <a:t>From Research Gap to Product Decision</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Research</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19</a:t>
            </a:r>
          </a:p>
        </p:txBody>
      </p:sp>
      <p:sp>
        <p:nvSpPr>
          <p:cNvPr id="6" name="Rectangle 5"/>
          <p:cNvSpPr/>
          <p:nvPr/>
        </p:nvSpPr>
        <p:spPr>
          <a:xfrm>
            <a:off x="868680" y="1874519"/>
            <a:ext cx="2743200" cy="566928"/>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Research gap</a:t>
            </a:r>
          </a:p>
        </p:txBody>
      </p:sp>
      <p:sp>
        <p:nvSpPr>
          <p:cNvPr id="7" name="Rectangle 6"/>
          <p:cNvSpPr/>
          <p:nvPr/>
        </p:nvSpPr>
        <p:spPr>
          <a:xfrm>
            <a:off x="3611880" y="1874519"/>
            <a:ext cx="5394960" cy="566928"/>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Aegis product decision</a:t>
            </a:r>
          </a:p>
        </p:txBody>
      </p:sp>
      <p:sp>
        <p:nvSpPr>
          <p:cNvPr id="8" name="Rectangle 7"/>
          <p:cNvSpPr/>
          <p:nvPr/>
        </p:nvSpPr>
        <p:spPr>
          <a:xfrm>
            <a:off x="9006840" y="1874519"/>
            <a:ext cx="2377440" cy="566928"/>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Status</a:t>
            </a:r>
          </a:p>
        </p:txBody>
      </p:sp>
      <p:sp>
        <p:nvSpPr>
          <p:cNvPr id="9" name="Rectangle 8"/>
          <p:cNvSpPr/>
          <p:nvPr/>
        </p:nvSpPr>
        <p:spPr>
          <a:xfrm>
            <a:off x="868680" y="2441447"/>
            <a:ext cx="274320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Explainability</a:t>
            </a:r>
          </a:p>
        </p:txBody>
      </p:sp>
      <p:sp>
        <p:nvSpPr>
          <p:cNvPr id="10" name="Rectangle 9"/>
          <p:cNvSpPr/>
          <p:nvPr/>
        </p:nvSpPr>
        <p:spPr>
          <a:xfrm>
            <a:off x="3611880" y="2441447"/>
            <a:ext cx="539496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Reasoning trace on every answer (ThinkingEngine)</a:t>
            </a:r>
          </a:p>
        </p:txBody>
      </p:sp>
      <p:sp>
        <p:nvSpPr>
          <p:cNvPr id="11" name="Rectangle 10"/>
          <p:cNvSpPr/>
          <p:nvPr/>
        </p:nvSpPr>
        <p:spPr>
          <a:xfrm>
            <a:off x="9006840" y="2441447"/>
            <a:ext cx="237744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LIVE (advisory)</a:t>
            </a:r>
          </a:p>
        </p:txBody>
      </p:sp>
      <p:sp>
        <p:nvSpPr>
          <p:cNvPr id="12" name="Rectangle 11"/>
          <p:cNvSpPr/>
          <p:nvPr/>
        </p:nvSpPr>
        <p:spPr>
          <a:xfrm>
            <a:off x="868680" y="3008375"/>
            <a:ext cx="274320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Decision</a:t>
            </a:r>
          </a:p>
        </p:txBody>
      </p:sp>
      <p:sp>
        <p:nvSpPr>
          <p:cNvPr id="13" name="Rectangle 12"/>
          <p:cNvSpPr/>
          <p:nvPr/>
        </p:nvSpPr>
        <p:spPr>
          <a:xfrm>
            <a:off x="3611880" y="3008375"/>
            <a:ext cx="539496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Decision Intelligence agent + rules-driven KB</a:t>
            </a:r>
          </a:p>
        </p:txBody>
      </p:sp>
      <p:sp>
        <p:nvSpPr>
          <p:cNvPr id="14" name="Rectangle 13"/>
          <p:cNvSpPr/>
          <p:nvPr/>
        </p:nvSpPr>
        <p:spPr>
          <a:xfrm>
            <a:off x="9006840" y="3008375"/>
            <a:ext cx="237744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Roadmap</a:t>
            </a:r>
          </a:p>
        </p:txBody>
      </p:sp>
      <p:sp>
        <p:nvSpPr>
          <p:cNvPr id="15" name="Rectangle 14"/>
          <p:cNvSpPr/>
          <p:nvPr/>
        </p:nvSpPr>
        <p:spPr>
          <a:xfrm>
            <a:off x="868680" y="3575303"/>
            <a:ext cx="274320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Integration</a:t>
            </a:r>
          </a:p>
        </p:txBody>
      </p:sp>
      <p:sp>
        <p:nvSpPr>
          <p:cNvPr id="16" name="Rectangle 15"/>
          <p:cNvSpPr/>
          <p:nvPr/>
        </p:nvSpPr>
        <p:spPr>
          <a:xfrm>
            <a:off x="3611880" y="3575303"/>
            <a:ext cx="539496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API-first, provider-agnostic architecture</a:t>
            </a:r>
          </a:p>
        </p:txBody>
      </p:sp>
      <p:sp>
        <p:nvSpPr>
          <p:cNvPr id="17" name="Rectangle 16"/>
          <p:cNvSpPr/>
          <p:nvPr/>
        </p:nvSpPr>
        <p:spPr>
          <a:xfrm>
            <a:off x="9006840" y="3575303"/>
            <a:ext cx="237744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LIVE (core)</a:t>
            </a:r>
          </a:p>
        </p:txBody>
      </p:sp>
      <p:sp>
        <p:nvSpPr>
          <p:cNvPr id="18" name="Rectangle 17"/>
          <p:cNvSpPr/>
          <p:nvPr/>
        </p:nvSpPr>
        <p:spPr>
          <a:xfrm>
            <a:off x="868680" y="4142231"/>
            <a:ext cx="274320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Trust</a:t>
            </a:r>
          </a:p>
        </p:txBody>
      </p:sp>
      <p:sp>
        <p:nvSpPr>
          <p:cNvPr id="19" name="Rectangle 18"/>
          <p:cNvSpPr/>
          <p:nvPr/>
        </p:nvSpPr>
        <p:spPr>
          <a:xfrm>
            <a:off x="3611880" y="4142231"/>
            <a:ext cx="539496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RBAC, tenant isolation, audit, human-in-the-loop</a:t>
            </a:r>
          </a:p>
        </p:txBody>
      </p:sp>
      <p:sp>
        <p:nvSpPr>
          <p:cNvPr id="20" name="Rectangle 19"/>
          <p:cNvSpPr/>
          <p:nvPr/>
        </p:nvSpPr>
        <p:spPr>
          <a:xfrm>
            <a:off x="9006840" y="4142231"/>
            <a:ext cx="237744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LIVE / Roadmap</a:t>
            </a:r>
          </a:p>
        </p:txBody>
      </p:sp>
      <p:sp>
        <p:nvSpPr>
          <p:cNvPr id="21" name="Rectangle 20"/>
          <p:cNvSpPr/>
          <p:nvPr/>
        </p:nvSpPr>
        <p:spPr>
          <a:xfrm>
            <a:off x="868680" y="4709159"/>
            <a:ext cx="274320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Investigation</a:t>
            </a:r>
          </a:p>
        </p:txBody>
      </p:sp>
      <p:sp>
        <p:nvSpPr>
          <p:cNvPr id="22" name="Rectangle 21"/>
          <p:cNvSpPr/>
          <p:nvPr/>
        </p:nvSpPr>
        <p:spPr>
          <a:xfrm>
            <a:off x="3611880" y="4709159"/>
            <a:ext cx="539496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Evidence + Investigation agents</a:t>
            </a:r>
          </a:p>
        </p:txBody>
      </p:sp>
      <p:sp>
        <p:nvSpPr>
          <p:cNvPr id="23" name="Rectangle 22"/>
          <p:cNvSpPr/>
          <p:nvPr/>
        </p:nvSpPr>
        <p:spPr>
          <a:xfrm>
            <a:off x="9006840" y="4709159"/>
            <a:ext cx="2377440" cy="566928"/>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Roadmap</a:t>
            </a:r>
          </a:p>
        </p:txBody>
      </p:sp>
      <p:sp>
        <p:nvSpPr>
          <p:cNvPr id="24" name="Rectangle 23"/>
          <p:cNvSpPr/>
          <p:nvPr/>
        </p:nvSpPr>
        <p:spPr>
          <a:xfrm>
            <a:off x="868680" y="5276087"/>
            <a:ext cx="274320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Data</a:t>
            </a:r>
          </a:p>
        </p:txBody>
      </p:sp>
      <p:sp>
        <p:nvSpPr>
          <p:cNvPr id="25" name="Rectangle 24"/>
          <p:cNvSpPr/>
          <p:nvPr/>
        </p:nvSpPr>
        <p:spPr>
          <a:xfrm>
            <a:off x="3611880" y="5276087"/>
            <a:ext cx="539496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Insurance Knowledge Graph + Foundation Model</a:t>
            </a:r>
          </a:p>
        </p:txBody>
      </p:sp>
      <p:sp>
        <p:nvSpPr>
          <p:cNvPr id="26" name="Rectangle 25"/>
          <p:cNvSpPr/>
          <p:nvPr/>
        </p:nvSpPr>
        <p:spPr>
          <a:xfrm>
            <a:off x="9006840" y="5276087"/>
            <a:ext cx="2377440" cy="566928"/>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B6EF5"/>
                </a:solidFill>
                <a:latin typeface="Segoe UI"/>
              </a:rPr>
              <a:t>Vision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SOLUTION OVERVIEW</a:t>
            </a:r>
          </a:p>
          <a:p>
            <a:pPr algn="l">
              <a:spcBef>
                <a:spcPts val="0"/>
              </a:spcBef>
              <a:spcAft>
                <a:spcPts val="0"/>
              </a:spcAft>
            </a:pPr>
            <a:r>
              <a:rPr sz="2900" b="1" i="0">
                <a:solidFill>
                  <a:srgbClr val="F5F8FF"/>
                </a:solidFill>
                <a:latin typeface="Segoe UI Semibold"/>
              </a:rPr>
              <a:t>Aegis AI — The Platform</a:t>
            </a:r>
          </a:p>
          <a:p>
            <a:pPr algn="l">
              <a:spcBef>
                <a:spcPts val="200"/>
              </a:spcBef>
              <a:spcAft>
                <a:spcPts val="0"/>
              </a:spcAft>
            </a:pPr>
            <a:r>
              <a:rPr sz="1400" b="0" i="0">
                <a:solidFill>
                  <a:srgbClr val="9AA8C8"/>
                </a:solidFill>
                <a:latin typeface="Segoe UI"/>
              </a:rPr>
              <a:t>Five layers, one governed AI operating system.</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20</a:t>
            </a:r>
          </a:p>
        </p:txBody>
      </p:sp>
      <p:sp>
        <p:nvSpPr>
          <p:cNvPr id="6" name="Rounded Rectangle 5"/>
          <p:cNvSpPr/>
          <p:nvPr/>
        </p:nvSpPr>
        <p:spPr>
          <a:xfrm>
            <a:off x="868680" y="1965960"/>
            <a:ext cx="10424160" cy="71323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spcBef>
                <a:spcPts val="0"/>
              </a:spcBef>
              <a:spcAft>
                <a:spcPts val="0"/>
              </a:spcAft>
            </a:pPr>
            <a:r>
              <a:rPr sz="1500" b="1" i="0">
                <a:solidFill>
                  <a:srgbClr val="35D08A"/>
                </a:solidFill>
                <a:latin typeface="Segoe UI Semibold"/>
              </a:rPr>
              <a:t>Experience   </a:t>
            </a:r>
            <a:r>
              <a:rPr sz="1300" b="0" i="0">
                <a:solidFill>
                  <a:srgbClr val="9AA8C8"/>
                </a:solidFill>
                <a:latin typeface="Segoe UI"/>
              </a:rPr>
              <a:t>Customer · Admin · (Enterprise) portals, voice &amp; chat</a:t>
            </a:r>
          </a:p>
        </p:txBody>
      </p:sp>
      <p:sp>
        <p:nvSpPr>
          <p:cNvPr id="7" name="Rectangle 6"/>
          <p:cNvSpPr/>
          <p:nvPr/>
        </p:nvSpPr>
        <p:spPr>
          <a:xfrm>
            <a:off x="868680" y="1965960"/>
            <a:ext cx="109728" cy="713232"/>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2807208"/>
            <a:ext cx="10424160" cy="71323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spcBef>
                <a:spcPts val="0"/>
              </a:spcBef>
              <a:spcAft>
                <a:spcPts val="0"/>
              </a:spcAft>
            </a:pPr>
            <a:r>
              <a:rPr sz="1500" b="1" i="0">
                <a:solidFill>
                  <a:srgbClr val="35D08A"/>
                </a:solidFill>
                <a:latin typeface="Segoe UI Semibold"/>
              </a:rPr>
              <a:t>Orchestration   </a:t>
            </a:r>
            <a:r>
              <a:rPr sz="1300" b="0" i="0">
                <a:solidFill>
                  <a:srgbClr val="9AA8C8"/>
                </a:solidFill>
                <a:latin typeface="Segoe UI"/>
              </a:rPr>
              <a:t>Executive AI routes intent to the right specialist agent</a:t>
            </a:r>
          </a:p>
        </p:txBody>
      </p:sp>
      <p:sp>
        <p:nvSpPr>
          <p:cNvPr id="9" name="Rectangle 8"/>
          <p:cNvSpPr/>
          <p:nvPr/>
        </p:nvSpPr>
        <p:spPr>
          <a:xfrm>
            <a:off x="868680" y="2807208"/>
            <a:ext cx="109728" cy="713232"/>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648456"/>
            <a:ext cx="10424160" cy="71323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spcBef>
                <a:spcPts val="0"/>
              </a:spcBef>
              <a:spcAft>
                <a:spcPts val="0"/>
              </a:spcAft>
            </a:pPr>
            <a:r>
              <a:rPr sz="1500" b="1" i="0">
                <a:solidFill>
                  <a:srgbClr val="F4B440"/>
                </a:solidFill>
                <a:latin typeface="Segoe UI Semibold"/>
              </a:rPr>
              <a:t>Intelligence   </a:t>
            </a:r>
            <a:r>
              <a:rPr sz="1300" b="0" i="0">
                <a:solidFill>
                  <a:srgbClr val="9AA8C8"/>
                </a:solidFill>
                <a:latin typeface="Segoe UI"/>
              </a:rPr>
              <a:t>Advisory &amp; Recommendation today → Fraud/Damage/OCR next</a:t>
            </a:r>
          </a:p>
        </p:txBody>
      </p:sp>
      <p:sp>
        <p:nvSpPr>
          <p:cNvPr id="11" name="Rectangle 10"/>
          <p:cNvSpPr/>
          <p:nvPr/>
        </p:nvSpPr>
        <p:spPr>
          <a:xfrm>
            <a:off x="868680" y="3648456"/>
            <a:ext cx="109728" cy="713232"/>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4489704"/>
            <a:ext cx="10424160" cy="71323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spcBef>
                <a:spcPts val="0"/>
              </a:spcBef>
              <a:spcAft>
                <a:spcPts val="0"/>
              </a:spcAft>
            </a:pPr>
            <a:r>
              <a:rPr sz="1500" b="1" i="0">
                <a:solidFill>
                  <a:srgbClr val="35D08A"/>
                </a:solidFill>
                <a:latin typeface="Segoe UI Semibold"/>
              </a:rPr>
              <a:t>Memory &amp; Data   </a:t>
            </a:r>
            <a:r>
              <a:rPr sz="1300" b="0" i="0">
                <a:solidFill>
                  <a:srgbClr val="9AA8C8"/>
                </a:solidFill>
                <a:latin typeface="Segoe UI"/>
              </a:rPr>
              <a:t>Profiles, conversation &amp; recommendation memory</a:t>
            </a:r>
          </a:p>
        </p:txBody>
      </p:sp>
      <p:sp>
        <p:nvSpPr>
          <p:cNvPr id="13" name="Rectangle 12"/>
          <p:cNvSpPr/>
          <p:nvPr/>
        </p:nvSpPr>
        <p:spPr>
          <a:xfrm>
            <a:off x="868680" y="4489704"/>
            <a:ext cx="109728" cy="713232"/>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330952"/>
            <a:ext cx="10424160" cy="71323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spcBef>
                <a:spcPts val="0"/>
              </a:spcBef>
              <a:spcAft>
                <a:spcPts val="0"/>
              </a:spcAft>
            </a:pPr>
            <a:r>
              <a:rPr sz="1500" b="1" i="0">
                <a:solidFill>
                  <a:srgbClr val="35D08A"/>
                </a:solidFill>
                <a:latin typeface="Segoe UI Semibold"/>
              </a:rPr>
              <a:t>Platform   </a:t>
            </a:r>
            <a:r>
              <a:rPr sz="1300" b="0" i="0">
                <a:solidFill>
                  <a:srgbClr val="9AA8C8"/>
                </a:solidFill>
                <a:latin typeface="Segoe UI"/>
              </a:rPr>
              <a:t>Auth, RBAC, tenant isolation, API layer, provider-agnostic LLM</a:t>
            </a:r>
          </a:p>
        </p:txBody>
      </p:sp>
      <p:sp>
        <p:nvSpPr>
          <p:cNvPr id="15" name="Rectangle 14"/>
          <p:cNvSpPr/>
          <p:nvPr/>
        </p:nvSpPr>
        <p:spPr>
          <a:xfrm>
            <a:off x="868680" y="5330952"/>
            <a:ext cx="109728" cy="713232"/>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 BUILT TODAY</a:t>
            </a:r>
          </a:p>
          <a:p>
            <a:pPr algn="l">
              <a:spcBef>
                <a:spcPts val="0"/>
              </a:spcBef>
              <a:spcAft>
                <a:spcPts val="0"/>
              </a:spcAft>
            </a:pPr>
            <a:r>
              <a:rPr sz="2900" b="1" i="0">
                <a:solidFill>
                  <a:srgbClr val="F5F8FF"/>
                </a:solidFill>
                <a:latin typeface="Segoe UI Semibold"/>
              </a:rPr>
              <a:t>What Is Actually Built Today</a:t>
            </a:r>
          </a:p>
          <a:p>
            <a:pPr algn="l">
              <a:spcBef>
                <a:spcPts val="200"/>
              </a:spcBef>
              <a:spcAft>
                <a:spcPts val="0"/>
              </a:spcAft>
            </a:pPr>
            <a:r>
              <a:rPr sz="1400" b="0" i="0">
                <a:solidFill>
                  <a:srgbClr val="9AA8C8"/>
                </a:solidFill>
                <a:latin typeface="Segoe UI"/>
              </a:rPr>
              <a:t>Running, tested code — not slideware.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21</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AI ENGINE (PYTHON · FASTAPI)</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Multi-agent system: Executive + 4 domain advisors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Central Orchestrator, intent routing, safe transfers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Layer-3 memory: profile · conversation · recommendation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Recommendation &amp; scoring across 36 curated plans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Provider-agnostic LLM layer (Ollama / Gemini / OpenAI)</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PRODUCT (NODE · NEXT.JS)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Secure backend: JWT httpOnly, RBAC, tenant isolation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Real-time voice (SSE streaming) + live reasoning trace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Consumer &amp; Admin dashboards, leads, policies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Service API layer + Socket.io realtime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200+ automated tests, CI, security hardening</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Screenshot strip: advisor chat, recommendation cards, admin dashboard, voice UI.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ARCHITECTURE</a:t>
            </a:r>
          </a:p>
          <a:p>
            <a:pPr algn="l">
              <a:spcBef>
                <a:spcPts val="0"/>
              </a:spcBef>
              <a:spcAft>
                <a:spcPts val="0"/>
              </a:spcAft>
            </a:pPr>
            <a:r>
              <a:rPr sz="2900" b="1" i="0">
                <a:solidFill>
                  <a:srgbClr val="F5F8FF"/>
                </a:solidFill>
                <a:latin typeface="Segoe UI Semibold"/>
              </a:rPr>
              <a:t>System Architecture</a:t>
            </a:r>
          </a:p>
          <a:p>
            <a:pPr algn="l">
              <a:spcBef>
                <a:spcPts val="200"/>
              </a:spcBef>
              <a:spcAft>
                <a:spcPts val="0"/>
              </a:spcAft>
            </a:pPr>
            <a:r>
              <a:rPr sz="1400" b="0" i="0">
                <a:solidFill>
                  <a:srgbClr val="9AA8C8"/>
                </a:solidFill>
                <a:latin typeface="Segoe UI"/>
              </a:rPr>
              <a:t>Request flows through one router; agents stay isolated; memory is the only cross-domain path.</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22</a:t>
            </a:r>
          </a:p>
        </p:txBody>
      </p:sp>
      <p:sp>
        <p:nvSpPr>
          <p:cNvPr id="6" name="Rounded Rectangle 5"/>
          <p:cNvSpPr/>
          <p:nvPr/>
        </p:nvSpPr>
        <p:spPr>
          <a:xfrm>
            <a:off x="868680" y="2286000"/>
            <a:ext cx="1737360" cy="82296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Frontend</a:t>
            </a:r>
          </a:p>
          <a:p>
            <a:pPr algn="ctr">
              <a:spcBef>
                <a:spcPts val="100"/>
              </a:spcBef>
              <a:spcAft>
                <a:spcPts val="0"/>
              </a:spcAft>
            </a:pPr>
            <a:r>
              <a:rPr sz="950" b="0" i="0">
                <a:solidFill>
                  <a:srgbClr val="9AA8C8"/>
                </a:solidFill>
                <a:latin typeface="Segoe UI"/>
              </a:rPr>
              <a:t>Next.js UI · Voice</a:t>
            </a:r>
          </a:p>
        </p:txBody>
      </p:sp>
      <p:sp>
        <p:nvSpPr>
          <p:cNvPr id="7" name="Right Arrow 6"/>
          <p:cNvSpPr/>
          <p:nvPr/>
        </p:nvSpPr>
        <p:spPr>
          <a:xfrm>
            <a:off x="2697480" y="2569464"/>
            <a:ext cx="457200" cy="256032"/>
          </a:xfrm>
          <a:prstGeom prst="rightArrow">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246120" y="2286000"/>
            <a:ext cx="1737360" cy="82296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Backend API</a:t>
            </a:r>
          </a:p>
          <a:p>
            <a:pPr algn="ctr">
              <a:spcBef>
                <a:spcPts val="100"/>
              </a:spcBef>
              <a:spcAft>
                <a:spcPts val="0"/>
              </a:spcAft>
            </a:pPr>
            <a:r>
              <a:rPr sz="950" b="0" i="0">
                <a:solidFill>
                  <a:srgbClr val="9AA8C8"/>
                </a:solidFill>
                <a:latin typeface="Segoe UI"/>
              </a:rPr>
              <a:t>Node · Express · Prisma</a:t>
            </a:r>
          </a:p>
        </p:txBody>
      </p:sp>
      <p:sp>
        <p:nvSpPr>
          <p:cNvPr id="9" name="Right Arrow 8"/>
          <p:cNvSpPr/>
          <p:nvPr/>
        </p:nvSpPr>
        <p:spPr>
          <a:xfrm>
            <a:off x="5074920" y="2569464"/>
            <a:ext cx="457200" cy="256032"/>
          </a:xfrm>
          <a:prstGeom prst="rightArrow">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3560" y="2286000"/>
            <a:ext cx="2011680" cy="822960"/>
          </a:xfrm>
          <a:prstGeom prst="roundRect">
            <a:avLst/>
          </a:prstGeom>
          <a:solidFill>
            <a:srgbClr val="1B2A55"/>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Central Orchestrator</a:t>
            </a:r>
          </a:p>
          <a:p>
            <a:pPr algn="ctr">
              <a:spcBef>
                <a:spcPts val="100"/>
              </a:spcBef>
              <a:spcAft>
                <a:spcPts val="0"/>
              </a:spcAft>
            </a:pPr>
            <a:r>
              <a:rPr sz="950" b="0" i="0">
                <a:solidFill>
                  <a:srgbClr val="9AA8C8"/>
                </a:solidFill>
                <a:latin typeface="Segoe UI"/>
              </a:rPr>
              <a:t>Intent · Interrupt · Transfer</a:t>
            </a:r>
          </a:p>
        </p:txBody>
      </p:sp>
      <p:sp>
        <p:nvSpPr>
          <p:cNvPr id="11" name="Rounded Rectangle 10"/>
          <p:cNvSpPr/>
          <p:nvPr/>
        </p:nvSpPr>
        <p:spPr>
          <a:xfrm>
            <a:off x="868680" y="3657600"/>
            <a:ext cx="1417320" cy="73152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Executive</a:t>
            </a:r>
          </a:p>
          <a:p>
            <a:pPr algn="ctr">
              <a:spcBef>
                <a:spcPts val="100"/>
              </a:spcBef>
              <a:spcAft>
                <a:spcPts val="0"/>
              </a:spcAft>
            </a:pPr>
            <a:r>
              <a:rPr sz="950" b="0" i="0">
                <a:solidFill>
                  <a:srgbClr val="9AA8C8"/>
                </a:solidFill>
                <a:latin typeface="Segoe UI"/>
              </a:rPr>
              <a:t>Agent</a:t>
            </a:r>
          </a:p>
        </p:txBody>
      </p:sp>
      <p:sp>
        <p:nvSpPr>
          <p:cNvPr id="12" name="Rounded Rectangle 11"/>
          <p:cNvSpPr/>
          <p:nvPr/>
        </p:nvSpPr>
        <p:spPr>
          <a:xfrm>
            <a:off x="2414016" y="3657600"/>
            <a:ext cx="1417320" cy="73152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Health</a:t>
            </a:r>
          </a:p>
          <a:p>
            <a:pPr algn="ctr">
              <a:spcBef>
                <a:spcPts val="100"/>
              </a:spcBef>
              <a:spcAft>
                <a:spcPts val="0"/>
              </a:spcAft>
            </a:pPr>
            <a:r>
              <a:rPr sz="950" b="0" i="0">
                <a:solidFill>
                  <a:srgbClr val="9AA8C8"/>
                </a:solidFill>
                <a:latin typeface="Segoe UI"/>
              </a:rPr>
              <a:t>Agent</a:t>
            </a:r>
          </a:p>
        </p:txBody>
      </p:sp>
      <p:sp>
        <p:nvSpPr>
          <p:cNvPr id="13" name="Rounded Rectangle 12"/>
          <p:cNvSpPr/>
          <p:nvPr/>
        </p:nvSpPr>
        <p:spPr>
          <a:xfrm>
            <a:off x="3959352" y="3657600"/>
            <a:ext cx="1417320" cy="73152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Motor</a:t>
            </a:r>
          </a:p>
          <a:p>
            <a:pPr algn="ctr">
              <a:spcBef>
                <a:spcPts val="100"/>
              </a:spcBef>
              <a:spcAft>
                <a:spcPts val="0"/>
              </a:spcAft>
            </a:pPr>
            <a:r>
              <a:rPr sz="950" b="0" i="0">
                <a:solidFill>
                  <a:srgbClr val="9AA8C8"/>
                </a:solidFill>
                <a:latin typeface="Segoe UI"/>
              </a:rPr>
              <a:t>Agent</a:t>
            </a:r>
          </a:p>
        </p:txBody>
      </p:sp>
      <p:sp>
        <p:nvSpPr>
          <p:cNvPr id="14" name="Rounded Rectangle 13"/>
          <p:cNvSpPr/>
          <p:nvPr/>
        </p:nvSpPr>
        <p:spPr>
          <a:xfrm>
            <a:off x="5504688" y="3657600"/>
            <a:ext cx="1417320" cy="73152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Travel</a:t>
            </a:r>
          </a:p>
          <a:p>
            <a:pPr algn="ctr">
              <a:spcBef>
                <a:spcPts val="100"/>
              </a:spcBef>
              <a:spcAft>
                <a:spcPts val="0"/>
              </a:spcAft>
            </a:pPr>
            <a:r>
              <a:rPr sz="950" b="0" i="0">
                <a:solidFill>
                  <a:srgbClr val="9AA8C8"/>
                </a:solidFill>
                <a:latin typeface="Segoe UI"/>
              </a:rPr>
              <a:t>Agent</a:t>
            </a:r>
          </a:p>
        </p:txBody>
      </p:sp>
      <p:sp>
        <p:nvSpPr>
          <p:cNvPr id="15" name="Rounded Rectangle 14"/>
          <p:cNvSpPr/>
          <p:nvPr/>
        </p:nvSpPr>
        <p:spPr>
          <a:xfrm>
            <a:off x="7050024" y="3657600"/>
            <a:ext cx="1417320" cy="73152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Property</a:t>
            </a:r>
          </a:p>
          <a:p>
            <a:pPr algn="ctr">
              <a:spcBef>
                <a:spcPts val="100"/>
              </a:spcBef>
              <a:spcAft>
                <a:spcPts val="0"/>
              </a:spcAft>
            </a:pPr>
            <a:r>
              <a:rPr sz="950" b="0" i="0">
                <a:solidFill>
                  <a:srgbClr val="9AA8C8"/>
                </a:solidFill>
                <a:latin typeface="Segoe UI"/>
              </a:rPr>
              <a:t>Agent</a:t>
            </a:r>
          </a:p>
        </p:txBody>
      </p:sp>
      <p:sp>
        <p:nvSpPr>
          <p:cNvPr id="16" name="Down Arrow 15"/>
          <p:cNvSpPr/>
          <p:nvPr/>
        </p:nvSpPr>
        <p:spPr>
          <a:xfrm>
            <a:off x="6492240" y="3154680"/>
            <a:ext cx="256032" cy="457200"/>
          </a:xfrm>
          <a:prstGeom prst="downArrow">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2286000"/>
            <a:ext cx="3063240" cy="822960"/>
          </a:xfrm>
          <a:prstGeom prst="roundRect">
            <a:avLst/>
          </a:prstGeom>
          <a:solidFill>
            <a:srgbClr val="1B2A55"/>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Memory Orchestrator</a:t>
            </a:r>
          </a:p>
          <a:p>
            <a:pPr algn="ctr">
              <a:spcBef>
                <a:spcPts val="100"/>
              </a:spcBef>
              <a:spcAft>
                <a:spcPts val="0"/>
              </a:spcAft>
            </a:pPr>
            <a:r>
              <a:rPr sz="950" b="0" i="0">
                <a:solidFill>
                  <a:srgbClr val="9AA8C8"/>
                </a:solidFill>
                <a:latin typeface="Segoe UI"/>
              </a:rPr>
              <a:t>Profile · Conversation · Rec</a:t>
            </a:r>
          </a:p>
        </p:txBody>
      </p:sp>
      <p:sp>
        <p:nvSpPr>
          <p:cNvPr id="18" name="Rounded Rectangle 17"/>
          <p:cNvSpPr/>
          <p:nvPr/>
        </p:nvSpPr>
        <p:spPr>
          <a:xfrm>
            <a:off x="868680" y="4754880"/>
            <a:ext cx="5029200" cy="73152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Rule-Driven Knowledge Base (Layers 1–5)</a:t>
            </a:r>
          </a:p>
          <a:p>
            <a:pPr algn="ctr">
              <a:spcBef>
                <a:spcPts val="100"/>
              </a:spcBef>
              <a:spcAft>
                <a:spcPts val="0"/>
              </a:spcAft>
            </a:pPr>
            <a:r>
              <a:rPr sz="950" b="0" i="0">
                <a:solidFill>
                  <a:srgbClr val="9AA8C8"/>
                </a:solidFill>
                <a:latin typeface="Segoe UI"/>
              </a:rPr>
              <a:t>Domain · routing · scoring · risk · executive</a:t>
            </a:r>
          </a:p>
        </p:txBody>
      </p:sp>
      <p:sp>
        <p:nvSpPr>
          <p:cNvPr id="19" name="Rounded Rectangle 18"/>
          <p:cNvSpPr/>
          <p:nvPr/>
        </p:nvSpPr>
        <p:spPr>
          <a:xfrm>
            <a:off x="6126480" y="4754880"/>
            <a:ext cx="2286000" cy="73152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5F8FF"/>
                </a:solidFill>
                <a:latin typeface="Segoe UI Semibold"/>
              </a:rPr>
              <a:t>LLM Layer</a:t>
            </a:r>
          </a:p>
          <a:p>
            <a:pPr algn="ctr">
              <a:spcBef>
                <a:spcPts val="100"/>
              </a:spcBef>
              <a:spcAft>
                <a:spcPts val="0"/>
              </a:spcAft>
            </a:pPr>
            <a:r>
              <a:rPr sz="950" b="0" i="0">
                <a:solidFill>
                  <a:srgbClr val="9AA8C8"/>
                </a:solidFill>
                <a:latin typeface="Segoe UI"/>
              </a:rPr>
              <a:t>Ollama / Gemini / OpenAI</a:t>
            </a:r>
          </a:p>
        </p:txBody>
      </p:sp>
      <p:sp>
        <p:nvSpPr>
          <p:cNvPr id="20" name="Rounded Rectangle 19"/>
          <p:cNvSpPr/>
          <p:nvPr/>
        </p:nvSpPr>
        <p:spPr>
          <a:xfrm>
            <a:off x="8595360" y="4754880"/>
            <a:ext cx="2697480" cy="731520"/>
          </a:xfrm>
          <a:prstGeom prst="roundRect">
            <a:avLst/>
          </a:prstGeom>
          <a:solidFill>
            <a:srgbClr val="332A12"/>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F4B440"/>
                </a:solidFill>
                <a:latin typeface="Segoe UI Semibold"/>
              </a:rPr>
              <a:t>Roadmap: CV / Fraud / OCR APIs</a:t>
            </a:r>
          </a:p>
          <a:p>
            <a:pPr algn="ctr">
              <a:spcBef>
                <a:spcPts val="100"/>
              </a:spcBef>
              <a:spcAft>
                <a:spcPts val="0"/>
              </a:spcAft>
            </a:pPr>
            <a:r>
              <a:rPr sz="950" b="0" i="0">
                <a:solidFill>
                  <a:srgbClr val="9AA8C8"/>
                </a:solidFill>
                <a:latin typeface="Segoe UI"/>
              </a:rPr>
              <a:t>pluggable intelligence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DEEP DIVE · ORCHESTRATION</a:t>
            </a:r>
          </a:p>
          <a:p>
            <a:pPr algn="l">
              <a:spcBef>
                <a:spcPts val="0"/>
              </a:spcBef>
              <a:spcAft>
                <a:spcPts val="0"/>
              </a:spcAft>
            </a:pPr>
            <a:r>
              <a:rPr sz="2900" b="1" i="0">
                <a:solidFill>
                  <a:srgbClr val="F5F8FF"/>
                </a:solidFill>
                <a:latin typeface="Segoe UI Semibold"/>
              </a:rPr>
              <a:t>Multi-Agent Orchestration</a:t>
            </a:r>
          </a:p>
          <a:p>
            <a:pPr algn="l">
              <a:spcBef>
                <a:spcPts val="200"/>
              </a:spcBef>
              <a:spcAft>
                <a:spcPts val="0"/>
              </a:spcAft>
            </a:pPr>
            <a:r>
              <a:rPr sz="1400" b="0" i="0">
                <a:solidFill>
                  <a:srgbClr val="9AA8C8"/>
                </a:solidFill>
                <a:latin typeface="Segoe UI"/>
              </a:rPr>
              <a:t>The crown jewel: consented, auditable hand-offs between specialists.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23</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HOW IT WORKS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Executive AI detects intent and picks the specialist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Interrupt detector catches mid-flow topic switches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Transfers are user-consented, never silent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Each agent has its own config, tools and memory namespace</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WHY IT MATTERS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Mirrors a real brokerage: a lead who routes to experts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Isolation contains risk &amp; keeps domains explainable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The same router will dispatch fraud/damage/OCR agents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Governance &amp; audit live at the orchestration layer</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Sequence diagram: user → Executive → suggest_transfer → consent → specialist → memory sync.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AGENT ROSTER</a:t>
            </a:r>
          </a:p>
          <a:p>
            <a:pPr algn="l">
              <a:spcBef>
                <a:spcPts val="0"/>
              </a:spcBef>
              <a:spcAft>
                <a:spcPts val="0"/>
              </a:spcAft>
            </a:pPr>
            <a:r>
              <a:rPr sz="2900" b="1" i="0">
                <a:solidFill>
                  <a:srgbClr val="F5F8FF"/>
                </a:solidFill>
                <a:latin typeface="Segoe UI Semibold"/>
              </a:rPr>
              <a:t>The AI Agents</a:t>
            </a:r>
          </a:p>
          <a:p>
            <a:pPr algn="l">
              <a:spcBef>
                <a:spcPts val="200"/>
              </a:spcBef>
              <a:spcAft>
                <a:spcPts val="0"/>
              </a:spcAft>
            </a:pPr>
            <a:r>
              <a:rPr sz="1400" b="0" i="0">
                <a:solidFill>
                  <a:srgbClr val="9AA8C8"/>
                </a:solidFill>
                <a:latin typeface="Segoe UI"/>
              </a:rPr>
              <a:t>Five live specialists today; six investigation agents on the roadmap.</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24</a:t>
            </a:r>
          </a:p>
        </p:txBody>
      </p:sp>
      <p:sp>
        <p:nvSpPr>
          <p:cNvPr id="6" name="TextBox 5"/>
          <p:cNvSpPr txBox="1"/>
          <p:nvPr/>
        </p:nvSpPr>
        <p:spPr>
          <a:xfrm>
            <a:off x="868680" y="1783080"/>
            <a:ext cx="4572000" cy="365760"/>
          </a:xfrm>
          <a:prstGeom prst="rect">
            <a:avLst/>
          </a:prstGeom>
          <a:noFill/>
        </p:spPr>
        <p:txBody>
          <a:bodyPr wrap="square" anchor="t" lIns="0" rIns="0" tIns="0" bIns="0">
            <a:spAutoFit/>
          </a:bodyPr>
          <a:lstStyle/>
          <a:p>
            <a:pPr algn="l">
              <a:spcBef>
                <a:spcPts val="0"/>
              </a:spcBef>
              <a:spcAft>
                <a:spcPts val="0"/>
              </a:spcAft>
            </a:pPr>
            <a:r>
              <a:rPr sz="1200" b="1" i="0">
                <a:solidFill>
                  <a:srgbClr val="35D08A"/>
                </a:solidFill>
                <a:latin typeface="Segoe UI"/>
              </a:rPr>
              <a:t>● LIVE TODAY</a:t>
            </a:r>
          </a:p>
        </p:txBody>
      </p:sp>
      <p:sp>
        <p:nvSpPr>
          <p:cNvPr id="7" name="Rounded Rectangle 6"/>
          <p:cNvSpPr/>
          <p:nvPr/>
        </p:nvSpPr>
        <p:spPr>
          <a:xfrm>
            <a:off x="868680" y="2194560"/>
            <a:ext cx="4937760" cy="64008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400" b="1" i="0">
                <a:solidFill>
                  <a:srgbClr val="F5F8FF"/>
                </a:solidFill>
                <a:latin typeface="Segoe UI Semibold"/>
              </a:rPr>
              <a:t>Executive AI   </a:t>
            </a:r>
            <a:r>
              <a:rPr sz="1200" b="0" i="0">
                <a:solidFill>
                  <a:srgbClr val="9AA8C8"/>
                </a:solidFill>
                <a:latin typeface="Segoe UI"/>
              </a:rPr>
              <a:t>Routing &amp; oversight</a:t>
            </a:r>
          </a:p>
        </p:txBody>
      </p:sp>
      <p:sp>
        <p:nvSpPr>
          <p:cNvPr id="8" name="Rectangle 7"/>
          <p:cNvSpPr/>
          <p:nvPr/>
        </p:nvSpPr>
        <p:spPr>
          <a:xfrm>
            <a:off x="868680" y="2194560"/>
            <a:ext cx="82296" cy="64008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944368"/>
            <a:ext cx="4937760" cy="64008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400" b="1" i="0">
                <a:solidFill>
                  <a:srgbClr val="F5F8FF"/>
                </a:solidFill>
                <a:latin typeface="Segoe UI Semibold"/>
              </a:rPr>
              <a:t>Health Advisor   </a:t>
            </a:r>
            <a:r>
              <a:rPr sz="1200" b="0" i="0">
                <a:solidFill>
                  <a:srgbClr val="9AA8C8"/>
                </a:solidFill>
                <a:latin typeface="Segoe UI"/>
              </a:rPr>
              <a:t>Health cover</a:t>
            </a:r>
          </a:p>
        </p:txBody>
      </p:sp>
      <p:sp>
        <p:nvSpPr>
          <p:cNvPr id="10" name="Rectangle 9"/>
          <p:cNvSpPr/>
          <p:nvPr/>
        </p:nvSpPr>
        <p:spPr>
          <a:xfrm>
            <a:off x="868680" y="2944368"/>
            <a:ext cx="82296" cy="64008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3694176"/>
            <a:ext cx="4937760" cy="64008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400" b="1" i="0">
                <a:solidFill>
                  <a:srgbClr val="F5F8FF"/>
                </a:solidFill>
                <a:latin typeface="Segoe UI Semibold"/>
              </a:rPr>
              <a:t>Motor Advisor   </a:t>
            </a:r>
            <a:r>
              <a:rPr sz="1200" b="0" i="0">
                <a:solidFill>
                  <a:srgbClr val="9AA8C8"/>
                </a:solidFill>
                <a:latin typeface="Segoe UI"/>
              </a:rPr>
              <a:t>Vehicle cover</a:t>
            </a:r>
          </a:p>
        </p:txBody>
      </p:sp>
      <p:sp>
        <p:nvSpPr>
          <p:cNvPr id="12" name="Rectangle 11"/>
          <p:cNvSpPr/>
          <p:nvPr/>
        </p:nvSpPr>
        <p:spPr>
          <a:xfrm>
            <a:off x="868680" y="3694176"/>
            <a:ext cx="82296" cy="64008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4443984"/>
            <a:ext cx="4937760" cy="64008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400" b="1" i="0">
                <a:solidFill>
                  <a:srgbClr val="F5F8FF"/>
                </a:solidFill>
                <a:latin typeface="Segoe UI Semibold"/>
              </a:rPr>
              <a:t>Travel Advisor   </a:t>
            </a:r>
            <a:r>
              <a:rPr sz="1200" b="0" i="0">
                <a:solidFill>
                  <a:srgbClr val="9AA8C8"/>
                </a:solidFill>
                <a:latin typeface="Segoe UI"/>
              </a:rPr>
              <a:t>Trip cover</a:t>
            </a:r>
          </a:p>
        </p:txBody>
      </p:sp>
      <p:sp>
        <p:nvSpPr>
          <p:cNvPr id="14" name="Rectangle 13"/>
          <p:cNvSpPr/>
          <p:nvPr/>
        </p:nvSpPr>
        <p:spPr>
          <a:xfrm>
            <a:off x="868680" y="4443984"/>
            <a:ext cx="82296" cy="64008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5193792"/>
            <a:ext cx="4937760" cy="64008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400" b="1" i="0">
                <a:solidFill>
                  <a:srgbClr val="F5F8FF"/>
                </a:solidFill>
                <a:latin typeface="Segoe UI Semibold"/>
              </a:rPr>
              <a:t>Property Advisor   </a:t>
            </a:r>
            <a:r>
              <a:rPr sz="1200" b="0" i="0">
                <a:solidFill>
                  <a:srgbClr val="9AA8C8"/>
                </a:solidFill>
                <a:latin typeface="Segoe UI"/>
              </a:rPr>
              <a:t>Home cover</a:t>
            </a:r>
          </a:p>
        </p:txBody>
      </p:sp>
      <p:sp>
        <p:nvSpPr>
          <p:cNvPr id="16" name="Rectangle 15"/>
          <p:cNvSpPr/>
          <p:nvPr/>
        </p:nvSpPr>
        <p:spPr>
          <a:xfrm>
            <a:off x="868680" y="5193792"/>
            <a:ext cx="82296" cy="64008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783080"/>
            <a:ext cx="4572000" cy="365760"/>
          </a:xfrm>
          <a:prstGeom prst="rect">
            <a:avLst/>
          </a:prstGeom>
          <a:noFill/>
        </p:spPr>
        <p:txBody>
          <a:bodyPr wrap="square" anchor="t" lIns="0" rIns="0" tIns="0" bIns="0">
            <a:spAutoFit/>
          </a:bodyPr>
          <a:lstStyle/>
          <a:p>
            <a:pPr algn="l">
              <a:spcBef>
                <a:spcPts val="0"/>
              </a:spcBef>
              <a:spcAft>
                <a:spcPts val="0"/>
              </a:spcAft>
            </a:pPr>
            <a:r>
              <a:rPr sz="1200" b="1" i="0">
                <a:solidFill>
                  <a:srgbClr val="F4B440"/>
                </a:solidFill>
                <a:latin typeface="Segoe UI"/>
              </a:rPr>
              <a:t>○ ROADMAP</a:t>
            </a:r>
          </a:p>
        </p:txBody>
      </p:sp>
      <p:sp>
        <p:nvSpPr>
          <p:cNvPr id="18" name="Rounded Rectangle 17"/>
          <p:cNvSpPr/>
          <p:nvPr/>
        </p:nvSpPr>
        <p:spPr>
          <a:xfrm>
            <a:off x="6355080" y="2194560"/>
            <a:ext cx="4937760" cy="53035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300" b="1" i="0">
                <a:solidFill>
                  <a:srgbClr val="F5F8FF"/>
                </a:solidFill>
                <a:latin typeface="Segoe UI"/>
              </a:rPr>
              <a:t>Fraud Agent   </a:t>
            </a:r>
            <a:r>
              <a:rPr sz="1100" b="0" i="0">
                <a:solidFill>
                  <a:srgbClr val="9AA8C8"/>
                </a:solidFill>
                <a:latin typeface="Segoe UI"/>
              </a:rPr>
              <a:t>Anomaly + network</a:t>
            </a:r>
          </a:p>
        </p:txBody>
      </p:sp>
      <p:sp>
        <p:nvSpPr>
          <p:cNvPr id="19" name="Rectangle 18"/>
          <p:cNvSpPr/>
          <p:nvPr/>
        </p:nvSpPr>
        <p:spPr>
          <a:xfrm>
            <a:off x="6355080" y="2194560"/>
            <a:ext cx="82296" cy="530352"/>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2816352"/>
            <a:ext cx="4937760" cy="53035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300" b="1" i="0">
                <a:solidFill>
                  <a:srgbClr val="F5F8FF"/>
                </a:solidFill>
                <a:latin typeface="Segoe UI"/>
              </a:rPr>
              <a:t>OCR Agent   </a:t>
            </a:r>
            <a:r>
              <a:rPr sz="1100" b="0" i="0">
                <a:solidFill>
                  <a:srgbClr val="9AA8C8"/>
                </a:solidFill>
                <a:latin typeface="Segoe UI"/>
              </a:rPr>
              <a:t>Docs &amp; forgery</a:t>
            </a:r>
          </a:p>
        </p:txBody>
      </p:sp>
      <p:sp>
        <p:nvSpPr>
          <p:cNvPr id="21" name="Rectangle 20"/>
          <p:cNvSpPr/>
          <p:nvPr/>
        </p:nvSpPr>
        <p:spPr>
          <a:xfrm>
            <a:off x="6355080" y="2816352"/>
            <a:ext cx="82296" cy="530352"/>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55080" y="3438144"/>
            <a:ext cx="4937760" cy="53035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300" b="1" i="0">
                <a:solidFill>
                  <a:srgbClr val="F5F8FF"/>
                </a:solidFill>
                <a:latin typeface="Segoe UI"/>
              </a:rPr>
              <a:t>Damage Agent   </a:t>
            </a:r>
            <a:r>
              <a:rPr sz="1100" b="0" i="0">
                <a:solidFill>
                  <a:srgbClr val="9AA8C8"/>
                </a:solidFill>
                <a:latin typeface="Segoe UI"/>
              </a:rPr>
              <a:t>Vision estimate</a:t>
            </a:r>
          </a:p>
        </p:txBody>
      </p:sp>
      <p:sp>
        <p:nvSpPr>
          <p:cNvPr id="23" name="Rectangle 22"/>
          <p:cNvSpPr/>
          <p:nvPr/>
        </p:nvSpPr>
        <p:spPr>
          <a:xfrm>
            <a:off x="6355080" y="3438144"/>
            <a:ext cx="82296" cy="530352"/>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5080" y="4059936"/>
            <a:ext cx="4937760" cy="53035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300" b="1" i="0">
                <a:solidFill>
                  <a:srgbClr val="F5F8FF"/>
                </a:solidFill>
                <a:latin typeface="Segoe UI"/>
              </a:rPr>
              <a:t>Claim Agent   </a:t>
            </a:r>
            <a:r>
              <a:rPr sz="1100" b="0" i="0">
                <a:solidFill>
                  <a:srgbClr val="9AA8C8"/>
                </a:solidFill>
                <a:latin typeface="Segoe UI"/>
              </a:rPr>
              <a:t>Adjudication</a:t>
            </a:r>
          </a:p>
        </p:txBody>
      </p:sp>
      <p:sp>
        <p:nvSpPr>
          <p:cNvPr id="25" name="Rectangle 24"/>
          <p:cNvSpPr/>
          <p:nvPr/>
        </p:nvSpPr>
        <p:spPr>
          <a:xfrm>
            <a:off x="6355080" y="4059936"/>
            <a:ext cx="82296" cy="530352"/>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55080" y="4681728"/>
            <a:ext cx="4937760" cy="53035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300" b="1" i="0">
                <a:solidFill>
                  <a:srgbClr val="F5F8FF"/>
                </a:solidFill>
                <a:latin typeface="Segoe UI"/>
              </a:rPr>
              <a:t>Evidence Agent   </a:t>
            </a:r>
            <a:r>
              <a:rPr sz="1100" b="0" i="0">
                <a:solidFill>
                  <a:srgbClr val="9AA8C8"/>
                </a:solidFill>
                <a:latin typeface="Segoe UI"/>
              </a:rPr>
              <a:t>Provenance</a:t>
            </a:r>
          </a:p>
        </p:txBody>
      </p:sp>
      <p:sp>
        <p:nvSpPr>
          <p:cNvPr id="27" name="Rectangle 26"/>
          <p:cNvSpPr/>
          <p:nvPr/>
        </p:nvSpPr>
        <p:spPr>
          <a:xfrm>
            <a:off x="6355080" y="4681728"/>
            <a:ext cx="82296" cy="530352"/>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55080" y="5303520"/>
            <a:ext cx="4937760" cy="53035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Bef>
                <a:spcPts val="0"/>
              </a:spcBef>
              <a:spcAft>
                <a:spcPts val="0"/>
              </a:spcAft>
            </a:pPr>
            <a:r>
              <a:rPr sz="1300" b="1" i="0">
                <a:solidFill>
                  <a:srgbClr val="F5F8FF"/>
                </a:solidFill>
                <a:latin typeface="Segoe UI"/>
              </a:rPr>
              <a:t>Investigation Agent   </a:t>
            </a:r>
            <a:r>
              <a:rPr sz="1100" b="0" i="0">
                <a:solidFill>
                  <a:srgbClr val="9AA8C8"/>
                </a:solidFill>
                <a:latin typeface="Segoe UI"/>
              </a:rPr>
              <a:t>Autonomous probe</a:t>
            </a:r>
          </a:p>
        </p:txBody>
      </p:sp>
      <p:sp>
        <p:nvSpPr>
          <p:cNvPr id="29" name="Rectangle 28"/>
          <p:cNvSpPr/>
          <p:nvPr/>
        </p:nvSpPr>
        <p:spPr>
          <a:xfrm>
            <a:off x="6355080" y="5303520"/>
            <a:ext cx="82296" cy="530352"/>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DEEP DIVE · MEMORY</a:t>
            </a:r>
          </a:p>
          <a:p>
            <a:pPr algn="l">
              <a:spcBef>
                <a:spcPts val="0"/>
              </a:spcBef>
              <a:spcAft>
                <a:spcPts val="0"/>
              </a:spcAft>
            </a:pPr>
            <a:r>
              <a:rPr sz="2900" b="1" i="0">
                <a:solidFill>
                  <a:srgbClr val="F5F8FF"/>
                </a:solidFill>
                <a:latin typeface="Segoe UI Semibold"/>
              </a:rPr>
              <a:t>Memory &amp; Personalisation</a:t>
            </a:r>
          </a:p>
          <a:p>
            <a:pPr algn="l">
              <a:spcBef>
                <a:spcPts val="200"/>
              </a:spcBef>
              <a:spcAft>
                <a:spcPts val="0"/>
              </a:spcAft>
            </a:pPr>
            <a:r>
              <a:rPr sz="1400" b="0" i="0">
                <a:solidFill>
                  <a:srgbClr val="9AA8C8"/>
                </a:solidFill>
                <a:latin typeface="Segoe UI"/>
              </a:rPr>
              <a:t>The system remembers the customer — safely and per-domain.</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25</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LAYER-3 MEMORY ENGINE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Customer profile persistence across sessions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Per-domain conversation memory namespaces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Recommendation context cached on a profile hash</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Cross-domain sync only via Memory Orchestrator</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WHY IT MATTERS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Continuity: no repeating yourself to each advisor</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Personalisation grounded in real, stored context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Isolation keeps domains private and auditable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Foundation for future learning &amp; knowledge graph</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Memory namespace diagram: {domain}_{customer_id} stores syncing through one orchestrator.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 BUILT TODAY</a:t>
            </a:r>
          </a:p>
          <a:p>
            <a:pPr algn="l">
              <a:spcBef>
                <a:spcPts val="0"/>
              </a:spcBef>
              <a:spcAft>
                <a:spcPts val="0"/>
              </a:spcAft>
            </a:pPr>
            <a:r>
              <a:rPr sz="2900" b="1" i="0">
                <a:solidFill>
                  <a:srgbClr val="F5F8FF"/>
                </a:solidFill>
                <a:latin typeface="Segoe UI Semibold"/>
              </a:rPr>
              <a:t>Recommendation &amp; Scoring Intelligence</a:t>
            </a:r>
          </a:p>
          <a:p>
            <a:pPr algn="l">
              <a:spcBef>
                <a:spcPts val="200"/>
              </a:spcBef>
              <a:spcAft>
                <a:spcPts val="0"/>
              </a:spcAft>
            </a:pPr>
            <a:r>
              <a:rPr sz="1400" b="0" i="0">
                <a:solidFill>
                  <a:srgbClr val="9AA8C8"/>
                </a:solidFill>
                <a:latin typeface="Segoe UI"/>
              </a:rPr>
              <a:t>Budget-first, needs-aware guidance — live today.</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26</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WHAT IT DOES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36 curated plans across 4 categories, independently reviewed</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Scoring, risk and comparison engines match need → plan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Confirmation-gated, explainable suggestions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Multi-plan comparison surfaced as clear cards</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MISSION ALIGNMENT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Plain-language, budget-first framing</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No jargon assumed; designed for first-time buyers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Only verifiable facts shown (trust-integrity guardrails)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Multilingual, low-bandwidth, senior-friendly UX</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Recommendation flow: profile → score → risk → top plans with reason-for-fit chips.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 BUILT TODAY</a:t>
            </a:r>
          </a:p>
          <a:p>
            <a:pPr algn="l">
              <a:spcBef>
                <a:spcPts val="0"/>
              </a:spcBef>
              <a:spcAft>
                <a:spcPts val="0"/>
              </a:spcAft>
            </a:pPr>
            <a:r>
              <a:rPr sz="2900" b="1" i="0">
                <a:solidFill>
                  <a:srgbClr val="F5F8FF"/>
                </a:solidFill>
                <a:latin typeface="Segoe UI Semibold"/>
              </a:rPr>
              <a:t>Voice &amp; Real-Time Streaming</a:t>
            </a:r>
          </a:p>
          <a:p>
            <a:pPr algn="l">
              <a:spcBef>
                <a:spcPts val="200"/>
              </a:spcBef>
              <a:spcAft>
                <a:spcPts val="0"/>
              </a:spcAft>
            </a:pPr>
            <a:r>
              <a:rPr sz="1400" b="0" i="0">
                <a:solidFill>
                  <a:srgbClr val="9AA8C8"/>
                </a:solidFill>
                <a:latin typeface="Segoe UI"/>
              </a:rPr>
              <a:t>A voice-first, low-bandwidth channel for rural and senior users.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27</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CAPABILITIES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SSE token streaming — users see progress instantly</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Voice input &amp; spoken responses (useVoice)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Live reasoning trace as the agent thinks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Graceful reduced-motion &amp; accessibility support</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WHY VOICE MATTERS HERE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Reaches non-readers and low-literacy users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Works on low bandwidth and modest devices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Natural for Tamil / Thanglish / English code-switching</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Turns insurance from a form into a conversation</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Voice waveform + streaming transcript + a ‘thinking steps' panel.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EXPLAINABLE AI</a:t>
            </a:r>
          </a:p>
          <a:p>
            <a:pPr algn="l">
              <a:spcBef>
                <a:spcPts val="0"/>
              </a:spcBef>
              <a:spcAft>
                <a:spcPts val="0"/>
              </a:spcAft>
            </a:pPr>
            <a:r>
              <a:rPr sz="2900" b="1" i="0">
                <a:solidFill>
                  <a:srgbClr val="F5F8FF"/>
                </a:solidFill>
                <a:latin typeface="Segoe UI Semibold"/>
              </a:rPr>
              <a:t>Explainability — Today and Next</a:t>
            </a:r>
          </a:p>
          <a:p>
            <a:pPr algn="l">
              <a:spcBef>
                <a:spcPts val="200"/>
              </a:spcBef>
              <a:spcAft>
                <a:spcPts val="0"/>
              </a:spcAft>
            </a:pPr>
            <a:r>
              <a:rPr sz="1400" b="0" i="0">
                <a:solidFill>
                  <a:srgbClr val="9AA8C8"/>
                </a:solidFill>
                <a:latin typeface="Segoe UI"/>
              </a:rPr>
              <a:t>Trust starts with showing the work.</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28</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LIVE TODAY</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ThinkingEngine streams the agent’s reasoning steps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Recommendations show reason-for-fit, not just a pick</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Deterministic, rule-driven knowledge base underneath</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ROADMAP</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Evidence-linked decisions (data → rule → outcome)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Model explainability (SHAP / attention) for ML modules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Human-in-the-loop review + full decision audit trail</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‘Decision receipt' mock: verdict + the evidence and rules that produced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 BUILT TODAY</a:t>
            </a:r>
          </a:p>
          <a:p>
            <a:pPr algn="l">
              <a:spcBef>
                <a:spcPts val="0"/>
              </a:spcBef>
              <a:spcAft>
                <a:spcPts val="0"/>
              </a:spcAft>
            </a:pPr>
            <a:r>
              <a:rPr sz="2900" b="1" i="0">
                <a:solidFill>
                  <a:srgbClr val="F5F8FF"/>
                </a:solidFill>
                <a:latin typeface="Segoe UI Semibold"/>
              </a:rPr>
              <a:t>Trust, Security &amp; Governance</a:t>
            </a:r>
          </a:p>
          <a:p>
            <a:pPr algn="l">
              <a:spcBef>
                <a:spcPts val="200"/>
              </a:spcBef>
              <a:spcAft>
                <a:spcPts val="0"/>
              </a:spcAft>
            </a:pPr>
            <a:r>
              <a:rPr sz="1400" b="0" i="0">
                <a:solidFill>
                  <a:srgbClr val="9AA8C8"/>
                </a:solidFill>
                <a:latin typeface="Segoe UI"/>
              </a:rPr>
              <a:t>Built for a regulated, adversarial industry from day one.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29</a:t>
            </a:r>
          </a:p>
        </p:txBody>
      </p:sp>
      <p:sp>
        <p:nvSpPr>
          <p:cNvPr id="6" name="TextBox 5"/>
          <p:cNvSpPr txBox="1"/>
          <p:nvPr/>
        </p:nvSpPr>
        <p:spPr>
          <a:xfrm>
            <a:off x="868680" y="1737360"/>
            <a:ext cx="10607040" cy="4114800"/>
          </a:xfrm>
          <a:prstGeom prst="rect">
            <a:avLst/>
          </a:prstGeom>
          <a:noFill/>
        </p:spPr>
        <p:txBody>
          <a:bodyPr wrap="square" anchor="t" lIns="0" rIns="0" tIns="0" bIns="0">
            <a:spAutoFit/>
          </a:bodyPr>
          <a:lstStyle/>
          <a:p>
            <a:pPr algn="l">
              <a:lnSpc>
                <a:spcPct val="105000"/>
              </a:lnSpc>
              <a:spcBef>
                <a:spcPts val="0"/>
              </a:spcBef>
              <a:spcAft>
                <a:spcPts val="1000"/>
              </a:spcAft>
            </a:pPr>
            <a:r>
              <a:rPr sz="1450" b="1" i="0">
                <a:solidFill>
                  <a:srgbClr val="2DD4E0"/>
                </a:solidFill>
                <a:latin typeface="Segoe UI"/>
              </a:rPr>
              <a:t>Auth   </a:t>
            </a:r>
            <a:r>
              <a:rPr sz="1450" b="0" i="0">
                <a:solidFill>
                  <a:srgbClr val="F5F8FF"/>
                </a:solidFill>
                <a:latin typeface="Segoe UI"/>
              </a:rPr>
              <a:t>JWT in httpOnly cookies; Bearer for API clients; public registration is always customer.</a:t>
            </a:r>
          </a:p>
          <a:p>
            <a:pPr algn="l">
              <a:lnSpc>
                <a:spcPct val="105000"/>
              </a:lnSpc>
              <a:spcBef>
                <a:spcPts val="0"/>
              </a:spcBef>
              <a:spcAft>
                <a:spcPts val="1000"/>
              </a:spcAft>
            </a:pPr>
            <a:r>
              <a:rPr sz="1450" b="1" i="0">
                <a:solidFill>
                  <a:srgbClr val="2DD4E0"/>
                </a:solidFill>
                <a:latin typeface="Segoe UI"/>
              </a:rPr>
              <a:t>RBAC   </a:t>
            </a:r>
            <a:r>
              <a:rPr sz="1450" b="0" i="0">
                <a:solidFill>
                  <a:srgbClr val="F5F8FF"/>
                </a:solidFill>
                <a:latin typeface="Segoe UI"/>
              </a:rPr>
              <a:t>Role-restricted routes; least-privilege access.</a:t>
            </a:r>
          </a:p>
          <a:p>
            <a:pPr algn="l">
              <a:lnSpc>
                <a:spcPct val="105000"/>
              </a:lnSpc>
              <a:spcBef>
                <a:spcPts val="0"/>
              </a:spcBef>
              <a:spcAft>
                <a:spcPts val="1000"/>
              </a:spcAft>
            </a:pPr>
            <a:r>
              <a:rPr sz="1450" b="1" i="0">
                <a:solidFill>
                  <a:srgbClr val="2DD4E0"/>
                </a:solidFill>
                <a:latin typeface="Segoe UI"/>
              </a:rPr>
              <a:t>Tenant isolation   </a:t>
            </a:r>
            <a:r>
              <a:rPr sz="1450" b="0" i="0">
                <a:solidFill>
                  <a:srgbClr val="F5F8FF"/>
                </a:solidFill>
                <a:latin typeface="Segoe UI"/>
              </a:rPr>
              <a:t>Every user-data query scoped by user; cross-tenant leakage treated as critical.</a:t>
            </a:r>
          </a:p>
          <a:p>
            <a:pPr algn="l">
              <a:lnSpc>
                <a:spcPct val="105000"/>
              </a:lnSpc>
              <a:spcBef>
                <a:spcPts val="0"/>
              </a:spcBef>
              <a:spcAft>
                <a:spcPts val="1000"/>
              </a:spcAft>
            </a:pPr>
            <a:r>
              <a:rPr sz="1450" b="1" i="0">
                <a:solidFill>
                  <a:srgbClr val="2DD4E0"/>
                </a:solidFill>
                <a:latin typeface="Segoe UI"/>
              </a:rPr>
              <a:t>Engine gating   </a:t>
            </a:r>
            <a:r>
              <a:rPr sz="1450" b="0" i="0">
                <a:solidFill>
                  <a:srgbClr val="F5F8FF"/>
                </a:solidFill>
                <a:latin typeface="Segoe UI"/>
              </a:rPr>
              <a:t>AI engine behind a constant-time internal API key; fail-closed in production.</a:t>
            </a:r>
          </a:p>
          <a:p>
            <a:pPr algn="l">
              <a:lnSpc>
                <a:spcPct val="105000"/>
              </a:lnSpc>
              <a:spcBef>
                <a:spcPts val="0"/>
              </a:spcBef>
              <a:spcAft>
                <a:spcPts val="1000"/>
              </a:spcAft>
            </a:pPr>
            <a:r>
              <a:rPr sz="1450" b="1" i="0">
                <a:solidFill>
                  <a:srgbClr val="2DD4E0"/>
                </a:solidFill>
                <a:latin typeface="Segoe UI"/>
              </a:rPr>
              <a:t>Input safety   </a:t>
            </a:r>
            <a:r>
              <a:rPr sz="1450" b="0" i="0">
                <a:solidFill>
                  <a:srgbClr val="F5F8FF"/>
                </a:solidFill>
                <a:latin typeface="Segoe UI"/>
              </a:rPr>
              <a:t>Bounded, validated inputs (Node schemas + Pydantic); generic production errors.</a:t>
            </a:r>
          </a:p>
          <a:p>
            <a:pPr algn="l">
              <a:lnSpc>
                <a:spcPct val="105000"/>
              </a:lnSpc>
              <a:spcBef>
                <a:spcPts val="0"/>
              </a:spcBef>
              <a:spcAft>
                <a:spcPts val="1000"/>
              </a:spcAft>
            </a:pPr>
            <a:r>
              <a:rPr sz="1450" b="1" i="0">
                <a:solidFill>
                  <a:srgbClr val="2DD4E0"/>
                </a:solidFill>
                <a:latin typeface="Segoe UI"/>
              </a:rPr>
              <a:t>Roadmap   </a:t>
            </a:r>
            <a:r>
              <a:rPr sz="1450" b="0" i="0">
                <a:solidFill>
                  <a:srgbClr val="F5F8FF"/>
                </a:solidFill>
                <a:latin typeface="Segoe UI"/>
              </a:rPr>
              <a:t>Dedicated security, compliance &amp; AI-governance layers; model monitoring.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EXPERIENCE LAYER</a:t>
            </a:r>
          </a:p>
          <a:p>
            <a:pPr algn="l">
              <a:spcBef>
                <a:spcPts val="0"/>
              </a:spcBef>
              <a:spcAft>
                <a:spcPts val="0"/>
              </a:spcAft>
            </a:pPr>
            <a:r>
              <a:rPr sz="2900" b="1" i="0">
                <a:solidFill>
                  <a:srgbClr val="F5F8FF"/>
                </a:solidFill>
                <a:latin typeface="Segoe UI Semibold"/>
              </a:rPr>
              <a:t>Portals &amp; Dashboards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Solution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30</a:t>
            </a:r>
          </a:p>
        </p:txBody>
      </p:sp>
      <p:sp>
        <p:nvSpPr>
          <p:cNvPr id="6" name="Rounded Rectangle 5"/>
          <p:cNvSpPr/>
          <p:nvPr/>
        </p:nvSpPr>
        <p:spPr>
          <a:xfrm>
            <a:off x="868680" y="1965960"/>
            <a:ext cx="5120640" cy="17373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tIns="201168" rIns="182880"/>
          <a:lstStyle/>
          <a:p>
            <a:pPr algn="l">
              <a:spcBef>
                <a:spcPts val="0"/>
              </a:spcBef>
              <a:spcAft>
                <a:spcPts val="400"/>
              </a:spcAft>
            </a:pPr>
            <a:r>
              <a:rPr sz="1600" b="1" i="0">
                <a:solidFill>
                  <a:srgbClr val="F5F8FF"/>
                </a:solidFill>
                <a:latin typeface="Segoe UI Semibold"/>
              </a:rPr>
              <a:t>Customer Portal</a:t>
            </a:r>
            <a:r>
              <a:rPr sz="1000" b="1" i="0">
                <a:solidFill>
                  <a:srgbClr val="35D08A"/>
                </a:solidFill>
                <a:latin typeface="Segoe UI"/>
              </a:rPr>
              <a:t>   LIVE</a:t>
            </a:r>
          </a:p>
          <a:p>
            <a:pPr algn="l">
              <a:lnSpc>
                <a:spcPct val="105000"/>
              </a:lnSpc>
              <a:spcBef>
                <a:spcPts val="0"/>
              </a:spcBef>
              <a:spcAft>
                <a:spcPts val="0"/>
              </a:spcAft>
            </a:pPr>
            <a:r>
              <a:rPr sz="1300" b="0" i="0">
                <a:solidFill>
                  <a:srgbClr val="9AA8C8"/>
                </a:solidFill>
                <a:latin typeface="Segoe UI"/>
              </a:rPr>
              <a:t>Advisory chat, voice, recommendations, policies</a:t>
            </a:r>
          </a:p>
        </p:txBody>
      </p:sp>
      <p:sp>
        <p:nvSpPr>
          <p:cNvPr id="7" name="Rectangle 6"/>
          <p:cNvSpPr/>
          <p:nvPr/>
        </p:nvSpPr>
        <p:spPr>
          <a:xfrm>
            <a:off x="868680" y="1965960"/>
            <a:ext cx="82296" cy="173736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965960"/>
            <a:ext cx="5120640" cy="17373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tIns="201168" rIns="182880"/>
          <a:lstStyle/>
          <a:p>
            <a:pPr algn="l">
              <a:spcBef>
                <a:spcPts val="0"/>
              </a:spcBef>
              <a:spcAft>
                <a:spcPts val="400"/>
              </a:spcAft>
            </a:pPr>
            <a:r>
              <a:rPr sz="1600" b="1" i="0">
                <a:solidFill>
                  <a:srgbClr val="F5F8FF"/>
                </a:solidFill>
                <a:latin typeface="Segoe UI Semibold"/>
              </a:rPr>
              <a:t>Admin Portal</a:t>
            </a:r>
            <a:r>
              <a:rPr sz="1000" b="1" i="0">
                <a:solidFill>
                  <a:srgbClr val="35D08A"/>
                </a:solidFill>
                <a:latin typeface="Segoe UI"/>
              </a:rPr>
              <a:t>   LIVE</a:t>
            </a:r>
          </a:p>
          <a:p>
            <a:pPr algn="l">
              <a:lnSpc>
                <a:spcPct val="105000"/>
              </a:lnSpc>
              <a:spcBef>
                <a:spcPts val="0"/>
              </a:spcBef>
              <a:spcAft>
                <a:spcPts val="0"/>
              </a:spcAft>
            </a:pPr>
            <a:r>
              <a:rPr sz="1300" b="0" i="0">
                <a:solidFill>
                  <a:srgbClr val="9AA8C8"/>
                </a:solidFill>
                <a:latin typeface="Segoe UI"/>
              </a:rPr>
              <a:t>Operations, users, monitoring views</a:t>
            </a:r>
          </a:p>
        </p:txBody>
      </p:sp>
      <p:sp>
        <p:nvSpPr>
          <p:cNvPr id="9" name="Rectangle 8"/>
          <p:cNvSpPr/>
          <p:nvPr/>
        </p:nvSpPr>
        <p:spPr>
          <a:xfrm>
            <a:off x="6172200" y="1965960"/>
            <a:ext cx="82296" cy="173736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931920"/>
            <a:ext cx="5120640" cy="17373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tIns="201168" rIns="182880"/>
          <a:lstStyle/>
          <a:p>
            <a:pPr algn="l">
              <a:spcBef>
                <a:spcPts val="0"/>
              </a:spcBef>
              <a:spcAft>
                <a:spcPts val="400"/>
              </a:spcAft>
            </a:pPr>
            <a:r>
              <a:rPr sz="1600" b="1" i="0">
                <a:solidFill>
                  <a:srgbClr val="F5F8FF"/>
                </a:solidFill>
                <a:latin typeface="Segoe UI Semibold"/>
              </a:rPr>
              <a:t>Enterprise Console</a:t>
            </a:r>
            <a:r>
              <a:rPr sz="1000" b="1" i="0">
                <a:solidFill>
                  <a:srgbClr val="F4B440"/>
                </a:solidFill>
                <a:latin typeface="Segoe UI"/>
              </a:rPr>
              <a:t>   ROADMAP</a:t>
            </a:r>
          </a:p>
          <a:p>
            <a:pPr algn="l">
              <a:lnSpc>
                <a:spcPct val="105000"/>
              </a:lnSpc>
              <a:spcBef>
                <a:spcPts val="0"/>
              </a:spcBef>
              <a:spcAft>
                <a:spcPts val="0"/>
              </a:spcAft>
            </a:pPr>
            <a:r>
              <a:rPr sz="1300" b="0" i="0">
                <a:solidFill>
                  <a:srgbClr val="9AA8C8"/>
                </a:solidFill>
                <a:latin typeface="Segoe UI"/>
              </a:rPr>
              <a:t>Multi-tenant insurer control plane</a:t>
            </a:r>
          </a:p>
        </p:txBody>
      </p:sp>
      <p:sp>
        <p:nvSpPr>
          <p:cNvPr id="11" name="Rectangle 10"/>
          <p:cNvSpPr/>
          <p:nvPr/>
        </p:nvSpPr>
        <p:spPr>
          <a:xfrm>
            <a:off x="868680" y="3931920"/>
            <a:ext cx="82296" cy="173736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3931920"/>
            <a:ext cx="5120640" cy="173736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tIns="201168" rIns="182880"/>
          <a:lstStyle/>
          <a:p>
            <a:pPr algn="l">
              <a:spcBef>
                <a:spcPts val="0"/>
              </a:spcBef>
              <a:spcAft>
                <a:spcPts val="400"/>
              </a:spcAft>
            </a:pPr>
            <a:r>
              <a:rPr sz="1600" b="1" i="0">
                <a:solidFill>
                  <a:srgbClr val="F5F8FF"/>
                </a:solidFill>
                <a:latin typeface="Segoe UI Semibold"/>
              </a:rPr>
              <a:t>Developer Portal</a:t>
            </a:r>
            <a:r>
              <a:rPr sz="1000" b="1" i="0">
                <a:solidFill>
                  <a:srgbClr val="F4B440"/>
                </a:solidFill>
                <a:latin typeface="Segoe UI"/>
              </a:rPr>
              <a:t>   ROADMAP</a:t>
            </a:r>
          </a:p>
          <a:p>
            <a:pPr algn="l">
              <a:lnSpc>
                <a:spcPct val="105000"/>
              </a:lnSpc>
              <a:spcBef>
                <a:spcPts val="0"/>
              </a:spcBef>
              <a:spcAft>
                <a:spcPts val="0"/>
              </a:spcAft>
            </a:pPr>
            <a:r>
              <a:rPr sz="1300" b="0" i="0">
                <a:solidFill>
                  <a:srgbClr val="9AA8C8"/>
                </a:solidFill>
                <a:latin typeface="Segoe UI"/>
              </a:rPr>
              <a:t>API keys, docs, SDKs, usage &amp; billing</a:t>
            </a:r>
          </a:p>
        </p:txBody>
      </p:sp>
      <p:sp>
        <p:nvSpPr>
          <p:cNvPr id="13" name="Rectangle 12"/>
          <p:cNvSpPr/>
          <p:nvPr/>
        </p:nvSpPr>
        <p:spPr>
          <a:xfrm>
            <a:off x="6172200" y="3931920"/>
            <a:ext cx="82296" cy="173736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BUILT VS. VISION</a:t>
            </a:r>
          </a:p>
          <a:p>
            <a:pPr algn="l">
              <a:spcBef>
                <a:spcPts val="0"/>
              </a:spcBef>
              <a:spcAft>
                <a:spcPts val="0"/>
              </a:spcAft>
            </a:pPr>
            <a:r>
              <a:rPr sz="2900" b="1" i="0">
                <a:solidFill>
                  <a:srgbClr val="F5F8FF"/>
                </a:solidFill>
                <a:latin typeface="Segoe UI Semibold"/>
              </a:rPr>
              <a:t>From Advisory Platform to Insurance AI OS</a:t>
            </a:r>
          </a:p>
          <a:p>
            <a:pPr algn="l">
              <a:spcBef>
                <a:spcPts val="200"/>
              </a:spcBef>
              <a:spcAft>
                <a:spcPts val="0"/>
              </a:spcAft>
            </a:pPr>
            <a:r>
              <a:rPr sz="1400" b="0" i="0">
                <a:solidFill>
                  <a:srgbClr val="9AA8C8"/>
                </a:solidFill>
                <a:latin typeface="Segoe UI"/>
              </a:rPr>
              <a:t>The honest map of what's shipped and what's funded next.</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31</a:t>
            </a:r>
          </a:p>
        </p:txBody>
      </p:sp>
      <p:sp>
        <p:nvSpPr>
          <p:cNvPr id="6" name="TextBox 5"/>
          <p:cNvSpPr txBox="1"/>
          <p:nvPr/>
        </p:nvSpPr>
        <p:spPr>
          <a:xfrm>
            <a:off x="1005840" y="1828800"/>
            <a:ext cx="4572000" cy="365760"/>
          </a:xfrm>
          <a:prstGeom prst="rect">
            <a:avLst/>
          </a:prstGeom>
          <a:noFill/>
        </p:spPr>
        <p:txBody>
          <a:bodyPr wrap="square" anchor="t" lIns="0" rIns="0" tIns="0" bIns="0">
            <a:spAutoFit/>
          </a:bodyPr>
          <a:lstStyle/>
          <a:p>
            <a:pPr algn="l">
              <a:spcBef>
                <a:spcPts val="0"/>
              </a:spcBef>
              <a:spcAft>
                <a:spcPts val="0"/>
              </a:spcAft>
            </a:pPr>
            <a:r>
              <a:rPr sz="1300" b="1" i="0">
                <a:solidFill>
                  <a:srgbClr val="35D08A"/>
                </a:solidFill>
                <a:latin typeface="Segoe UI"/>
              </a:rPr>
              <a:t>● BUILT TODAY</a:t>
            </a:r>
          </a:p>
        </p:txBody>
      </p:sp>
      <p:sp>
        <p:nvSpPr>
          <p:cNvPr id="7" name="TextBox 6"/>
          <p:cNvSpPr txBox="1"/>
          <p:nvPr/>
        </p:nvSpPr>
        <p:spPr>
          <a:xfrm>
            <a:off x="6492240" y="1828800"/>
            <a:ext cx="4572000" cy="365760"/>
          </a:xfrm>
          <a:prstGeom prst="rect">
            <a:avLst/>
          </a:prstGeom>
          <a:noFill/>
        </p:spPr>
        <p:txBody>
          <a:bodyPr wrap="square" anchor="t" lIns="0" rIns="0" tIns="0" bIns="0">
            <a:spAutoFit/>
          </a:bodyPr>
          <a:lstStyle/>
          <a:p>
            <a:pPr algn="l">
              <a:spcBef>
                <a:spcPts val="0"/>
              </a:spcBef>
              <a:spcAft>
                <a:spcPts val="0"/>
              </a:spcAft>
            </a:pPr>
            <a:r>
              <a:rPr sz="1300" b="1" i="0">
                <a:solidFill>
                  <a:srgbClr val="F4B440"/>
                </a:solidFill>
                <a:latin typeface="Segoe UI"/>
              </a:rPr>
              <a:t>○ VISION / ROADMAP</a:t>
            </a:r>
          </a:p>
        </p:txBody>
      </p:sp>
      <p:sp>
        <p:nvSpPr>
          <p:cNvPr id="8" name="Rounded Rectangle 7"/>
          <p:cNvSpPr/>
          <p:nvPr/>
        </p:nvSpPr>
        <p:spPr>
          <a:xfrm>
            <a:off x="1005840" y="2286000"/>
            <a:ext cx="4754880" cy="4572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Multi-agent advisory</a:t>
            </a:r>
          </a:p>
        </p:txBody>
      </p:sp>
      <p:sp>
        <p:nvSpPr>
          <p:cNvPr id="9" name="Rectangle 8"/>
          <p:cNvSpPr/>
          <p:nvPr/>
        </p:nvSpPr>
        <p:spPr>
          <a:xfrm>
            <a:off x="1005840" y="2286000"/>
            <a:ext cx="73152" cy="45720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5840" y="2852928"/>
            <a:ext cx="4754880" cy="4572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Recommendation &amp; scoring</a:t>
            </a:r>
          </a:p>
        </p:txBody>
      </p:sp>
      <p:sp>
        <p:nvSpPr>
          <p:cNvPr id="11" name="Rectangle 10"/>
          <p:cNvSpPr/>
          <p:nvPr/>
        </p:nvSpPr>
        <p:spPr>
          <a:xfrm>
            <a:off x="1005840" y="2852928"/>
            <a:ext cx="73152" cy="45720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419856"/>
            <a:ext cx="4754880" cy="4572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Voice + streaming</a:t>
            </a:r>
          </a:p>
        </p:txBody>
      </p:sp>
      <p:sp>
        <p:nvSpPr>
          <p:cNvPr id="13" name="Rectangle 12"/>
          <p:cNvSpPr/>
          <p:nvPr/>
        </p:nvSpPr>
        <p:spPr>
          <a:xfrm>
            <a:off x="1005840" y="3419856"/>
            <a:ext cx="73152" cy="45720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05840" y="3986784"/>
            <a:ext cx="4754880" cy="4572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Memory &amp; personalisation</a:t>
            </a:r>
          </a:p>
        </p:txBody>
      </p:sp>
      <p:sp>
        <p:nvSpPr>
          <p:cNvPr id="15" name="Rectangle 14"/>
          <p:cNvSpPr/>
          <p:nvPr/>
        </p:nvSpPr>
        <p:spPr>
          <a:xfrm>
            <a:off x="1005840" y="3986784"/>
            <a:ext cx="73152" cy="45720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4553712"/>
            <a:ext cx="4754880" cy="4572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Auth · RBAC · isolation</a:t>
            </a:r>
          </a:p>
        </p:txBody>
      </p:sp>
      <p:sp>
        <p:nvSpPr>
          <p:cNvPr id="17" name="Rectangle 16"/>
          <p:cNvSpPr/>
          <p:nvPr/>
        </p:nvSpPr>
        <p:spPr>
          <a:xfrm>
            <a:off x="1005840" y="4553712"/>
            <a:ext cx="73152" cy="45720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5120640"/>
            <a:ext cx="4754880" cy="4572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Service API + reasoning trace</a:t>
            </a:r>
          </a:p>
        </p:txBody>
      </p:sp>
      <p:sp>
        <p:nvSpPr>
          <p:cNvPr id="19" name="Rectangle 18"/>
          <p:cNvSpPr/>
          <p:nvPr/>
        </p:nvSpPr>
        <p:spPr>
          <a:xfrm>
            <a:off x="1005840" y="5120640"/>
            <a:ext cx="73152" cy="45720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92240" y="2286000"/>
            <a:ext cx="4754880" cy="4572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Fraud &amp; Network Intelligence</a:t>
            </a:r>
          </a:p>
        </p:txBody>
      </p:sp>
      <p:sp>
        <p:nvSpPr>
          <p:cNvPr id="21" name="Rectangle 20"/>
          <p:cNvSpPr/>
          <p:nvPr/>
        </p:nvSpPr>
        <p:spPr>
          <a:xfrm>
            <a:off x="6492240" y="2286000"/>
            <a:ext cx="73152" cy="45720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92240" y="2852928"/>
            <a:ext cx="4754880" cy="4572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Damage (CV) &amp; 3D estimate</a:t>
            </a:r>
          </a:p>
        </p:txBody>
      </p:sp>
      <p:sp>
        <p:nvSpPr>
          <p:cNvPr id="23" name="Rectangle 22"/>
          <p:cNvSpPr/>
          <p:nvPr/>
        </p:nvSpPr>
        <p:spPr>
          <a:xfrm>
            <a:off x="6492240" y="2852928"/>
            <a:ext cx="73152" cy="45720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92240" y="3419856"/>
            <a:ext cx="4754880" cy="4572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OCR &amp; document forgery</a:t>
            </a:r>
          </a:p>
        </p:txBody>
      </p:sp>
      <p:sp>
        <p:nvSpPr>
          <p:cNvPr id="25" name="Rectangle 24"/>
          <p:cNvSpPr/>
          <p:nvPr/>
        </p:nvSpPr>
        <p:spPr>
          <a:xfrm>
            <a:off x="6492240" y="3419856"/>
            <a:ext cx="73152" cy="45720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92240" y="3986784"/>
            <a:ext cx="4754880" cy="4572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Identity · liveness · deepfake</a:t>
            </a:r>
          </a:p>
        </p:txBody>
      </p:sp>
      <p:sp>
        <p:nvSpPr>
          <p:cNvPr id="27" name="Rectangle 26"/>
          <p:cNvSpPr/>
          <p:nvPr/>
        </p:nvSpPr>
        <p:spPr>
          <a:xfrm>
            <a:off x="6492240" y="3986784"/>
            <a:ext cx="73152" cy="45720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92240" y="4553712"/>
            <a:ext cx="4754880" cy="4572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Evidence &amp; Investigation agents</a:t>
            </a:r>
          </a:p>
        </p:txBody>
      </p:sp>
      <p:sp>
        <p:nvSpPr>
          <p:cNvPr id="29" name="Rectangle 28"/>
          <p:cNvSpPr/>
          <p:nvPr/>
        </p:nvSpPr>
        <p:spPr>
          <a:xfrm>
            <a:off x="6492240" y="4553712"/>
            <a:ext cx="73152" cy="45720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92240" y="5120640"/>
            <a:ext cx="4754880" cy="4572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l">
              <a:spcBef>
                <a:spcPts val="0"/>
              </a:spcBef>
              <a:spcAft>
                <a:spcPts val="0"/>
              </a:spcAft>
            </a:pPr>
            <a:r>
              <a:rPr sz="1300" b="1" i="0">
                <a:solidFill>
                  <a:srgbClr val="F5F8FF"/>
                </a:solidFill>
                <a:latin typeface="Segoe UI"/>
              </a:rPr>
              <a:t>Foundation model + knowledge graph</a:t>
            </a:r>
          </a:p>
        </p:txBody>
      </p:sp>
      <p:sp>
        <p:nvSpPr>
          <p:cNvPr id="31" name="Rectangle 30"/>
          <p:cNvSpPr/>
          <p:nvPr/>
        </p:nvSpPr>
        <p:spPr>
          <a:xfrm>
            <a:off x="6492240" y="5120640"/>
            <a:ext cx="73152" cy="457200"/>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COMPUTER VISION · CLAIMS</a:t>
            </a:r>
          </a:p>
          <a:p>
            <a:pPr algn="l">
              <a:spcBef>
                <a:spcPts val="0"/>
              </a:spcBef>
              <a:spcAft>
                <a:spcPts val="0"/>
              </a:spcAft>
            </a:pPr>
            <a:r>
              <a:rPr sz="2900" b="1" i="0">
                <a:solidFill>
                  <a:srgbClr val="F5F8FF"/>
                </a:solidFill>
                <a:latin typeface="Segoe UI Semibold"/>
              </a:rPr>
              <a:t>Vision — Damage Intelligence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32</a:t>
            </a:r>
          </a:p>
        </p:txBody>
      </p:sp>
      <p:sp>
        <p:nvSpPr>
          <p:cNvPr id="6" name="Rounded Rectangle 5"/>
          <p:cNvSpPr/>
          <p:nvPr/>
        </p:nvSpPr>
        <p:spPr>
          <a:xfrm>
            <a:off x="10058400" y="566928"/>
            <a:ext cx="1737360" cy="310896"/>
          </a:xfrm>
          <a:prstGeom prst="roundRect">
            <a:avLst/>
          </a:prstGeom>
          <a:solidFill>
            <a:srgbClr val="332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4B440"/>
                </a:solidFill>
                <a:latin typeface="Segoe UI"/>
              </a:rPr>
              <a:t>VISION / ROADMAP</a:t>
            </a:r>
          </a:p>
        </p:txBody>
      </p:sp>
      <p:sp>
        <p:nvSpPr>
          <p:cNvPr id="7" name="TextBox 6"/>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PROBLEM</a:t>
            </a:r>
          </a:p>
          <a:p>
            <a:pPr algn="l">
              <a:lnSpc>
                <a:spcPct val="110000"/>
              </a:lnSpc>
              <a:spcBef>
                <a:spcPts val="0"/>
              </a:spcBef>
              <a:spcAft>
                <a:spcPts val="900"/>
              </a:spcAft>
            </a:pPr>
            <a:r>
              <a:rPr sz="1400" b="0" i="0">
                <a:solidFill>
                  <a:srgbClr val="9AA8C8"/>
                </a:solidFill>
                <a:latin typeface="Segoe UI"/>
              </a:rPr>
              <a:t>Vehicle &amp; property damage is assessed by human eyeballing of photos — slow, inconsistent, and gameable with edited or old images.</a:t>
            </a:r>
          </a:p>
          <a:p>
            <a:pPr algn="l">
              <a:spcBef>
                <a:spcPts val="600"/>
              </a:spcBef>
              <a:spcAft>
                <a:spcPts val="300"/>
              </a:spcAft>
            </a:pPr>
            <a:r>
              <a:rPr sz="1250" b="1" i="0">
                <a:solidFill>
                  <a:srgbClr val="2DD4E0"/>
                </a:solidFill>
                <a:latin typeface="Segoe UI Semibold"/>
              </a:rPr>
              <a:t>OUR SOLUTION</a:t>
            </a:r>
          </a:p>
          <a:p>
            <a:pPr algn="l">
              <a:lnSpc>
                <a:spcPct val="110000"/>
              </a:lnSpc>
              <a:spcBef>
                <a:spcPts val="0"/>
              </a:spcBef>
              <a:spcAft>
                <a:spcPts val="900"/>
              </a:spcAft>
            </a:pPr>
            <a:r>
              <a:rPr sz="1400" b="0" i="0">
                <a:solidFill>
                  <a:srgbClr val="9AA8C8"/>
                </a:solidFill>
                <a:latin typeface="Segoe UI"/>
              </a:rPr>
              <a:t>A CV pipeline that detects, segments and estimates damage severity from photos/video, flags reused or edited images, and produces an explainable repair estimate.</a:t>
            </a:r>
          </a:p>
          <a:p>
            <a:pPr algn="l">
              <a:spcBef>
                <a:spcPts val="600"/>
              </a:spcBef>
              <a:spcAft>
                <a:spcPts val="300"/>
              </a:spcAft>
            </a:pPr>
            <a:r>
              <a:rPr sz="1250" b="1" i="0">
                <a:solidFill>
                  <a:srgbClr val="2DD4E0"/>
                </a:solidFill>
                <a:latin typeface="Segoe UI Semibold"/>
              </a:rPr>
              <a:t>ENTERPRISE BENEFIT</a:t>
            </a:r>
          </a:p>
          <a:p>
            <a:pPr algn="l">
              <a:lnSpc>
                <a:spcPct val="110000"/>
              </a:lnSpc>
              <a:spcBef>
                <a:spcPts val="0"/>
              </a:spcBef>
              <a:spcAft>
                <a:spcPts val="900"/>
              </a:spcAft>
            </a:pPr>
            <a:r>
              <a:rPr sz="1400" b="0" i="0">
                <a:solidFill>
                  <a:srgbClr val="9AA8C8"/>
                </a:solidFill>
                <a:latin typeface="Segoe UI"/>
              </a:rPr>
              <a:t>Faster, consistent, fraud-resistant estimates; lower loss-adjustment expense.</a:t>
            </a:r>
          </a:p>
        </p:txBody>
      </p:sp>
      <p:sp>
        <p:nvSpPr>
          <p:cNvPr id="8" name="TextBox 7"/>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ML / DL / CV MODELS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YOLO — damage part/region detection</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SAM — damage segmentation masks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CNN / Vision Transformer — severity grading</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3D reconstruction — dent depth &amp; extent</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Image-forensics net — edit/duplicate detection</a:t>
            </a:r>
          </a:p>
          <a:p>
            <a:pPr algn="l">
              <a:spcBef>
                <a:spcPts val="600"/>
              </a:spcBef>
              <a:spcAft>
                <a:spcPts val="300"/>
              </a:spcAft>
            </a:pPr>
            <a:r>
              <a:rPr sz="1250" b="1" i="0">
                <a:solidFill>
                  <a:srgbClr val="2DD4E0"/>
                </a:solidFill>
                <a:latin typeface="Segoe UI Semibold"/>
              </a:rPr>
              <a:t>WORKFLOW</a:t>
            </a:r>
          </a:p>
          <a:p>
            <a:pPr algn="l">
              <a:lnSpc>
                <a:spcPct val="110000"/>
              </a:lnSpc>
              <a:spcBef>
                <a:spcPts val="0"/>
              </a:spcBef>
              <a:spcAft>
                <a:spcPts val="900"/>
              </a:spcAft>
            </a:pPr>
            <a:r>
              <a:rPr sz="1400" b="0" i="0">
                <a:solidFill>
                  <a:srgbClr val="9AA8C8"/>
                </a:solidFill>
                <a:latin typeface="Segoe UI"/>
              </a:rPr>
              <a:t>Upload → detect parts → segment damage → grade severity → forensic check → explainable estimate → human review.</a:t>
            </a:r>
          </a:p>
          <a:p>
            <a:pPr algn="l">
              <a:spcBef>
                <a:spcPts val="600"/>
              </a:spcBef>
              <a:spcAft>
                <a:spcPts val="300"/>
              </a:spcAft>
            </a:pPr>
            <a:r>
              <a:rPr sz="1250" b="1" i="0">
                <a:solidFill>
                  <a:srgbClr val="2DD4E0"/>
                </a:solidFill>
                <a:latin typeface="Segoe UI Semibold"/>
              </a:rPr>
              <a:t>REVENUE</a:t>
            </a:r>
          </a:p>
          <a:p>
            <a:pPr algn="l">
              <a:lnSpc>
                <a:spcPct val="110000"/>
              </a:lnSpc>
              <a:spcBef>
                <a:spcPts val="0"/>
              </a:spcBef>
              <a:spcAft>
                <a:spcPts val="900"/>
              </a:spcAft>
            </a:pPr>
            <a:r>
              <a:rPr sz="1400" b="0" i="0">
                <a:solidFill>
                  <a:srgbClr val="9AA8C8"/>
                </a:solidFill>
                <a:latin typeface="Segoe UI"/>
              </a:rPr>
              <a:t>Per-inspection API pricing + enterprise seats for claims teams.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ML + GRAPH · FRAUD</a:t>
            </a:r>
          </a:p>
          <a:p>
            <a:pPr algn="l">
              <a:spcBef>
                <a:spcPts val="0"/>
              </a:spcBef>
              <a:spcAft>
                <a:spcPts val="0"/>
              </a:spcAft>
            </a:pPr>
            <a:r>
              <a:rPr sz="2900" b="1" i="0">
                <a:solidFill>
                  <a:srgbClr val="F5F8FF"/>
                </a:solidFill>
                <a:latin typeface="Segoe UI Semibold"/>
              </a:rPr>
              <a:t>Vision — Fraud &amp; Network Intelligence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33</a:t>
            </a:r>
          </a:p>
        </p:txBody>
      </p:sp>
      <p:sp>
        <p:nvSpPr>
          <p:cNvPr id="6" name="Rounded Rectangle 5"/>
          <p:cNvSpPr/>
          <p:nvPr/>
        </p:nvSpPr>
        <p:spPr>
          <a:xfrm>
            <a:off x="10058400" y="566928"/>
            <a:ext cx="1737360" cy="310896"/>
          </a:xfrm>
          <a:prstGeom prst="roundRect">
            <a:avLst/>
          </a:prstGeom>
          <a:solidFill>
            <a:srgbClr val="332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4B440"/>
                </a:solidFill>
                <a:latin typeface="Segoe UI"/>
              </a:rPr>
              <a:t>VISION / ROADMAP</a:t>
            </a:r>
          </a:p>
        </p:txBody>
      </p:sp>
      <p:sp>
        <p:nvSpPr>
          <p:cNvPr id="7" name="TextBox 6"/>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PROBLEM</a:t>
            </a:r>
          </a:p>
          <a:p>
            <a:pPr algn="l">
              <a:lnSpc>
                <a:spcPct val="110000"/>
              </a:lnSpc>
              <a:spcBef>
                <a:spcPts val="0"/>
              </a:spcBef>
              <a:spcAft>
                <a:spcPts val="900"/>
              </a:spcAft>
            </a:pPr>
            <a:r>
              <a:rPr sz="1400" b="0" i="0">
                <a:solidFill>
                  <a:srgbClr val="9AA8C8"/>
                </a:solidFill>
                <a:latin typeface="Segoe UI"/>
              </a:rPr>
              <a:t>Fraud is networked (garage–agent–customer rings) and adaptive; rules and single-claim scoring miss coordinated abuse.</a:t>
            </a:r>
          </a:p>
          <a:p>
            <a:pPr algn="l">
              <a:spcBef>
                <a:spcPts val="600"/>
              </a:spcBef>
              <a:spcAft>
                <a:spcPts val="300"/>
              </a:spcAft>
            </a:pPr>
            <a:r>
              <a:rPr sz="1250" b="1" i="0">
                <a:solidFill>
                  <a:srgbClr val="2DD4E0"/>
                </a:solidFill>
                <a:latin typeface="Segoe UI Semibold"/>
              </a:rPr>
              <a:t>OUR SOLUTION</a:t>
            </a:r>
          </a:p>
          <a:p>
            <a:pPr algn="l">
              <a:lnSpc>
                <a:spcPct val="110000"/>
              </a:lnSpc>
              <a:spcBef>
                <a:spcPts val="0"/>
              </a:spcBef>
              <a:spcAft>
                <a:spcPts val="900"/>
              </a:spcAft>
            </a:pPr>
            <a:r>
              <a:rPr sz="1400" b="0" i="0">
                <a:solidFill>
                  <a:srgbClr val="9AA8C8"/>
                </a:solidFill>
                <a:latin typeface="Segoe UI"/>
              </a:rPr>
              <a:t>A hybrid engine: anomaly detection on each claim plus a Graph Neural Network over the actor network to surface rings, with an explained risk score and evidence.</a:t>
            </a:r>
          </a:p>
          <a:p>
            <a:pPr algn="l">
              <a:spcBef>
                <a:spcPts val="600"/>
              </a:spcBef>
              <a:spcAft>
                <a:spcPts val="300"/>
              </a:spcAft>
            </a:pPr>
            <a:r>
              <a:rPr sz="1250" b="1" i="0">
                <a:solidFill>
                  <a:srgbClr val="2DD4E0"/>
                </a:solidFill>
                <a:latin typeface="Segoe UI Semibold"/>
              </a:rPr>
              <a:t>ENTERPRISE BENEFIT</a:t>
            </a:r>
          </a:p>
          <a:p>
            <a:pPr algn="l">
              <a:lnSpc>
                <a:spcPct val="110000"/>
              </a:lnSpc>
              <a:spcBef>
                <a:spcPts val="0"/>
              </a:spcBef>
              <a:spcAft>
                <a:spcPts val="900"/>
              </a:spcAft>
            </a:pPr>
            <a:r>
              <a:rPr sz="1400" b="0" i="0">
                <a:solidFill>
                  <a:srgbClr val="9AA8C8"/>
                </a:solidFill>
                <a:latin typeface="Segoe UI"/>
              </a:rPr>
              <a:t>Reduced leakage, higher recovery, defensible decisions for regulators.</a:t>
            </a:r>
          </a:p>
        </p:txBody>
      </p:sp>
      <p:sp>
        <p:nvSpPr>
          <p:cNvPr id="8" name="TextBox 7"/>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ML / DL / CV MODELS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Isolation Forest / Autoencoder — anomaly</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XGBoost / LightGBM — supervised risk</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Graph Neural Network — ring detection</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Behaviour &amp; Network Intelligence features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SHAP — per-decision explanation</a:t>
            </a:r>
          </a:p>
          <a:p>
            <a:pPr algn="l">
              <a:spcBef>
                <a:spcPts val="600"/>
              </a:spcBef>
              <a:spcAft>
                <a:spcPts val="300"/>
              </a:spcAft>
            </a:pPr>
            <a:r>
              <a:rPr sz="1250" b="1" i="0">
                <a:solidFill>
                  <a:srgbClr val="2DD4E0"/>
                </a:solidFill>
                <a:latin typeface="Segoe UI Semibold"/>
              </a:rPr>
              <a:t>WORKFLOW</a:t>
            </a:r>
          </a:p>
          <a:p>
            <a:pPr algn="l">
              <a:lnSpc>
                <a:spcPct val="110000"/>
              </a:lnSpc>
              <a:spcBef>
                <a:spcPts val="0"/>
              </a:spcBef>
              <a:spcAft>
                <a:spcPts val="900"/>
              </a:spcAft>
            </a:pPr>
            <a:r>
              <a:rPr sz="1400" b="0" i="0">
                <a:solidFill>
                  <a:srgbClr val="9AA8C8"/>
                </a:solidFill>
                <a:latin typeface="Segoe UI"/>
              </a:rPr>
              <a:t>Claim + entities → features + graph → anomaly &amp; GNN scores → explained risk + evidence → investigator review.</a:t>
            </a:r>
          </a:p>
          <a:p>
            <a:pPr algn="l">
              <a:spcBef>
                <a:spcPts val="600"/>
              </a:spcBef>
              <a:spcAft>
                <a:spcPts val="300"/>
              </a:spcAft>
            </a:pPr>
            <a:r>
              <a:rPr sz="1250" b="1" i="0">
                <a:solidFill>
                  <a:srgbClr val="2DD4E0"/>
                </a:solidFill>
                <a:latin typeface="Segoe UI Semibold"/>
              </a:rPr>
              <a:t>REVENUE</a:t>
            </a:r>
          </a:p>
          <a:p>
            <a:pPr algn="l">
              <a:lnSpc>
                <a:spcPct val="110000"/>
              </a:lnSpc>
              <a:spcBef>
                <a:spcPts val="0"/>
              </a:spcBef>
              <a:spcAft>
                <a:spcPts val="900"/>
              </a:spcAft>
            </a:pPr>
            <a:r>
              <a:rPr sz="1400" b="0" i="0">
                <a:solidFill>
                  <a:srgbClr val="9AA8C8"/>
                </a:solidFill>
                <a:latin typeface="Segoe UI"/>
              </a:rPr>
              <a:t>Usage-based scoring API + premium ‘network intelligence' tier.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DOCUMENT AI</a:t>
            </a:r>
          </a:p>
          <a:p>
            <a:pPr algn="l">
              <a:spcBef>
                <a:spcPts val="0"/>
              </a:spcBef>
              <a:spcAft>
                <a:spcPts val="0"/>
              </a:spcAft>
            </a:pPr>
            <a:r>
              <a:rPr sz="2900" b="1" i="0">
                <a:solidFill>
                  <a:srgbClr val="F5F8FF"/>
                </a:solidFill>
                <a:latin typeface="Segoe UI Semibold"/>
              </a:rPr>
              <a:t>Vision — OCR &amp; Document Forgery Intelligence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34</a:t>
            </a:r>
          </a:p>
        </p:txBody>
      </p:sp>
      <p:sp>
        <p:nvSpPr>
          <p:cNvPr id="6" name="Rounded Rectangle 5"/>
          <p:cNvSpPr/>
          <p:nvPr/>
        </p:nvSpPr>
        <p:spPr>
          <a:xfrm>
            <a:off x="10058400" y="566928"/>
            <a:ext cx="1737360" cy="310896"/>
          </a:xfrm>
          <a:prstGeom prst="roundRect">
            <a:avLst/>
          </a:prstGeom>
          <a:solidFill>
            <a:srgbClr val="332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4B440"/>
                </a:solidFill>
                <a:latin typeface="Segoe UI"/>
              </a:rPr>
              <a:t>VISION / ROADMAP</a:t>
            </a:r>
          </a:p>
        </p:txBody>
      </p:sp>
      <p:sp>
        <p:nvSpPr>
          <p:cNvPr id="7" name="TextBox 6"/>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PROBLEM</a:t>
            </a:r>
          </a:p>
          <a:p>
            <a:pPr algn="l">
              <a:lnSpc>
                <a:spcPct val="110000"/>
              </a:lnSpc>
              <a:spcBef>
                <a:spcPts val="0"/>
              </a:spcBef>
              <a:spcAft>
                <a:spcPts val="900"/>
              </a:spcAft>
            </a:pPr>
            <a:r>
              <a:rPr sz="1400" b="0" i="0">
                <a:solidFill>
                  <a:srgbClr val="9AA8C8"/>
                </a:solidFill>
                <a:latin typeface="Segoe UI"/>
              </a:rPr>
              <a:t>Claims run on documents — bills, prescriptions, RCs, FIRs — that are trivially forged and only spot-checked by humans.</a:t>
            </a:r>
          </a:p>
          <a:p>
            <a:pPr algn="l">
              <a:spcBef>
                <a:spcPts val="600"/>
              </a:spcBef>
              <a:spcAft>
                <a:spcPts val="300"/>
              </a:spcAft>
            </a:pPr>
            <a:r>
              <a:rPr sz="1250" b="1" i="0">
                <a:solidFill>
                  <a:srgbClr val="2DD4E0"/>
                </a:solidFill>
                <a:latin typeface="Segoe UI Semibold"/>
              </a:rPr>
              <a:t>OUR SOLUTION</a:t>
            </a:r>
          </a:p>
          <a:p>
            <a:pPr algn="l">
              <a:lnSpc>
                <a:spcPct val="110000"/>
              </a:lnSpc>
              <a:spcBef>
                <a:spcPts val="0"/>
              </a:spcBef>
              <a:spcAft>
                <a:spcPts val="900"/>
              </a:spcAft>
            </a:pPr>
            <a:r>
              <a:rPr sz="1400" b="0" i="0">
                <a:solidFill>
                  <a:srgbClr val="9AA8C8"/>
                </a:solidFill>
                <a:latin typeface="Segoe UI"/>
              </a:rPr>
              <a:t>Intelligent OCR that extracts and structures fields, cross-checks them for consistency, and runs forgery/tamper forensics on the document image itself.</a:t>
            </a:r>
          </a:p>
          <a:p>
            <a:pPr algn="l">
              <a:spcBef>
                <a:spcPts val="600"/>
              </a:spcBef>
              <a:spcAft>
                <a:spcPts val="300"/>
              </a:spcAft>
            </a:pPr>
            <a:r>
              <a:rPr sz="1250" b="1" i="0">
                <a:solidFill>
                  <a:srgbClr val="2DD4E0"/>
                </a:solidFill>
                <a:latin typeface="Segoe UI Semibold"/>
              </a:rPr>
              <a:t>ENTERPRISE BENEFIT</a:t>
            </a:r>
          </a:p>
          <a:p>
            <a:pPr algn="l">
              <a:lnSpc>
                <a:spcPct val="110000"/>
              </a:lnSpc>
              <a:spcBef>
                <a:spcPts val="0"/>
              </a:spcBef>
              <a:spcAft>
                <a:spcPts val="900"/>
              </a:spcAft>
            </a:pPr>
            <a:r>
              <a:rPr sz="1400" b="0" i="0">
                <a:solidFill>
                  <a:srgbClr val="9AA8C8"/>
                </a:solidFill>
                <a:latin typeface="Segoe UI"/>
              </a:rPr>
              <a:t>Straight-through processing for clean docs; instant flags on suspicious ones.</a:t>
            </a:r>
          </a:p>
        </p:txBody>
      </p:sp>
      <p:sp>
        <p:nvSpPr>
          <p:cNvPr id="8" name="TextBox 7"/>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ML / DL / CV MODELS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Vision Transformer / CNN-OCR — extraction</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Layout models — structure &amp; fields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Forgery-detection net — tamper/clone</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LLM — cross-field consistency reasoning</a:t>
            </a:r>
          </a:p>
          <a:p>
            <a:pPr algn="l">
              <a:spcBef>
                <a:spcPts val="600"/>
              </a:spcBef>
              <a:spcAft>
                <a:spcPts val="300"/>
              </a:spcAft>
            </a:pPr>
            <a:r>
              <a:rPr sz="1250" b="1" i="0">
                <a:solidFill>
                  <a:srgbClr val="2DD4E0"/>
                </a:solidFill>
                <a:latin typeface="Segoe UI Semibold"/>
              </a:rPr>
              <a:t>WORKFLOW</a:t>
            </a:r>
          </a:p>
          <a:p>
            <a:pPr algn="l">
              <a:lnSpc>
                <a:spcPct val="110000"/>
              </a:lnSpc>
              <a:spcBef>
                <a:spcPts val="0"/>
              </a:spcBef>
              <a:spcAft>
                <a:spcPts val="900"/>
              </a:spcAft>
            </a:pPr>
            <a:r>
              <a:rPr sz="1400" b="0" i="0">
                <a:solidFill>
                  <a:srgbClr val="9AA8C8"/>
                </a:solidFill>
                <a:latin typeface="Segoe UI"/>
              </a:rPr>
              <a:t>Doc → OCR + layout → structured fields → forgery forensics → consistency check → flag + confidence.</a:t>
            </a:r>
          </a:p>
          <a:p>
            <a:pPr algn="l">
              <a:spcBef>
                <a:spcPts val="600"/>
              </a:spcBef>
              <a:spcAft>
                <a:spcPts val="300"/>
              </a:spcAft>
            </a:pPr>
            <a:r>
              <a:rPr sz="1250" b="1" i="0">
                <a:solidFill>
                  <a:srgbClr val="2DD4E0"/>
                </a:solidFill>
                <a:latin typeface="Segoe UI Semibold"/>
              </a:rPr>
              <a:t>REVENUE</a:t>
            </a:r>
          </a:p>
          <a:p>
            <a:pPr algn="l">
              <a:lnSpc>
                <a:spcPct val="110000"/>
              </a:lnSpc>
              <a:spcBef>
                <a:spcPts val="0"/>
              </a:spcBef>
              <a:spcAft>
                <a:spcPts val="900"/>
              </a:spcAft>
            </a:pPr>
            <a:r>
              <a:rPr sz="1400" b="0" i="0">
                <a:solidFill>
                  <a:srgbClr val="9AA8C8"/>
                </a:solidFill>
                <a:latin typeface="Segoe UI"/>
              </a:rPr>
              <a:t>Per-page OCR pricing + forgery-check add-on.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BIOMETRIC INTEGRITY</a:t>
            </a:r>
          </a:p>
          <a:p>
            <a:pPr algn="l">
              <a:spcBef>
                <a:spcPts val="0"/>
              </a:spcBef>
              <a:spcAft>
                <a:spcPts val="0"/>
              </a:spcAft>
            </a:pPr>
            <a:r>
              <a:rPr sz="2900" b="1" i="0">
                <a:solidFill>
                  <a:srgbClr val="F5F8FF"/>
                </a:solidFill>
                <a:latin typeface="Segoe UI Semibold"/>
              </a:rPr>
              <a:t>Vision — Identity, Liveness &amp; Deepfake Defence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35</a:t>
            </a:r>
          </a:p>
        </p:txBody>
      </p:sp>
      <p:sp>
        <p:nvSpPr>
          <p:cNvPr id="6" name="Rounded Rectangle 5"/>
          <p:cNvSpPr/>
          <p:nvPr/>
        </p:nvSpPr>
        <p:spPr>
          <a:xfrm>
            <a:off x="10058400" y="566928"/>
            <a:ext cx="1737360" cy="310896"/>
          </a:xfrm>
          <a:prstGeom prst="roundRect">
            <a:avLst/>
          </a:prstGeom>
          <a:solidFill>
            <a:srgbClr val="332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4B440"/>
                </a:solidFill>
                <a:latin typeface="Segoe UI"/>
              </a:rPr>
              <a:t>VISION / ROADMAP</a:t>
            </a:r>
          </a:p>
        </p:txBody>
      </p:sp>
      <p:sp>
        <p:nvSpPr>
          <p:cNvPr id="7" name="TextBox 6"/>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PROBLEM</a:t>
            </a:r>
          </a:p>
          <a:p>
            <a:pPr algn="l">
              <a:lnSpc>
                <a:spcPct val="110000"/>
              </a:lnSpc>
              <a:spcBef>
                <a:spcPts val="0"/>
              </a:spcBef>
              <a:spcAft>
                <a:spcPts val="900"/>
              </a:spcAft>
            </a:pPr>
            <a:r>
              <a:rPr sz="1400" b="0" i="0">
                <a:solidFill>
                  <a:srgbClr val="9AA8C8"/>
                </a:solidFill>
                <a:latin typeface="Segoe UI"/>
              </a:rPr>
              <a:t>Identity fraud, deepfakes and GPS spoofing let bad actors impersonate customers and fake where/when an incident happened.</a:t>
            </a:r>
          </a:p>
          <a:p>
            <a:pPr algn="l">
              <a:spcBef>
                <a:spcPts val="600"/>
              </a:spcBef>
              <a:spcAft>
                <a:spcPts val="300"/>
              </a:spcAft>
            </a:pPr>
            <a:r>
              <a:rPr sz="1250" b="1" i="0">
                <a:solidFill>
                  <a:srgbClr val="2DD4E0"/>
                </a:solidFill>
                <a:latin typeface="Segoe UI Semibold"/>
              </a:rPr>
              <a:t>OUR SOLUTION</a:t>
            </a:r>
          </a:p>
          <a:p>
            <a:pPr algn="l">
              <a:lnSpc>
                <a:spcPct val="110000"/>
              </a:lnSpc>
              <a:spcBef>
                <a:spcPts val="0"/>
              </a:spcBef>
              <a:spcAft>
                <a:spcPts val="900"/>
              </a:spcAft>
            </a:pPr>
            <a:r>
              <a:rPr sz="1400" b="0" i="0">
                <a:solidFill>
                  <a:srgbClr val="9AA8C8"/>
                </a:solidFill>
                <a:latin typeface="Segoe UI"/>
              </a:rPr>
              <a:t>Live camera &amp; video verification with liveness detection, face matching, deepfake detection, and location/metadata anti-spoofing at claim intake.</a:t>
            </a:r>
          </a:p>
          <a:p>
            <a:pPr algn="l">
              <a:spcBef>
                <a:spcPts val="600"/>
              </a:spcBef>
              <a:spcAft>
                <a:spcPts val="300"/>
              </a:spcAft>
            </a:pPr>
            <a:r>
              <a:rPr sz="1250" b="1" i="0">
                <a:solidFill>
                  <a:srgbClr val="2DD4E0"/>
                </a:solidFill>
                <a:latin typeface="Segoe UI Semibold"/>
              </a:rPr>
              <a:t>ENTERPRISE BENEFIT</a:t>
            </a:r>
          </a:p>
          <a:p>
            <a:pPr algn="l">
              <a:lnSpc>
                <a:spcPct val="110000"/>
              </a:lnSpc>
              <a:spcBef>
                <a:spcPts val="0"/>
              </a:spcBef>
              <a:spcAft>
                <a:spcPts val="900"/>
              </a:spcAft>
            </a:pPr>
            <a:r>
              <a:rPr sz="1400" b="0" i="0">
                <a:solidFill>
                  <a:srgbClr val="9AA8C8"/>
                </a:solidFill>
                <a:latin typeface="Segoe UI"/>
              </a:rPr>
              <a:t>Stops impersonation at the door; strengthens KYC and claim intake.</a:t>
            </a:r>
          </a:p>
        </p:txBody>
      </p:sp>
      <p:sp>
        <p:nvSpPr>
          <p:cNvPr id="8" name="TextBox 7"/>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ML / DL / CV MODELS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Liveness detection — anti-spoof</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Face-match embeddings — identity</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Deepfake-detection net — synthetic media</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Metadata / GPS anti-spoof checks</a:t>
            </a:r>
          </a:p>
          <a:p>
            <a:pPr algn="l">
              <a:spcBef>
                <a:spcPts val="600"/>
              </a:spcBef>
              <a:spcAft>
                <a:spcPts val="300"/>
              </a:spcAft>
            </a:pPr>
            <a:r>
              <a:rPr sz="1250" b="1" i="0">
                <a:solidFill>
                  <a:srgbClr val="2DD4E0"/>
                </a:solidFill>
                <a:latin typeface="Segoe UI Semibold"/>
              </a:rPr>
              <a:t>WORKFLOW</a:t>
            </a:r>
          </a:p>
          <a:p>
            <a:pPr algn="l">
              <a:lnSpc>
                <a:spcPct val="110000"/>
              </a:lnSpc>
              <a:spcBef>
                <a:spcPts val="0"/>
              </a:spcBef>
              <a:spcAft>
                <a:spcPts val="900"/>
              </a:spcAft>
            </a:pPr>
            <a:r>
              <a:rPr sz="1400" b="0" i="0">
                <a:solidFill>
                  <a:srgbClr val="9AA8C8"/>
                </a:solidFill>
                <a:latin typeface="Segoe UI"/>
              </a:rPr>
              <a:t>Capture → liveness → identity match → deepfake &amp; location checks → verified / challenge.</a:t>
            </a:r>
          </a:p>
          <a:p>
            <a:pPr algn="l">
              <a:spcBef>
                <a:spcPts val="600"/>
              </a:spcBef>
              <a:spcAft>
                <a:spcPts val="300"/>
              </a:spcAft>
            </a:pPr>
            <a:r>
              <a:rPr sz="1250" b="1" i="0">
                <a:solidFill>
                  <a:srgbClr val="2DD4E0"/>
                </a:solidFill>
                <a:latin typeface="Segoe UI Semibold"/>
              </a:rPr>
              <a:t>REVENUE</a:t>
            </a:r>
          </a:p>
          <a:p>
            <a:pPr algn="l">
              <a:lnSpc>
                <a:spcPct val="110000"/>
              </a:lnSpc>
              <a:spcBef>
                <a:spcPts val="0"/>
              </a:spcBef>
              <a:spcAft>
                <a:spcPts val="900"/>
              </a:spcAft>
            </a:pPr>
            <a:r>
              <a:rPr sz="1400" b="0" i="0">
                <a:solidFill>
                  <a:srgbClr val="9AA8C8"/>
                </a:solidFill>
                <a:latin typeface="Segoe UI"/>
              </a:rPr>
              <a:t>Per-verification API + enterprise KYC bundle.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AGENTIC AI · INVESTIGATION</a:t>
            </a:r>
          </a:p>
          <a:p>
            <a:pPr algn="l">
              <a:spcBef>
                <a:spcPts val="0"/>
              </a:spcBef>
              <a:spcAft>
                <a:spcPts val="0"/>
              </a:spcAft>
            </a:pPr>
            <a:r>
              <a:rPr sz="2900" b="1" i="0">
                <a:solidFill>
                  <a:srgbClr val="F5F8FF"/>
                </a:solidFill>
                <a:latin typeface="Segoe UI Semibold"/>
              </a:rPr>
              <a:t>Vision — Evidence &amp; Investigation Agents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36</a:t>
            </a:r>
          </a:p>
        </p:txBody>
      </p:sp>
      <p:sp>
        <p:nvSpPr>
          <p:cNvPr id="6" name="Rounded Rectangle 5"/>
          <p:cNvSpPr/>
          <p:nvPr/>
        </p:nvSpPr>
        <p:spPr>
          <a:xfrm>
            <a:off x="10058400" y="566928"/>
            <a:ext cx="1737360" cy="310896"/>
          </a:xfrm>
          <a:prstGeom prst="roundRect">
            <a:avLst/>
          </a:prstGeom>
          <a:solidFill>
            <a:srgbClr val="332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4B440"/>
                </a:solidFill>
                <a:latin typeface="Segoe UI"/>
              </a:rPr>
              <a:t>VISION / ROADMAP</a:t>
            </a:r>
          </a:p>
        </p:txBody>
      </p:sp>
      <p:sp>
        <p:nvSpPr>
          <p:cNvPr id="7" name="TextBox 6"/>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PROBLEM</a:t>
            </a:r>
          </a:p>
          <a:p>
            <a:pPr algn="l">
              <a:lnSpc>
                <a:spcPct val="110000"/>
              </a:lnSpc>
              <a:spcBef>
                <a:spcPts val="0"/>
              </a:spcBef>
              <a:spcAft>
                <a:spcPts val="900"/>
              </a:spcAft>
            </a:pPr>
            <a:r>
              <a:rPr sz="1400" b="0" i="0">
                <a:solidFill>
                  <a:srgbClr val="9AA8C8"/>
                </a:solidFill>
                <a:latin typeface="Segoe UI"/>
              </a:rPr>
              <a:t>Investigation is manual: an adjuster hand-collects evidence and can't see cross-claim relationships, so complex fraud slips through.</a:t>
            </a:r>
          </a:p>
          <a:p>
            <a:pPr algn="l">
              <a:spcBef>
                <a:spcPts val="600"/>
              </a:spcBef>
              <a:spcAft>
                <a:spcPts val="300"/>
              </a:spcAft>
            </a:pPr>
            <a:r>
              <a:rPr sz="1250" b="1" i="0">
                <a:solidFill>
                  <a:srgbClr val="2DD4E0"/>
                </a:solidFill>
                <a:latin typeface="Segoe UI Semibold"/>
              </a:rPr>
              <a:t>OUR SOLUTION</a:t>
            </a:r>
          </a:p>
          <a:p>
            <a:pPr algn="l">
              <a:lnSpc>
                <a:spcPct val="110000"/>
              </a:lnSpc>
              <a:spcBef>
                <a:spcPts val="0"/>
              </a:spcBef>
              <a:spcAft>
                <a:spcPts val="900"/>
              </a:spcAft>
            </a:pPr>
            <a:r>
              <a:rPr sz="1400" b="0" i="0">
                <a:solidFill>
                  <a:srgbClr val="9AA8C8"/>
                </a:solidFill>
                <a:latin typeface="Segoe UI"/>
              </a:rPr>
              <a:t>Autonomous agents that gather evidence, assemble a provenance-checked case file, and run network analysis — always handing a human the final call.</a:t>
            </a:r>
          </a:p>
          <a:p>
            <a:pPr algn="l">
              <a:spcBef>
                <a:spcPts val="600"/>
              </a:spcBef>
              <a:spcAft>
                <a:spcPts val="300"/>
              </a:spcAft>
            </a:pPr>
            <a:r>
              <a:rPr sz="1250" b="1" i="0">
                <a:solidFill>
                  <a:srgbClr val="2DD4E0"/>
                </a:solidFill>
                <a:latin typeface="Segoe UI Semibold"/>
              </a:rPr>
              <a:t>ENTERPRISE BENEFIT</a:t>
            </a:r>
          </a:p>
          <a:p>
            <a:pPr algn="l">
              <a:lnSpc>
                <a:spcPct val="110000"/>
              </a:lnSpc>
              <a:spcBef>
                <a:spcPts val="0"/>
              </a:spcBef>
              <a:spcAft>
                <a:spcPts val="900"/>
              </a:spcAft>
            </a:pPr>
            <a:r>
              <a:rPr sz="1400" b="0" i="0">
                <a:solidFill>
                  <a:srgbClr val="9AA8C8"/>
                </a:solidFill>
                <a:latin typeface="Segoe UI"/>
              </a:rPr>
              <a:t>Investigator productivity multiplied; consistent, auditable case files.</a:t>
            </a:r>
          </a:p>
        </p:txBody>
      </p:sp>
      <p:sp>
        <p:nvSpPr>
          <p:cNvPr id="8" name="TextBox 7"/>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ML / DL / CV MODELS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Retrieval + tool-use agents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Graph analytics — relationship mining</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Provenance &amp; chain-of-custody logic</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LLM — case narrative synthesis</a:t>
            </a:r>
          </a:p>
          <a:p>
            <a:pPr algn="l">
              <a:spcBef>
                <a:spcPts val="600"/>
              </a:spcBef>
              <a:spcAft>
                <a:spcPts val="300"/>
              </a:spcAft>
            </a:pPr>
            <a:r>
              <a:rPr sz="1250" b="1" i="0">
                <a:solidFill>
                  <a:srgbClr val="2DD4E0"/>
                </a:solidFill>
                <a:latin typeface="Segoe UI Semibold"/>
              </a:rPr>
              <a:t>WORKFLOW</a:t>
            </a:r>
          </a:p>
          <a:p>
            <a:pPr algn="l">
              <a:lnSpc>
                <a:spcPct val="110000"/>
              </a:lnSpc>
              <a:spcBef>
                <a:spcPts val="0"/>
              </a:spcBef>
              <a:spcAft>
                <a:spcPts val="900"/>
              </a:spcAft>
            </a:pPr>
            <a:r>
              <a:rPr sz="1400" b="0" i="0">
                <a:solidFill>
                  <a:srgbClr val="9AA8C8"/>
                </a:solidFill>
                <a:latin typeface="Segoe UI"/>
              </a:rPr>
              <a:t>Trigger → collect evidence → verify provenance → analyse network → case file → human decision.</a:t>
            </a:r>
          </a:p>
          <a:p>
            <a:pPr algn="l">
              <a:spcBef>
                <a:spcPts val="600"/>
              </a:spcBef>
              <a:spcAft>
                <a:spcPts val="300"/>
              </a:spcAft>
            </a:pPr>
            <a:r>
              <a:rPr sz="1250" b="1" i="0">
                <a:solidFill>
                  <a:srgbClr val="2DD4E0"/>
                </a:solidFill>
                <a:latin typeface="Segoe UI Semibold"/>
              </a:rPr>
              <a:t>REVENUE</a:t>
            </a:r>
          </a:p>
          <a:p>
            <a:pPr algn="l">
              <a:lnSpc>
                <a:spcPct val="110000"/>
              </a:lnSpc>
              <a:spcBef>
                <a:spcPts val="0"/>
              </a:spcBef>
              <a:spcAft>
                <a:spcPts val="900"/>
              </a:spcAft>
            </a:pPr>
            <a:r>
              <a:rPr sz="1400" b="0" i="0">
                <a:solidFill>
                  <a:srgbClr val="9AA8C8"/>
                </a:solidFill>
                <a:latin typeface="Segoe UI"/>
              </a:rPr>
              <a:t>Seat-based investigator SaaS + per-case pricing.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DECISION &amp; MLOPS</a:t>
            </a:r>
          </a:p>
          <a:p>
            <a:pPr algn="l">
              <a:spcBef>
                <a:spcPts val="0"/>
              </a:spcBef>
              <a:spcAft>
                <a:spcPts val="0"/>
              </a:spcAft>
            </a:pPr>
            <a:r>
              <a:rPr sz="2900" b="1" i="0">
                <a:solidFill>
                  <a:srgbClr val="F5F8FF"/>
                </a:solidFill>
                <a:latin typeface="Segoe UI Semibold"/>
              </a:rPr>
              <a:t>Vision — Decision Intelligence, Learning &amp; Governance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37</a:t>
            </a:r>
          </a:p>
        </p:txBody>
      </p:sp>
      <p:sp>
        <p:nvSpPr>
          <p:cNvPr id="6" name="Rounded Rectangle 5"/>
          <p:cNvSpPr/>
          <p:nvPr/>
        </p:nvSpPr>
        <p:spPr>
          <a:xfrm>
            <a:off x="10058400" y="566928"/>
            <a:ext cx="1737360" cy="310896"/>
          </a:xfrm>
          <a:prstGeom prst="roundRect">
            <a:avLst/>
          </a:prstGeom>
          <a:solidFill>
            <a:srgbClr val="332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4B440"/>
                </a:solidFill>
                <a:latin typeface="Segoe UI"/>
              </a:rPr>
              <a:t>VISION / ROADMAP</a:t>
            </a:r>
          </a:p>
        </p:txBody>
      </p:sp>
      <p:sp>
        <p:nvSpPr>
          <p:cNvPr id="7" name="TextBox 6"/>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PROBLEM</a:t>
            </a:r>
          </a:p>
          <a:p>
            <a:pPr algn="l">
              <a:lnSpc>
                <a:spcPct val="110000"/>
              </a:lnSpc>
              <a:spcBef>
                <a:spcPts val="0"/>
              </a:spcBef>
              <a:spcAft>
                <a:spcPts val="900"/>
              </a:spcAft>
            </a:pPr>
            <a:r>
              <a:rPr sz="1400" b="0" i="0">
                <a:solidFill>
                  <a:srgbClr val="9AA8C8"/>
                </a:solidFill>
                <a:latin typeface="Segoe UI"/>
              </a:rPr>
              <a:t>Detection without a governed decision layer means inconsistent outcomes and no way to learn safely or prove compliance.</a:t>
            </a:r>
          </a:p>
          <a:p>
            <a:pPr algn="l">
              <a:spcBef>
                <a:spcPts val="600"/>
              </a:spcBef>
              <a:spcAft>
                <a:spcPts val="300"/>
              </a:spcAft>
            </a:pPr>
            <a:r>
              <a:rPr sz="1250" b="1" i="0">
                <a:solidFill>
                  <a:srgbClr val="2DD4E0"/>
                </a:solidFill>
                <a:latin typeface="Segoe UI Semibold"/>
              </a:rPr>
              <a:t>OUR SOLUTION</a:t>
            </a:r>
          </a:p>
          <a:p>
            <a:pPr algn="l">
              <a:lnSpc>
                <a:spcPct val="110000"/>
              </a:lnSpc>
              <a:spcBef>
                <a:spcPts val="0"/>
              </a:spcBef>
              <a:spcAft>
                <a:spcPts val="900"/>
              </a:spcAft>
            </a:pPr>
            <a:r>
              <a:rPr sz="1400" b="0" i="0">
                <a:solidFill>
                  <a:srgbClr val="9AA8C8"/>
                </a:solidFill>
                <a:latin typeface="Segoe UI"/>
              </a:rPr>
              <a:t>A decision engine that fuses all signals into an explained, policy-aware verdict, with continuous &amp; federated learning, model monitoring and AI governance around it.</a:t>
            </a:r>
          </a:p>
          <a:p>
            <a:pPr algn="l">
              <a:spcBef>
                <a:spcPts val="600"/>
              </a:spcBef>
              <a:spcAft>
                <a:spcPts val="300"/>
              </a:spcAft>
            </a:pPr>
            <a:r>
              <a:rPr sz="1250" b="1" i="0">
                <a:solidFill>
                  <a:srgbClr val="2DD4E0"/>
                </a:solidFill>
                <a:latin typeface="Segoe UI Semibold"/>
              </a:rPr>
              <a:t>ENTERPRISE BENEFIT</a:t>
            </a:r>
          </a:p>
          <a:p>
            <a:pPr algn="l">
              <a:lnSpc>
                <a:spcPct val="110000"/>
              </a:lnSpc>
              <a:spcBef>
                <a:spcPts val="0"/>
              </a:spcBef>
              <a:spcAft>
                <a:spcPts val="900"/>
              </a:spcAft>
            </a:pPr>
            <a:r>
              <a:rPr sz="1400" b="0" i="0">
                <a:solidFill>
                  <a:srgbClr val="9AA8C8"/>
                </a:solidFill>
                <a:latin typeface="Segoe UI"/>
              </a:rPr>
              <a:t>Consistent, compliant, improving decisions across every insurer on the platform.</a:t>
            </a:r>
          </a:p>
        </p:txBody>
      </p:sp>
      <p:sp>
        <p:nvSpPr>
          <p:cNvPr id="8" name="TextBox 7"/>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ML / DL / CV MODELS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Ensemble decision fusion</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Continuous learning pipeline</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Federated learning — privacy-preserving</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Model monitoring &amp; drift detection</a:t>
            </a:r>
          </a:p>
          <a:p>
            <a:pPr algn="l">
              <a:spcBef>
                <a:spcPts val="600"/>
              </a:spcBef>
              <a:spcAft>
                <a:spcPts val="300"/>
              </a:spcAft>
            </a:pPr>
            <a:r>
              <a:rPr sz="1250" b="1" i="0">
                <a:solidFill>
                  <a:srgbClr val="2DD4E0"/>
                </a:solidFill>
                <a:latin typeface="Segoe UI Semibold"/>
              </a:rPr>
              <a:t>WORKFLOW</a:t>
            </a:r>
          </a:p>
          <a:p>
            <a:pPr algn="l">
              <a:lnSpc>
                <a:spcPct val="110000"/>
              </a:lnSpc>
              <a:spcBef>
                <a:spcPts val="0"/>
              </a:spcBef>
              <a:spcAft>
                <a:spcPts val="900"/>
              </a:spcAft>
            </a:pPr>
            <a:r>
              <a:rPr sz="1400" b="0" i="0">
                <a:solidFill>
                  <a:srgbClr val="9AA8C8"/>
                </a:solidFill>
                <a:latin typeface="Segoe UI"/>
              </a:rPr>
              <a:t>Signals → policy-aware decision → explanation + audit → human-in-the-loop → feedback → retrain.</a:t>
            </a:r>
          </a:p>
          <a:p>
            <a:pPr algn="l">
              <a:spcBef>
                <a:spcPts val="600"/>
              </a:spcBef>
              <a:spcAft>
                <a:spcPts val="300"/>
              </a:spcAft>
            </a:pPr>
            <a:r>
              <a:rPr sz="1250" b="1" i="0">
                <a:solidFill>
                  <a:srgbClr val="2DD4E0"/>
                </a:solidFill>
                <a:latin typeface="Segoe UI Semibold"/>
              </a:rPr>
              <a:t>REVENUE</a:t>
            </a:r>
          </a:p>
          <a:p>
            <a:pPr algn="l">
              <a:lnSpc>
                <a:spcPct val="110000"/>
              </a:lnSpc>
              <a:spcBef>
                <a:spcPts val="0"/>
              </a:spcBef>
              <a:spcAft>
                <a:spcPts val="900"/>
              </a:spcAft>
            </a:pPr>
            <a:r>
              <a:rPr sz="1400" b="0" i="0">
                <a:solidFill>
                  <a:srgbClr val="9AA8C8"/>
                </a:solidFill>
                <a:latin typeface="Segoe UI"/>
              </a:rPr>
              <a:t>Core platform tier — the layer everything else feeds.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FRONTIER · MOAT</a:t>
            </a:r>
          </a:p>
          <a:p>
            <a:pPr algn="l">
              <a:spcBef>
                <a:spcPts val="0"/>
              </a:spcBef>
              <a:spcAft>
                <a:spcPts val="0"/>
              </a:spcAft>
            </a:pPr>
            <a:r>
              <a:rPr sz="2900" b="1" i="0">
                <a:solidFill>
                  <a:srgbClr val="F5F8FF"/>
                </a:solidFill>
                <a:latin typeface="Segoe UI Semibold"/>
              </a:rPr>
              <a:t>Vision — Insurance Foundation Model &amp; Knowledge Graph</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38</a:t>
            </a:r>
          </a:p>
        </p:txBody>
      </p:sp>
      <p:sp>
        <p:nvSpPr>
          <p:cNvPr id="6" name="Rounded Rectangle 5"/>
          <p:cNvSpPr/>
          <p:nvPr/>
        </p:nvSpPr>
        <p:spPr>
          <a:xfrm>
            <a:off x="10058400" y="566928"/>
            <a:ext cx="1737360" cy="310896"/>
          </a:xfrm>
          <a:prstGeom prst="roundRect">
            <a:avLst/>
          </a:prstGeom>
          <a:solidFill>
            <a:srgbClr val="332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4B440"/>
                </a:solidFill>
                <a:latin typeface="Segoe UI"/>
              </a:rPr>
              <a:t>VISION / ROADMAP</a:t>
            </a:r>
          </a:p>
        </p:txBody>
      </p:sp>
      <p:sp>
        <p:nvSpPr>
          <p:cNvPr id="7" name="TextBox 6"/>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PROBLEM</a:t>
            </a:r>
          </a:p>
          <a:p>
            <a:pPr algn="l">
              <a:lnSpc>
                <a:spcPct val="110000"/>
              </a:lnSpc>
              <a:spcBef>
                <a:spcPts val="0"/>
              </a:spcBef>
              <a:spcAft>
                <a:spcPts val="900"/>
              </a:spcAft>
            </a:pPr>
            <a:r>
              <a:rPr sz="1400" b="0" i="0">
                <a:solidFill>
                  <a:srgbClr val="9AA8C8"/>
                </a:solidFill>
                <a:latin typeface="Segoe UI"/>
              </a:rPr>
              <a:t>General LLMs don't understand insurance deeply; knowledge is fragmented across policies, claims and regulation.</a:t>
            </a:r>
          </a:p>
          <a:p>
            <a:pPr algn="l">
              <a:spcBef>
                <a:spcPts val="600"/>
              </a:spcBef>
              <a:spcAft>
                <a:spcPts val="300"/>
              </a:spcAft>
            </a:pPr>
            <a:r>
              <a:rPr sz="1250" b="1" i="0">
                <a:solidFill>
                  <a:srgbClr val="2DD4E0"/>
                </a:solidFill>
                <a:latin typeface="Segoe UI Semibold"/>
              </a:rPr>
              <a:t>OUR SOLUTION</a:t>
            </a:r>
          </a:p>
          <a:p>
            <a:pPr algn="l">
              <a:lnSpc>
                <a:spcPct val="110000"/>
              </a:lnSpc>
              <a:spcBef>
                <a:spcPts val="0"/>
              </a:spcBef>
              <a:spcAft>
                <a:spcPts val="900"/>
              </a:spcAft>
            </a:pPr>
            <a:r>
              <a:rPr sz="1400" b="0" i="0">
                <a:solidFill>
                  <a:srgbClr val="9AA8C8"/>
                </a:solidFill>
                <a:latin typeface="Segoe UI"/>
              </a:rPr>
              <a:t>A private, insurance-specific foundation model plus an Insurance Knowledge Graph powering an ‘Insurance Copilot' for staff and customers.</a:t>
            </a:r>
          </a:p>
          <a:p>
            <a:pPr algn="l">
              <a:spcBef>
                <a:spcPts val="600"/>
              </a:spcBef>
              <a:spcAft>
                <a:spcPts val="300"/>
              </a:spcAft>
            </a:pPr>
            <a:r>
              <a:rPr sz="1250" b="1" i="0">
                <a:solidFill>
                  <a:srgbClr val="2DD4E0"/>
                </a:solidFill>
                <a:latin typeface="Segoe UI Semibold"/>
              </a:rPr>
              <a:t>ENTERPRISE BENEFIT</a:t>
            </a:r>
          </a:p>
          <a:p>
            <a:pPr algn="l">
              <a:lnSpc>
                <a:spcPct val="110000"/>
              </a:lnSpc>
              <a:spcBef>
                <a:spcPts val="0"/>
              </a:spcBef>
              <a:spcAft>
                <a:spcPts val="900"/>
              </a:spcAft>
            </a:pPr>
            <a:r>
              <a:rPr sz="1400" b="0" i="0">
                <a:solidFill>
                  <a:srgbClr val="9AA8C8"/>
                </a:solidFill>
                <a:latin typeface="Segoe UI"/>
              </a:rPr>
              <a:t>A compounding data moat and the industry's default insurance intelligence.</a:t>
            </a:r>
          </a:p>
        </p:txBody>
      </p:sp>
      <p:sp>
        <p:nvSpPr>
          <p:cNvPr id="8" name="TextBox 7"/>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ML / DL / CV MODELS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Domain-adapted foundation model</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Insurance Knowledge Graph</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Retrieval-augmented Copilot</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Digital Twin &amp; predictive fraud simulation</a:t>
            </a:r>
          </a:p>
          <a:p>
            <a:pPr algn="l">
              <a:spcBef>
                <a:spcPts val="600"/>
              </a:spcBef>
              <a:spcAft>
                <a:spcPts val="300"/>
              </a:spcAft>
            </a:pPr>
            <a:r>
              <a:rPr sz="1250" b="1" i="0">
                <a:solidFill>
                  <a:srgbClr val="2DD4E0"/>
                </a:solidFill>
                <a:latin typeface="Segoe UI Semibold"/>
              </a:rPr>
              <a:t>WORKFLOW</a:t>
            </a:r>
          </a:p>
          <a:p>
            <a:pPr algn="l">
              <a:lnSpc>
                <a:spcPct val="110000"/>
              </a:lnSpc>
              <a:spcBef>
                <a:spcPts val="0"/>
              </a:spcBef>
              <a:spcAft>
                <a:spcPts val="900"/>
              </a:spcAft>
            </a:pPr>
            <a:r>
              <a:rPr sz="1400" b="0" i="0">
                <a:solidFill>
                  <a:srgbClr val="9AA8C8"/>
                </a:solidFill>
                <a:latin typeface="Segoe UI"/>
              </a:rPr>
              <a:t>Curated insurance corpus → domain model + graph → Copilot &amp; predictive services across the platform.</a:t>
            </a:r>
          </a:p>
          <a:p>
            <a:pPr algn="l">
              <a:spcBef>
                <a:spcPts val="600"/>
              </a:spcBef>
              <a:spcAft>
                <a:spcPts val="300"/>
              </a:spcAft>
            </a:pPr>
            <a:r>
              <a:rPr sz="1250" b="1" i="0">
                <a:solidFill>
                  <a:srgbClr val="2DD4E0"/>
                </a:solidFill>
                <a:latin typeface="Segoe UI Semibold"/>
              </a:rPr>
              <a:t>REVENUE</a:t>
            </a:r>
          </a:p>
          <a:p>
            <a:pPr algn="l">
              <a:lnSpc>
                <a:spcPct val="110000"/>
              </a:lnSpc>
              <a:spcBef>
                <a:spcPts val="0"/>
              </a:spcBef>
              <a:spcAft>
                <a:spcPts val="900"/>
              </a:spcAft>
            </a:pPr>
            <a:r>
              <a:rPr sz="1400" b="0" i="0">
                <a:solidFill>
                  <a:srgbClr val="9AA8C8"/>
                </a:solidFill>
                <a:latin typeface="Segoe UI"/>
              </a:rPr>
              <a:t>Platform-wide differentiator; licensing &amp; premium intelligence tiers.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ML / DL / CV</a:t>
            </a:r>
          </a:p>
          <a:p>
            <a:pPr algn="l">
              <a:spcBef>
                <a:spcPts val="0"/>
              </a:spcBef>
              <a:spcAft>
                <a:spcPts val="0"/>
              </a:spcAft>
            </a:pPr>
            <a:r>
              <a:rPr sz="2900" b="1" i="0">
                <a:solidFill>
                  <a:srgbClr val="F5F8FF"/>
                </a:solidFill>
                <a:latin typeface="Segoe UI Semibold"/>
              </a:rPr>
              <a:t>The Machine-Learning Portfolio</a:t>
            </a:r>
          </a:p>
          <a:p>
            <a:pPr algn="l">
              <a:spcBef>
                <a:spcPts val="200"/>
              </a:spcBef>
              <a:spcAft>
                <a:spcPts val="0"/>
              </a:spcAft>
            </a:pPr>
            <a:r>
              <a:rPr sz="1400" b="0" i="0">
                <a:solidFill>
                  <a:srgbClr val="9AA8C8"/>
                </a:solidFill>
                <a:latin typeface="Segoe UI"/>
              </a:rPr>
              <a:t>Right model for each job — sequenced by roadmap.</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39</a:t>
            </a:r>
          </a:p>
        </p:txBody>
      </p:sp>
      <p:sp>
        <p:nvSpPr>
          <p:cNvPr id="6" name="Rectangle 5"/>
          <p:cNvSpPr/>
          <p:nvPr/>
        </p:nvSpPr>
        <p:spPr>
          <a:xfrm>
            <a:off x="868680" y="1828800"/>
            <a:ext cx="4572000" cy="512064"/>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Model / algorithm</a:t>
            </a:r>
          </a:p>
        </p:txBody>
      </p:sp>
      <p:sp>
        <p:nvSpPr>
          <p:cNvPr id="7" name="Rectangle 6"/>
          <p:cNvSpPr/>
          <p:nvPr/>
        </p:nvSpPr>
        <p:spPr>
          <a:xfrm>
            <a:off x="5440680" y="1828800"/>
            <a:ext cx="3931920" cy="512064"/>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Primary use</a:t>
            </a:r>
          </a:p>
        </p:txBody>
      </p:sp>
      <p:sp>
        <p:nvSpPr>
          <p:cNvPr id="8" name="Rectangle 7"/>
          <p:cNvSpPr/>
          <p:nvPr/>
        </p:nvSpPr>
        <p:spPr>
          <a:xfrm>
            <a:off x="9372600" y="1828800"/>
            <a:ext cx="2011680" cy="512064"/>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Phase</a:t>
            </a:r>
          </a:p>
        </p:txBody>
      </p:sp>
      <p:sp>
        <p:nvSpPr>
          <p:cNvPr id="9" name="Rectangle 8"/>
          <p:cNvSpPr/>
          <p:nvPr/>
        </p:nvSpPr>
        <p:spPr>
          <a:xfrm>
            <a:off x="868680" y="2340864"/>
            <a:ext cx="457200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Isolation Forest · Autoencoder</a:t>
            </a:r>
          </a:p>
        </p:txBody>
      </p:sp>
      <p:sp>
        <p:nvSpPr>
          <p:cNvPr id="10" name="Rectangle 9"/>
          <p:cNvSpPr/>
          <p:nvPr/>
        </p:nvSpPr>
        <p:spPr>
          <a:xfrm>
            <a:off x="5440680" y="2340864"/>
            <a:ext cx="393192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Claim anomaly detection</a:t>
            </a:r>
          </a:p>
        </p:txBody>
      </p:sp>
      <p:sp>
        <p:nvSpPr>
          <p:cNvPr id="11" name="Rectangle 10"/>
          <p:cNvSpPr/>
          <p:nvPr/>
        </p:nvSpPr>
        <p:spPr>
          <a:xfrm>
            <a:off x="9372600" y="2340864"/>
            <a:ext cx="201168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Fraud</a:t>
            </a:r>
          </a:p>
        </p:txBody>
      </p:sp>
      <p:sp>
        <p:nvSpPr>
          <p:cNvPr id="12" name="Rectangle 11"/>
          <p:cNvSpPr/>
          <p:nvPr/>
        </p:nvSpPr>
        <p:spPr>
          <a:xfrm>
            <a:off x="868680" y="2852928"/>
            <a:ext cx="457200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XGBoost · LightGBM · Random Forest</a:t>
            </a:r>
          </a:p>
        </p:txBody>
      </p:sp>
      <p:sp>
        <p:nvSpPr>
          <p:cNvPr id="13" name="Rectangle 12"/>
          <p:cNvSpPr/>
          <p:nvPr/>
        </p:nvSpPr>
        <p:spPr>
          <a:xfrm>
            <a:off x="5440680" y="2852928"/>
            <a:ext cx="393192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Supervised fraud/risk scoring</a:t>
            </a:r>
          </a:p>
        </p:txBody>
      </p:sp>
      <p:sp>
        <p:nvSpPr>
          <p:cNvPr id="14" name="Rectangle 13"/>
          <p:cNvSpPr/>
          <p:nvPr/>
        </p:nvSpPr>
        <p:spPr>
          <a:xfrm>
            <a:off x="9372600" y="2852928"/>
            <a:ext cx="201168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Fraud</a:t>
            </a:r>
          </a:p>
        </p:txBody>
      </p:sp>
      <p:sp>
        <p:nvSpPr>
          <p:cNvPr id="15" name="Rectangle 14"/>
          <p:cNvSpPr/>
          <p:nvPr/>
        </p:nvSpPr>
        <p:spPr>
          <a:xfrm>
            <a:off x="868680" y="3364992"/>
            <a:ext cx="457200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Graph Neural Networks</a:t>
            </a:r>
          </a:p>
        </p:txBody>
      </p:sp>
      <p:sp>
        <p:nvSpPr>
          <p:cNvPr id="16" name="Rectangle 15"/>
          <p:cNvSpPr/>
          <p:nvPr/>
        </p:nvSpPr>
        <p:spPr>
          <a:xfrm>
            <a:off x="5440680" y="3364992"/>
            <a:ext cx="393192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Fraud-ring / network detection</a:t>
            </a:r>
          </a:p>
        </p:txBody>
      </p:sp>
      <p:sp>
        <p:nvSpPr>
          <p:cNvPr id="17" name="Rectangle 16"/>
          <p:cNvSpPr/>
          <p:nvPr/>
        </p:nvSpPr>
        <p:spPr>
          <a:xfrm>
            <a:off x="9372600" y="3364992"/>
            <a:ext cx="201168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Fraud</a:t>
            </a:r>
          </a:p>
        </p:txBody>
      </p:sp>
      <p:sp>
        <p:nvSpPr>
          <p:cNvPr id="18" name="Rectangle 17"/>
          <p:cNvSpPr/>
          <p:nvPr/>
        </p:nvSpPr>
        <p:spPr>
          <a:xfrm>
            <a:off x="868680" y="3877056"/>
            <a:ext cx="457200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YOLO · SAM · CNN</a:t>
            </a:r>
          </a:p>
        </p:txBody>
      </p:sp>
      <p:sp>
        <p:nvSpPr>
          <p:cNvPr id="19" name="Rectangle 18"/>
          <p:cNvSpPr/>
          <p:nvPr/>
        </p:nvSpPr>
        <p:spPr>
          <a:xfrm>
            <a:off x="5440680" y="3877056"/>
            <a:ext cx="393192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Damage detect / segment / grade</a:t>
            </a:r>
          </a:p>
        </p:txBody>
      </p:sp>
      <p:sp>
        <p:nvSpPr>
          <p:cNvPr id="20" name="Rectangle 19"/>
          <p:cNvSpPr/>
          <p:nvPr/>
        </p:nvSpPr>
        <p:spPr>
          <a:xfrm>
            <a:off x="9372600" y="3877056"/>
            <a:ext cx="201168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Damage</a:t>
            </a:r>
          </a:p>
        </p:txBody>
      </p:sp>
      <p:sp>
        <p:nvSpPr>
          <p:cNvPr id="21" name="Rectangle 20"/>
          <p:cNvSpPr/>
          <p:nvPr/>
        </p:nvSpPr>
        <p:spPr>
          <a:xfrm>
            <a:off x="868680" y="4389120"/>
            <a:ext cx="457200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Vision Transformers</a:t>
            </a:r>
          </a:p>
        </p:txBody>
      </p:sp>
      <p:sp>
        <p:nvSpPr>
          <p:cNvPr id="22" name="Rectangle 21"/>
          <p:cNvSpPr/>
          <p:nvPr/>
        </p:nvSpPr>
        <p:spPr>
          <a:xfrm>
            <a:off x="5440680" y="4389120"/>
            <a:ext cx="393192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OCR, forgery, severity</a:t>
            </a:r>
          </a:p>
        </p:txBody>
      </p:sp>
      <p:sp>
        <p:nvSpPr>
          <p:cNvPr id="23" name="Rectangle 22"/>
          <p:cNvSpPr/>
          <p:nvPr/>
        </p:nvSpPr>
        <p:spPr>
          <a:xfrm>
            <a:off x="9372600" y="4389120"/>
            <a:ext cx="201168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OCR / Damage</a:t>
            </a:r>
          </a:p>
        </p:txBody>
      </p:sp>
      <p:sp>
        <p:nvSpPr>
          <p:cNvPr id="24" name="Rectangle 23"/>
          <p:cNvSpPr/>
          <p:nvPr/>
        </p:nvSpPr>
        <p:spPr>
          <a:xfrm>
            <a:off x="868680" y="4901184"/>
            <a:ext cx="457200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LSTM · Transformers</a:t>
            </a:r>
          </a:p>
        </p:txBody>
      </p:sp>
      <p:sp>
        <p:nvSpPr>
          <p:cNvPr id="25" name="Rectangle 24"/>
          <p:cNvSpPr/>
          <p:nvPr/>
        </p:nvSpPr>
        <p:spPr>
          <a:xfrm>
            <a:off x="5440680" y="4901184"/>
            <a:ext cx="393192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Sequence &amp; behaviour modelling</a:t>
            </a:r>
          </a:p>
        </p:txBody>
      </p:sp>
      <p:sp>
        <p:nvSpPr>
          <p:cNvPr id="26" name="Rectangle 25"/>
          <p:cNvSpPr/>
          <p:nvPr/>
        </p:nvSpPr>
        <p:spPr>
          <a:xfrm>
            <a:off x="9372600" y="4901184"/>
            <a:ext cx="2011680" cy="51206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F4B440"/>
                </a:solidFill>
                <a:latin typeface="Segoe UI"/>
              </a:rPr>
              <a:t>Behaviour</a:t>
            </a:r>
          </a:p>
        </p:txBody>
      </p:sp>
      <p:sp>
        <p:nvSpPr>
          <p:cNvPr id="27" name="Rectangle 26"/>
          <p:cNvSpPr/>
          <p:nvPr/>
        </p:nvSpPr>
        <p:spPr>
          <a:xfrm>
            <a:off x="868680" y="5413248"/>
            <a:ext cx="457200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LLMs (provider-agnostic)</a:t>
            </a:r>
          </a:p>
        </p:txBody>
      </p:sp>
      <p:sp>
        <p:nvSpPr>
          <p:cNvPr id="28" name="Rectangle 27"/>
          <p:cNvSpPr/>
          <p:nvPr/>
        </p:nvSpPr>
        <p:spPr>
          <a:xfrm>
            <a:off x="5440680" y="5413248"/>
            <a:ext cx="393192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F5F8FF"/>
                </a:solidFill>
                <a:latin typeface="Segoe UI"/>
              </a:rPr>
              <a:t>Advisory, reasoning, Copilot</a:t>
            </a:r>
          </a:p>
        </p:txBody>
      </p:sp>
      <p:sp>
        <p:nvSpPr>
          <p:cNvPr id="29" name="Rectangle 28"/>
          <p:cNvSpPr/>
          <p:nvPr/>
        </p:nvSpPr>
        <p:spPr>
          <a:xfrm>
            <a:off x="9372600" y="5413248"/>
            <a:ext cx="2011680" cy="51206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LIVE + Vision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API-AS-A-SERVICE</a:t>
            </a:r>
          </a:p>
          <a:p>
            <a:pPr algn="l">
              <a:spcBef>
                <a:spcPts val="0"/>
              </a:spcBef>
              <a:spcAft>
                <a:spcPts val="0"/>
              </a:spcAft>
            </a:pPr>
            <a:r>
              <a:rPr sz="2900" b="1" i="0">
                <a:solidFill>
                  <a:srgbClr val="F5F8FF"/>
                </a:solidFill>
                <a:latin typeface="Segoe UI Semibold"/>
              </a:rPr>
              <a:t>The API Platform — How Insurers Integrate</a:t>
            </a:r>
          </a:p>
          <a:p>
            <a:pPr algn="l">
              <a:spcBef>
                <a:spcPts val="200"/>
              </a:spcBef>
              <a:spcAft>
                <a:spcPts val="0"/>
              </a:spcAft>
            </a:pPr>
            <a:r>
              <a:rPr sz="1400" b="0" i="0">
                <a:solidFill>
                  <a:srgbClr val="9AA8C8"/>
                </a:solidFill>
                <a:latin typeface="Segoe UI"/>
              </a:rPr>
              <a:t>One integration, many intelligences.</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Business</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40</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INTEGRATION SURFACE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REST APIs + SDKs for each intelligence module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API keys, scoped auth, rate limits &amp; quotas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Developer portal: docs, sandbox, usage &amp; billing</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Webhooks &amp; async jobs for heavy CV workloads</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ENTERPRISE INTEGRATION</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Sits beside core systems — no rip-and-replace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Multi-tenant isolation &amp; per-tenant governance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Explainability &amp; audit exposed through the API</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Status: service API live; full platform is roadmap</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API architecture: insurer app → API gateway (authz/rate-limit) → intelligence services → audit.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HOW WE MAKE MONEY</a:t>
            </a:r>
          </a:p>
          <a:p>
            <a:pPr algn="l">
              <a:spcBef>
                <a:spcPts val="0"/>
              </a:spcBef>
              <a:spcAft>
                <a:spcPts val="0"/>
              </a:spcAft>
            </a:pPr>
            <a:r>
              <a:rPr sz="2900" b="1" i="0">
                <a:solidFill>
                  <a:srgbClr val="F5F8FF"/>
                </a:solidFill>
                <a:latin typeface="Segoe UI Semibold"/>
              </a:rPr>
              <a:t>Business Model</a:t>
            </a:r>
          </a:p>
          <a:p>
            <a:pPr algn="l">
              <a:spcBef>
                <a:spcPts val="200"/>
              </a:spcBef>
              <a:spcAft>
                <a:spcPts val="0"/>
              </a:spcAft>
            </a:pPr>
            <a:r>
              <a:rPr sz="1400" b="0" i="0">
                <a:solidFill>
                  <a:srgbClr val="9AA8C8"/>
                </a:solidFill>
                <a:latin typeface="Segoe UI"/>
              </a:rPr>
              <a:t>Multiple, compounding revenue lines off one platform.</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Business</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41</a:t>
            </a:r>
          </a:p>
        </p:txBody>
      </p:sp>
      <p:sp>
        <p:nvSpPr>
          <p:cNvPr id="6" name="Rounded Rectangle 5"/>
          <p:cNvSpPr/>
          <p:nvPr/>
        </p:nvSpPr>
        <p:spPr>
          <a:xfrm>
            <a:off x="868680" y="196596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37160"/>
          <a:lstStyle/>
          <a:p>
            <a:pPr algn="l">
              <a:spcBef>
                <a:spcPts val="0"/>
              </a:spcBef>
              <a:spcAft>
                <a:spcPts val="400"/>
              </a:spcAft>
            </a:pPr>
            <a:r>
              <a:rPr sz="1450" b="1" i="0">
                <a:solidFill>
                  <a:srgbClr val="F5F8FF"/>
                </a:solidFill>
                <a:latin typeface="Segoe UI Semibold"/>
              </a:rPr>
              <a:t>Enterprise SaaS</a:t>
            </a:r>
          </a:p>
          <a:p>
            <a:pPr algn="l">
              <a:lnSpc>
                <a:spcPct val="105000"/>
              </a:lnSpc>
              <a:spcBef>
                <a:spcPts val="0"/>
              </a:spcBef>
              <a:spcAft>
                <a:spcPts val="0"/>
              </a:spcAft>
            </a:pPr>
            <a:r>
              <a:rPr sz="1150" b="0" i="0">
                <a:solidFill>
                  <a:srgbClr val="9AA8C8"/>
                </a:solidFill>
                <a:latin typeface="Segoe UI"/>
              </a:rPr>
              <a:t>Per-seat consoles for claims &amp; investigation teams</a:t>
            </a:r>
          </a:p>
        </p:txBody>
      </p:sp>
      <p:sp>
        <p:nvSpPr>
          <p:cNvPr id="7" name="Rectangle 6"/>
          <p:cNvSpPr/>
          <p:nvPr/>
        </p:nvSpPr>
        <p:spPr>
          <a:xfrm>
            <a:off x="868680" y="1965960"/>
            <a:ext cx="3429000" cy="64008"/>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62272" y="196596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37160"/>
          <a:lstStyle/>
          <a:p>
            <a:pPr algn="l">
              <a:spcBef>
                <a:spcPts val="0"/>
              </a:spcBef>
              <a:spcAft>
                <a:spcPts val="400"/>
              </a:spcAft>
            </a:pPr>
            <a:r>
              <a:rPr sz="1450" b="1" i="0">
                <a:solidFill>
                  <a:srgbClr val="F5F8FF"/>
                </a:solidFill>
                <a:latin typeface="Segoe UI Semibold"/>
              </a:rPr>
              <a:t>API usage pricing</a:t>
            </a:r>
          </a:p>
          <a:p>
            <a:pPr algn="l">
              <a:lnSpc>
                <a:spcPct val="105000"/>
              </a:lnSpc>
              <a:spcBef>
                <a:spcPts val="0"/>
              </a:spcBef>
              <a:spcAft>
                <a:spcPts val="0"/>
              </a:spcAft>
            </a:pPr>
            <a:r>
              <a:rPr sz="1150" b="0" i="0">
                <a:solidFill>
                  <a:srgbClr val="9AA8C8"/>
                </a:solidFill>
                <a:latin typeface="Segoe UI"/>
              </a:rPr>
              <a:t>Per-call / per-inspection / per-verification</a:t>
            </a:r>
          </a:p>
        </p:txBody>
      </p:sp>
      <p:sp>
        <p:nvSpPr>
          <p:cNvPr id="9" name="Rectangle 8"/>
          <p:cNvSpPr/>
          <p:nvPr/>
        </p:nvSpPr>
        <p:spPr>
          <a:xfrm>
            <a:off x="4462272" y="1965960"/>
            <a:ext cx="3429000" cy="64008"/>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55864" y="196596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37160"/>
          <a:lstStyle/>
          <a:p>
            <a:pPr algn="l">
              <a:spcBef>
                <a:spcPts val="0"/>
              </a:spcBef>
              <a:spcAft>
                <a:spcPts val="400"/>
              </a:spcAft>
            </a:pPr>
            <a:r>
              <a:rPr sz="1450" b="1" i="0">
                <a:solidFill>
                  <a:srgbClr val="F5F8FF"/>
                </a:solidFill>
                <a:latin typeface="Segoe UI Semibold"/>
              </a:rPr>
              <a:t>Enterprise licence</a:t>
            </a:r>
          </a:p>
          <a:p>
            <a:pPr algn="l">
              <a:lnSpc>
                <a:spcPct val="105000"/>
              </a:lnSpc>
              <a:spcBef>
                <a:spcPts val="0"/>
              </a:spcBef>
              <a:spcAft>
                <a:spcPts val="0"/>
              </a:spcAft>
            </a:pPr>
            <a:r>
              <a:rPr sz="1150" b="0" i="0">
                <a:solidFill>
                  <a:srgbClr val="9AA8C8"/>
                </a:solidFill>
                <a:latin typeface="Segoe UI"/>
              </a:rPr>
              <a:t>Annual platform contracts with SLAs</a:t>
            </a:r>
          </a:p>
        </p:txBody>
      </p:sp>
      <p:sp>
        <p:nvSpPr>
          <p:cNvPr id="11" name="Rectangle 10"/>
          <p:cNvSpPr/>
          <p:nvPr/>
        </p:nvSpPr>
        <p:spPr>
          <a:xfrm>
            <a:off x="8055864" y="1965960"/>
            <a:ext cx="3429000" cy="64008"/>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356616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37160"/>
          <a:lstStyle/>
          <a:p>
            <a:pPr algn="l">
              <a:spcBef>
                <a:spcPts val="0"/>
              </a:spcBef>
              <a:spcAft>
                <a:spcPts val="400"/>
              </a:spcAft>
            </a:pPr>
            <a:r>
              <a:rPr sz="1450" b="1" i="0">
                <a:solidFill>
                  <a:srgbClr val="F5F8FF"/>
                </a:solidFill>
                <a:latin typeface="Segoe UI Semibold"/>
              </a:rPr>
              <a:t>White-label</a:t>
            </a:r>
          </a:p>
          <a:p>
            <a:pPr algn="l">
              <a:lnSpc>
                <a:spcPct val="105000"/>
              </a:lnSpc>
              <a:spcBef>
                <a:spcPts val="0"/>
              </a:spcBef>
              <a:spcAft>
                <a:spcPts val="0"/>
              </a:spcAft>
            </a:pPr>
            <a:r>
              <a:rPr sz="1150" b="0" i="0">
                <a:solidFill>
                  <a:srgbClr val="9AA8C8"/>
                </a:solidFill>
                <a:latin typeface="Segoe UI"/>
              </a:rPr>
              <a:t>Insurer-branded advisory &amp; portals</a:t>
            </a:r>
          </a:p>
        </p:txBody>
      </p:sp>
      <p:sp>
        <p:nvSpPr>
          <p:cNvPr id="13" name="Rectangle 12"/>
          <p:cNvSpPr/>
          <p:nvPr/>
        </p:nvSpPr>
        <p:spPr>
          <a:xfrm>
            <a:off x="868680" y="3566160"/>
            <a:ext cx="3429000" cy="64008"/>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62272" y="356616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37160"/>
          <a:lstStyle/>
          <a:p>
            <a:pPr algn="l">
              <a:spcBef>
                <a:spcPts val="0"/>
              </a:spcBef>
              <a:spcAft>
                <a:spcPts val="400"/>
              </a:spcAft>
            </a:pPr>
            <a:r>
              <a:rPr sz="1450" b="1" i="0">
                <a:solidFill>
                  <a:srgbClr val="F5F8FF"/>
                </a:solidFill>
                <a:latin typeface="Segoe UI Semibold"/>
              </a:rPr>
              <a:t>Developer APIs</a:t>
            </a:r>
          </a:p>
          <a:p>
            <a:pPr algn="l">
              <a:lnSpc>
                <a:spcPct val="105000"/>
              </a:lnSpc>
              <a:spcBef>
                <a:spcPts val="0"/>
              </a:spcBef>
              <a:spcAft>
                <a:spcPts val="0"/>
              </a:spcAft>
            </a:pPr>
            <a:r>
              <a:rPr sz="1150" b="0" i="0">
                <a:solidFill>
                  <a:srgbClr val="9AA8C8"/>
                </a:solidFill>
                <a:latin typeface="Segoe UI"/>
              </a:rPr>
              <a:t>Self-serve tiers for insurtech builders</a:t>
            </a:r>
          </a:p>
        </p:txBody>
      </p:sp>
      <p:sp>
        <p:nvSpPr>
          <p:cNvPr id="15" name="Rectangle 14"/>
          <p:cNvSpPr/>
          <p:nvPr/>
        </p:nvSpPr>
        <p:spPr>
          <a:xfrm>
            <a:off x="4462272" y="3566160"/>
            <a:ext cx="3429000" cy="64008"/>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55864" y="356616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37160"/>
          <a:lstStyle/>
          <a:p>
            <a:pPr algn="l">
              <a:spcBef>
                <a:spcPts val="0"/>
              </a:spcBef>
              <a:spcAft>
                <a:spcPts val="400"/>
              </a:spcAft>
            </a:pPr>
            <a:r>
              <a:rPr sz="1450" b="1" i="0">
                <a:solidFill>
                  <a:srgbClr val="F5F8FF"/>
                </a:solidFill>
                <a:latin typeface="Segoe UI Semibold"/>
              </a:rPr>
              <a:t>Public sector &amp; health</a:t>
            </a:r>
          </a:p>
          <a:p>
            <a:pPr algn="l">
              <a:lnSpc>
                <a:spcPct val="105000"/>
              </a:lnSpc>
              <a:spcBef>
                <a:spcPts val="0"/>
              </a:spcBef>
              <a:spcAft>
                <a:spcPts val="0"/>
              </a:spcAft>
            </a:pPr>
            <a:r>
              <a:rPr sz="1150" b="0" i="0">
                <a:solidFill>
                  <a:srgbClr val="9AA8C8"/>
                </a:solidFill>
                <a:latin typeface="Segoe UI"/>
              </a:rPr>
              <a:t>Govt schemes, hospitals, TPAs</a:t>
            </a:r>
          </a:p>
        </p:txBody>
      </p:sp>
      <p:sp>
        <p:nvSpPr>
          <p:cNvPr id="17" name="Rectangle 16"/>
          <p:cNvSpPr/>
          <p:nvPr/>
        </p:nvSpPr>
        <p:spPr>
          <a:xfrm>
            <a:off x="8055864" y="3566160"/>
            <a:ext cx="3429000" cy="64008"/>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WHY NOW</a:t>
            </a:r>
          </a:p>
          <a:p>
            <a:pPr algn="l">
              <a:spcBef>
                <a:spcPts val="0"/>
              </a:spcBef>
              <a:spcAft>
                <a:spcPts val="0"/>
              </a:spcAft>
            </a:pPr>
            <a:r>
              <a:rPr sz="2900" b="1" i="0">
                <a:solidFill>
                  <a:srgbClr val="F5F8FF"/>
                </a:solidFill>
                <a:latin typeface="Segoe UI Semibold"/>
              </a:rPr>
              <a:t>Market Opportunity</a:t>
            </a:r>
          </a:p>
          <a:p>
            <a:pPr algn="l">
              <a:spcBef>
                <a:spcPts val="200"/>
              </a:spcBef>
              <a:spcAft>
                <a:spcPts val="0"/>
              </a:spcAft>
            </a:pPr>
            <a:r>
              <a:rPr sz="1400" b="0" i="0">
                <a:solidFill>
                  <a:srgbClr val="9AA8C8"/>
                </a:solidFill>
                <a:latin typeface="Segoe UI"/>
              </a:rPr>
              <a:t>A large, digitising, trust-starved industry.</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Business</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42</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THE OPENING</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Global insurance is a multi-trillion-dollar premium market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Fraud leakage is widely estimated in the hundreds of billions/yr</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Insurers are actively buying AI but distrust black boxes</a:t>
            </a:r>
          </a:p>
          <a:p>
            <a:pPr algn="l" lvl="1">
              <a:spcBef>
                <a:spcPts val="0"/>
              </a:spcBef>
              <a:spcAft>
                <a:spcPts val="500"/>
              </a:spcAft>
            </a:pPr>
            <a:r>
              <a:rPr sz="1300" b="0" i="0">
                <a:solidFill>
                  <a:srgbClr val="9AA8C8"/>
                </a:solidFill>
                <a:latin typeface="Segoe UI"/>
              </a:rPr>
              <a:t>–  </a:t>
            </a:r>
            <a:r>
              <a:rPr sz="1300" b="0" i="0">
                <a:solidFill>
                  <a:srgbClr val="9AA8C8"/>
                </a:solidFill>
                <a:latin typeface="Segoe UI"/>
              </a:rPr>
              <a:t>Figures are cited industry estimates, not our measurements</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WHY NOW</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LLMs made explainable, conversational AI viable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CV &amp; graph ML matured for fraud/damage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Regulation is demanding transparency — our default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API-first integration lowers the adoption barrier</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TAM/SAM/SOM funnel (labelled ‘illustrative, from cited industry estimates').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ALTITUDE</a:t>
            </a:r>
          </a:p>
          <a:p>
            <a:pPr algn="l">
              <a:spcBef>
                <a:spcPts val="0"/>
              </a:spcBef>
              <a:spcAft>
                <a:spcPts val="0"/>
              </a:spcAft>
            </a:pPr>
            <a:r>
              <a:rPr sz="2900" b="1" i="0">
                <a:solidFill>
                  <a:srgbClr val="F5F8FF"/>
                </a:solidFill>
                <a:latin typeface="Segoe UI Semibold"/>
              </a:rPr>
              <a:t>Why This Is Not a Normal College Project</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Positioning</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43</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WHAT IT IS NOT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Not a single chatbot or a toy demo</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Not one model doing one narrow task</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Not throwaway coursework code</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WHAT IT IS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An enterprise AI platform with real architecture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AI infrastructure delivered as APIs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startup product with a business model</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research project mapping gaps → build</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 path to a private insurance foundation model</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Altitude ladder: script → app → product → platform → infrastructure → foundation model.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THE 5-PHASE PLAN</a:t>
            </a:r>
          </a:p>
          <a:p>
            <a:pPr algn="l">
              <a:spcBef>
                <a:spcPts val="0"/>
              </a:spcBef>
              <a:spcAft>
                <a:spcPts val="0"/>
              </a:spcAft>
            </a:pPr>
            <a:r>
              <a:rPr sz="2900" b="1" i="0">
                <a:solidFill>
                  <a:srgbClr val="F5F8FF"/>
                </a:solidFill>
                <a:latin typeface="Segoe UI Semibold"/>
              </a:rPr>
              <a:t>Product Roadmap</a:t>
            </a:r>
          </a:p>
          <a:p>
            <a:pPr algn="l">
              <a:spcBef>
                <a:spcPts val="200"/>
              </a:spcBef>
              <a:spcAft>
                <a:spcPts val="0"/>
              </a:spcAft>
            </a:pPr>
            <a:r>
              <a:rPr sz="1400" b="0" i="0">
                <a:solidFill>
                  <a:srgbClr val="9AA8C8"/>
                </a:solidFill>
                <a:latin typeface="Segoe UI"/>
              </a:rPr>
              <a:t>Five phases from coursework to category-defining infrastructure.</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Roadmap</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44</a:t>
            </a:r>
          </a:p>
        </p:txBody>
      </p:sp>
      <p:sp>
        <p:nvSpPr>
          <p:cNvPr id="6" name="Rectangle 5"/>
          <p:cNvSpPr/>
          <p:nvPr/>
        </p:nvSpPr>
        <p:spPr>
          <a:xfrm>
            <a:off x="868680" y="3703320"/>
            <a:ext cx="10424160" cy="45720"/>
          </a:xfrm>
          <a:prstGeom prst="rect">
            <a:avLst/>
          </a:prstGeom>
          <a:solidFill>
            <a:srgbClr val="2A3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10512" y="3611880"/>
            <a:ext cx="219456" cy="219456"/>
          </a:xfrm>
          <a:prstGeom prst="ellipse">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2743200"/>
            <a:ext cx="2103120" cy="77724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a:lstStyle/>
          <a:p>
            <a:pPr algn="l">
              <a:spcBef>
                <a:spcPts val="0"/>
              </a:spcBef>
              <a:spcAft>
                <a:spcPts val="100"/>
              </a:spcAft>
            </a:pPr>
            <a:r>
              <a:rPr sz="1100" b="1" i="0">
                <a:solidFill>
                  <a:srgbClr val="35D08A"/>
                </a:solidFill>
                <a:latin typeface="Segoe UI"/>
              </a:rPr>
              <a:t>Phase 1</a:t>
            </a:r>
          </a:p>
          <a:p>
            <a:pPr algn="l">
              <a:spcBef>
                <a:spcPts val="0"/>
              </a:spcBef>
              <a:spcAft>
                <a:spcPts val="0"/>
              </a:spcAft>
            </a:pPr>
            <a:r>
              <a:rPr sz="1300" b="1" i="0">
                <a:solidFill>
                  <a:srgbClr val="F5F8FF"/>
                </a:solidFill>
                <a:latin typeface="Segoe UI Semibold"/>
              </a:rPr>
              <a:t>College Project</a:t>
            </a:r>
          </a:p>
        </p:txBody>
      </p:sp>
      <p:sp>
        <p:nvSpPr>
          <p:cNvPr id="9" name="Rectangle 8"/>
          <p:cNvSpPr/>
          <p:nvPr/>
        </p:nvSpPr>
        <p:spPr>
          <a:xfrm>
            <a:off x="868680" y="2743200"/>
            <a:ext cx="2103120" cy="64008"/>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69080"/>
            <a:ext cx="2103120" cy="118872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9AA8C8"/>
                </a:solidFill>
                <a:latin typeface="Segoe UI"/>
              </a:rPr>
              <a:t>Multi-agent advisory MVP — DONE</a:t>
            </a:r>
          </a:p>
        </p:txBody>
      </p:sp>
      <p:sp>
        <p:nvSpPr>
          <p:cNvPr id="11" name="Oval 10"/>
          <p:cNvSpPr/>
          <p:nvPr/>
        </p:nvSpPr>
        <p:spPr>
          <a:xfrm>
            <a:off x="4169664" y="3611880"/>
            <a:ext cx="219456" cy="219456"/>
          </a:xfrm>
          <a:prstGeom prst="ellipse">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27832" y="2743200"/>
            <a:ext cx="2103120" cy="77724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a:lstStyle/>
          <a:p>
            <a:pPr algn="l">
              <a:spcBef>
                <a:spcPts val="0"/>
              </a:spcBef>
              <a:spcAft>
                <a:spcPts val="100"/>
              </a:spcAft>
            </a:pPr>
            <a:r>
              <a:rPr sz="1100" b="1" i="0">
                <a:solidFill>
                  <a:srgbClr val="F4B440"/>
                </a:solidFill>
                <a:latin typeface="Segoe UI"/>
              </a:rPr>
              <a:t>Phase 2</a:t>
            </a:r>
          </a:p>
          <a:p>
            <a:pPr algn="l">
              <a:spcBef>
                <a:spcPts val="0"/>
              </a:spcBef>
              <a:spcAft>
                <a:spcPts val="0"/>
              </a:spcAft>
            </a:pPr>
            <a:r>
              <a:rPr sz="1300" b="1" i="0">
                <a:solidFill>
                  <a:srgbClr val="F5F8FF"/>
                </a:solidFill>
                <a:latin typeface="Segoe UI Semibold"/>
              </a:rPr>
              <a:t>Startup MVP</a:t>
            </a:r>
          </a:p>
        </p:txBody>
      </p:sp>
      <p:sp>
        <p:nvSpPr>
          <p:cNvPr id="13" name="Rectangle 12"/>
          <p:cNvSpPr/>
          <p:nvPr/>
        </p:nvSpPr>
        <p:spPr>
          <a:xfrm>
            <a:off x="3227832" y="2743200"/>
            <a:ext cx="2103120" cy="64008"/>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7832" y="4069080"/>
            <a:ext cx="2103120" cy="118872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9AA8C8"/>
                </a:solidFill>
                <a:latin typeface="Segoe UI"/>
              </a:rPr>
              <a:t>Fraud · OCR · Damage v1 + API</a:t>
            </a:r>
          </a:p>
        </p:txBody>
      </p:sp>
      <p:sp>
        <p:nvSpPr>
          <p:cNvPr id="15" name="Oval 14"/>
          <p:cNvSpPr/>
          <p:nvPr/>
        </p:nvSpPr>
        <p:spPr>
          <a:xfrm>
            <a:off x="6528816" y="3611880"/>
            <a:ext cx="219456" cy="219456"/>
          </a:xfrm>
          <a:prstGeom prst="ellipse">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586984" y="2743200"/>
            <a:ext cx="2103120" cy="77724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a:lstStyle/>
          <a:p>
            <a:pPr algn="l">
              <a:spcBef>
                <a:spcPts val="0"/>
              </a:spcBef>
              <a:spcAft>
                <a:spcPts val="100"/>
              </a:spcAft>
            </a:pPr>
            <a:r>
              <a:rPr sz="1100" b="1" i="0">
                <a:solidFill>
                  <a:srgbClr val="F4B440"/>
                </a:solidFill>
                <a:latin typeface="Segoe UI"/>
              </a:rPr>
              <a:t>Phase 3</a:t>
            </a:r>
          </a:p>
          <a:p>
            <a:pPr algn="l">
              <a:spcBef>
                <a:spcPts val="0"/>
              </a:spcBef>
              <a:spcAft>
                <a:spcPts val="0"/>
              </a:spcAft>
            </a:pPr>
            <a:r>
              <a:rPr sz="1300" b="1" i="0">
                <a:solidFill>
                  <a:srgbClr val="F5F8FF"/>
                </a:solidFill>
                <a:latin typeface="Segoe UI Semibold"/>
              </a:rPr>
              <a:t>Enterprise SaaS</a:t>
            </a:r>
          </a:p>
        </p:txBody>
      </p:sp>
      <p:sp>
        <p:nvSpPr>
          <p:cNvPr id="17" name="Rectangle 16"/>
          <p:cNvSpPr/>
          <p:nvPr/>
        </p:nvSpPr>
        <p:spPr>
          <a:xfrm>
            <a:off x="5586984" y="2743200"/>
            <a:ext cx="2103120" cy="64008"/>
          </a:xfrm>
          <a:prstGeom prst="rect">
            <a:avLst/>
          </a:prstGeom>
          <a:solidFill>
            <a:srgbClr val="F4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86984" y="4069080"/>
            <a:ext cx="2103120" cy="118872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9AA8C8"/>
                </a:solidFill>
                <a:latin typeface="Segoe UI"/>
              </a:rPr>
              <a:t>Multi-tenant, governance, console</a:t>
            </a:r>
          </a:p>
        </p:txBody>
      </p:sp>
      <p:sp>
        <p:nvSpPr>
          <p:cNvPr id="19" name="Oval 18"/>
          <p:cNvSpPr/>
          <p:nvPr/>
        </p:nvSpPr>
        <p:spPr>
          <a:xfrm>
            <a:off x="8887968" y="3611880"/>
            <a:ext cx="219456" cy="219456"/>
          </a:xfrm>
          <a:prstGeom prst="ellipse">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946136" y="2743200"/>
            <a:ext cx="2103120" cy="77724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a:lstStyle/>
          <a:p>
            <a:pPr algn="l">
              <a:spcBef>
                <a:spcPts val="0"/>
              </a:spcBef>
              <a:spcAft>
                <a:spcPts val="100"/>
              </a:spcAft>
            </a:pPr>
            <a:r>
              <a:rPr sz="1100" b="1" i="0">
                <a:solidFill>
                  <a:srgbClr val="3B6EF5"/>
                </a:solidFill>
                <a:latin typeface="Segoe UI"/>
              </a:rPr>
              <a:t>Phase 4</a:t>
            </a:r>
          </a:p>
          <a:p>
            <a:pPr algn="l">
              <a:spcBef>
                <a:spcPts val="0"/>
              </a:spcBef>
              <a:spcAft>
                <a:spcPts val="0"/>
              </a:spcAft>
            </a:pPr>
            <a:r>
              <a:rPr sz="1300" b="1" i="0">
                <a:solidFill>
                  <a:srgbClr val="F5F8FF"/>
                </a:solidFill>
                <a:latin typeface="Segoe UI Semibold"/>
              </a:rPr>
              <a:t>Global API Platform</a:t>
            </a:r>
          </a:p>
        </p:txBody>
      </p:sp>
      <p:sp>
        <p:nvSpPr>
          <p:cNvPr id="21" name="Rectangle 20"/>
          <p:cNvSpPr/>
          <p:nvPr/>
        </p:nvSpPr>
        <p:spPr>
          <a:xfrm>
            <a:off x="7946136" y="2743200"/>
            <a:ext cx="2103120" cy="64008"/>
          </a:xfrm>
          <a:prstGeom prst="rect">
            <a:avLst/>
          </a:prstGeom>
          <a:solidFill>
            <a:srgbClr val="3B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6136" y="4069080"/>
            <a:ext cx="2103120" cy="118872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9AA8C8"/>
                </a:solidFill>
                <a:latin typeface="Segoe UI"/>
              </a:rPr>
              <a:t>Developer ecosystem &amp; marketplace</a:t>
            </a:r>
          </a:p>
        </p:txBody>
      </p:sp>
      <p:sp>
        <p:nvSpPr>
          <p:cNvPr id="23" name="Oval 22"/>
          <p:cNvSpPr/>
          <p:nvPr/>
        </p:nvSpPr>
        <p:spPr>
          <a:xfrm>
            <a:off x="11247120" y="3611880"/>
            <a:ext cx="219456" cy="219456"/>
          </a:xfrm>
          <a:prstGeom prst="ellipse">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05288" y="2743200"/>
            <a:ext cx="2103120" cy="77724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91440"/>
          <a:lstStyle/>
          <a:p>
            <a:pPr algn="l">
              <a:spcBef>
                <a:spcPts val="0"/>
              </a:spcBef>
              <a:spcAft>
                <a:spcPts val="100"/>
              </a:spcAft>
            </a:pPr>
            <a:r>
              <a:rPr sz="1100" b="1" i="0">
                <a:solidFill>
                  <a:srgbClr val="2DD4E0"/>
                </a:solidFill>
                <a:latin typeface="Segoe UI"/>
              </a:rPr>
              <a:t>Phase 5</a:t>
            </a:r>
          </a:p>
          <a:p>
            <a:pPr algn="l">
              <a:spcBef>
                <a:spcPts val="0"/>
              </a:spcBef>
              <a:spcAft>
                <a:spcPts val="0"/>
              </a:spcAft>
            </a:pPr>
            <a:r>
              <a:rPr sz="1300" b="1" i="0">
                <a:solidFill>
                  <a:srgbClr val="F5F8FF"/>
                </a:solidFill>
                <a:latin typeface="Segoe UI Semibold"/>
              </a:rPr>
              <a:t>Foundation Model</a:t>
            </a:r>
          </a:p>
        </p:txBody>
      </p:sp>
      <p:sp>
        <p:nvSpPr>
          <p:cNvPr id="25" name="Rectangle 24"/>
          <p:cNvSpPr/>
          <p:nvPr/>
        </p:nvSpPr>
        <p:spPr>
          <a:xfrm>
            <a:off x="10305288" y="2743200"/>
            <a:ext cx="2103120" cy="6400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05288" y="4069080"/>
            <a:ext cx="2103120" cy="118872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9AA8C8"/>
                </a:solidFill>
                <a:latin typeface="Segoe UI"/>
              </a:rPr>
              <a:t>Insurance model + knowledge graph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MOAT</a:t>
            </a:r>
          </a:p>
          <a:p>
            <a:pPr algn="l">
              <a:spcBef>
                <a:spcPts val="0"/>
              </a:spcBef>
              <a:spcAft>
                <a:spcPts val="0"/>
              </a:spcAft>
            </a:pPr>
            <a:r>
              <a:rPr sz="2900" b="1" i="0">
                <a:solidFill>
                  <a:srgbClr val="F5F8FF"/>
                </a:solidFill>
                <a:latin typeface="Segoe UI Semibold"/>
              </a:rPr>
              <a:t>Competitive Differentiation</a:t>
            </a:r>
          </a:p>
          <a:p>
            <a:pPr algn="l">
              <a:spcBef>
                <a:spcPts val="200"/>
              </a:spcBef>
              <a:spcAft>
                <a:spcPts val="0"/>
              </a:spcAft>
            </a:pPr>
            <a:r>
              <a:rPr sz="1400" b="0" i="0">
                <a:solidFill>
                  <a:srgbClr val="9AA8C8"/>
                </a:solidFill>
                <a:latin typeface="Segoe UI"/>
              </a:rPr>
              <a:t>Everyone sells a feature; we sell the decision layer.</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Positioning</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45</a:t>
            </a:r>
          </a:p>
        </p:txBody>
      </p:sp>
      <p:sp>
        <p:nvSpPr>
          <p:cNvPr id="6" name="Rectangle 5"/>
          <p:cNvSpPr/>
          <p:nvPr/>
        </p:nvSpPr>
        <p:spPr>
          <a:xfrm>
            <a:off x="868680" y="1874519"/>
            <a:ext cx="2560320" cy="603504"/>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Dimension</a:t>
            </a:r>
          </a:p>
        </p:txBody>
      </p:sp>
      <p:sp>
        <p:nvSpPr>
          <p:cNvPr id="7" name="Rectangle 6"/>
          <p:cNvSpPr/>
          <p:nvPr/>
        </p:nvSpPr>
        <p:spPr>
          <a:xfrm>
            <a:off x="3429000" y="1874519"/>
            <a:ext cx="3931920" cy="603504"/>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Point solutions / insurtech</a:t>
            </a:r>
          </a:p>
        </p:txBody>
      </p:sp>
      <p:sp>
        <p:nvSpPr>
          <p:cNvPr id="8" name="Rectangle 7"/>
          <p:cNvSpPr/>
          <p:nvPr/>
        </p:nvSpPr>
        <p:spPr>
          <a:xfrm>
            <a:off x="7360920" y="1874519"/>
            <a:ext cx="3931920" cy="603504"/>
          </a:xfrm>
          <a:prstGeom prst="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50" b="1" i="0">
                <a:solidFill>
                  <a:srgbClr val="2DD4E0"/>
                </a:solidFill>
                <a:latin typeface="Segoe UI"/>
              </a:rPr>
              <a:t>Aegis AI</a:t>
            </a:r>
          </a:p>
        </p:txBody>
      </p:sp>
      <p:sp>
        <p:nvSpPr>
          <p:cNvPr id="9" name="Rectangle 8"/>
          <p:cNvSpPr/>
          <p:nvPr/>
        </p:nvSpPr>
        <p:spPr>
          <a:xfrm>
            <a:off x="868680" y="2478023"/>
            <a:ext cx="25603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Scope</a:t>
            </a:r>
          </a:p>
        </p:txBody>
      </p:sp>
      <p:sp>
        <p:nvSpPr>
          <p:cNvPr id="10" name="Rectangle 9"/>
          <p:cNvSpPr/>
          <p:nvPr/>
        </p:nvSpPr>
        <p:spPr>
          <a:xfrm>
            <a:off x="3429000" y="2478023"/>
            <a:ext cx="39319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One feature (OCR, or a bot)</a:t>
            </a:r>
          </a:p>
        </p:txBody>
      </p:sp>
      <p:sp>
        <p:nvSpPr>
          <p:cNvPr id="11" name="Rectangle 10"/>
          <p:cNvSpPr/>
          <p:nvPr/>
        </p:nvSpPr>
        <p:spPr>
          <a:xfrm>
            <a:off x="7360920" y="2478023"/>
            <a:ext cx="39319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Composable intelligence platform</a:t>
            </a:r>
          </a:p>
        </p:txBody>
      </p:sp>
      <p:sp>
        <p:nvSpPr>
          <p:cNvPr id="12" name="Rectangle 11"/>
          <p:cNvSpPr/>
          <p:nvPr/>
        </p:nvSpPr>
        <p:spPr>
          <a:xfrm>
            <a:off x="868680" y="3081527"/>
            <a:ext cx="2560320" cy="60350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Decisions</a:t>
            </a:r>
          </a:p>
        </p:txBody>
      </p:sp>
      <p:sp>
        <p:nvSpPr>
          <p:cNvPr id="13" name="Rectangle 12"/>
          <p:cNvSpPr/>
          <p:nvPr/>
        </p:nvSpPr>
        <p:spPr>
          <a:xfrm>
            <a:off x="3429000" y="3081527"/>
            <a:ext cx="3931920" cy="60350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Scores only</a:t>
            </a:r>
          </a:p>
        </p:txBody>
      </p:sp>
      <p:sp>
        <p:nvSpPr>
          <p:cNvPr id="14" name="Rectangle 13"/>
          <p:cNvSpPr/>
          <p:nvPr/>
        </p:nvSpPr>
        <p:spPr>
          <a:xfrm>
            <a:off x="7360920" y="3081527"/>
            <a:ext cx="3931920" cy="60350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Explained, evidence-based decisions</a:t>
            </a:r>
          </a:p>
        </p:txBody>
      </p:sp>
      <p:sp>
        <p:nvSpPr>
          <p:cNvPr id="15" name="Rectangle 14"/>
          <p:cNvSpPr/>
          <p:nvPr/>
        </p:nvSpPr>
        <p:spPr>
          <a:xfrm>
            <a:off x="868680" y="3685031"/>
            <a:ext cx="25603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Trust</a:t>
            </a:r>
          </a:p>
        </p:txBody>
      </p:sp>
      <p:sp>
        <p:nvSpPr>
          <p:cNvPr id="16" name="Rectangle 15"/>
          <p:cNvSpPr/>
          <p:nvPr/>
        </p:nvSpPr>
        <p:spPr>
          <a:xfrm>
            <a:off x="3429000" y="3685031"/>
            <a:ext cx="39319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Black box</a:t>
            </a:r>
          </a:p>
        </p:txBody>
      </p:sp>
      <p:sp>
        <p:nvSpPr>
          <p:cNvPr id="17" name="Rectangle 16"/>
          <p:cNvSpPr/>
          <p:nvPr/>
        </p:nvSpPr>
        <p:spPr>
          <a:xfrm>
            <a:off x="7360920" y="3685031"/>
            <a:ext cx="39319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Explainable + human-in-the-loop + audit</a:t>
            </a:r>
          </a:p>
        </p:txBody>
      </p:sp>
      <p:sp>
        <p:nvSpPr>
          <p:cNvPr id="18" name="Rectangle 17"/>
          <p:cNvSpPr/>
          <p:nvPr/>
        </p:nvSpPr>
        <p:spPr>
          <a:xfrm>
            <a:off x="868680" y="4288535"/>
            <a:ext cx="2560320" cy="60350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Integration</a:t>
            </a:r>
          </a:p>
        </p:txBody>
      </p:sp>
      <p:sp>
        <p:nvSpPr>
          <p:cNvPr id="19" name="Rectangle 18"/>
          <p:cNvSpPr/>
          <p:nvPr/>
        </p:nvSpPr>
        <p:spPr>
          <a:xfrm>
            <a:off x="3429000" y="4288535"/>
            <a:ext cx="3931920" cy="60350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Bespoke</a:t>
            </a:r>
          </a:p>
        </p:txBody>
      </p:sp>
      <p:sp>
        <p:nvSpPr>
          <p:cNvPr id="20" name="Rectangle 19"/>
          <p:cNvSpPr/>
          <p:nvPr/>
        </p:nvSpPr>
        <p:spPr>
          <a:xfrm>
            <a:off x="7360920" y="4288535"/>
            <a:ext cx="3931920" cy="603504"/>
          </a:xfrm>
          <a:prstGeom prst="rect">
            <a:avLst/>
          </a:prstGeom>
          <a:solidFill>
            <a:srgbClr val="0A0F2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API-first, augments core systems</a:t>
            </a:r>
          </a:p>
        </p:txBody>
      </p:sp>
      <p:sp>
        <p:nvSpPr>
          <p:cNvPr id="21" name="Rectangle 20"/>
          <p:cNvSpPr/>
          <p:nvPr/>
        </p:nvSpPr>
        <p:spPr>
          <a:xfrm>
            <a:off x="868680" y="4892039"/>
            <a:ext cx="25603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Moat</a:t>
            </a:r>
          </a:p>
        </p:txBody>
      </p:sp>
      <p:sp>
        <p:nvSpPr>
          <p:cNvPr id="22" name="Rectangle 21"/>
          <p:cNvSpPr/>
          <p:nvPr/>
        </p:nvSpPr>
        <p:spPr>
          <a:xfrm>
            <a:off x="3429000" y="4892039"/>
            <a:ext cx="39319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0" i="0">
                <a:solidFill>
                  <a:srgbClr val="9AA8C8"/>
                </a:solidFill>
                <a:latin typeface="Segoe UI"/>
              </a:rPr>
              <a:t>Model of the month</a:t>
            </a:r>
          </a:p>
        </p:txBody>
      </p:sp>
      <p:sp>
        <p:nvSpPr>
          <p:cNvPr id="23" name="Rectangle 22"/>
          <p:cNvSpPr/>
          <p:nvPr/>
        </p:nvSpPr>
        <p:spPr>
          <a:xfrm>
            <a:off x="7360920" y="4892039"/>
            <a:ext cx="3931920" cy="603504"/>
          </a:xfrm>
          <a:prstGeom prst="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spcBef>
                <a:spcPts val="0"/>
              </a:spcBef>
              <a:spcAft>
                <a:spcPts val="0"/>
              </a:spcAft>
            </a:pPr>
            <a:r>
              <a:rPr sz="1200" b="1" i="0">
                <a:solidFill>
                  <a:srgbClr val="35D08A"/>
                </a:solidFill>
                <a:latin typeface="Segoe UI"/>
              </a:rPr>
              <a:t>Data → knowledge graph → foundation model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OUTCOMES</a:t>
            </a:r>
          </a:p>
          <a:p>
            <a:pPr algn="l">
              <a:spcBef>
                <a:spcPts val="0"/>
              </a:spcBef>
              <a:spcAft>
                <a:spcPts val="0"/>
              </a:spcAft>
            </a:pPr>
            <a:r>
              <a:rPr sz="2900" b="1" i="0">
                <a:solidFill>
                  <a:srgbClr val="F5F8FF"/>
                </a:solidFill>
                <a:latin typeface="Segoe UI Semibold"/>
              </a:rPr>
              <a:t>Expected Impact</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Positioning</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46</a:t>
            </a:r>
          </a:p>
        </p:txBody>
      </p:sp>
      <p:sp>
        <p:nvSpPr>
          <p:cNvPr id="6" name="TextBox 5"/>
          <p:cNvSpPr txBox="1"/>
          <p:nvPr/>
        </p:nvSpPr>
        <p:spPr>
          <a:xfrm>
            <a:off x="868680" y="1783080"/>
            <a:ext cx="521208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FOR INSURERS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Lower fraud leakage &amp; loss-adjustment cost</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Faster, consistent, defensible claims decisions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One governed AI layer instead of many point tools</a:t>
            </a:r>
          </a:p>
        </p:txBody>
      </p:sp>
      <p:sp>
        <p:nvSpPr>
          <p:cNvPr id="7" name="TextBox 6"/>
          <p:cNvSpPr txBox="1"/>
          <p:nvPr/>
        </p:nvSpPr>
        <p:spPr>
          <a:xfrm>
            <a:off x="6400800" y="1783080"/>
            <a:ext cx="5029200" cy="4023360"/>
          </a:xfrm>
          <a:prstGeom prst="rect">
            <a:avLst/>
          </a:prstGeom>
          <a:noFill/>
        </p:spPr>
        <p:txBody>
          <a:bodyPr wrap="square" anchor="t" lIns="0" rIns="0" tIns="0" bIns="0">
            <a:spAutoFit/>
          </a:bodyPr>
          <a:lstStyle/>
          <a:p>
            <a:pPr algn="l">
              <a:spcBef>
                <a:spcPts val="600"/>
              </a:spcBef>
              <a:spcAft>
                <a:spcPts val="300"/>
              </a:spcAft>
            </a:pPr>
            <a:r>
              <a:rPr sz="1250" b="1" i="0">
                <a:solidFill>
                  <a:srgbClr val="2DD4E0"/>
                </a:solidFill>
                <a:latin typeface="Segoe UI Semibold"/>
              </a:rPr>
              <a:t>FOR CUSTOMERS &amp; SOCIETY</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Claims in minutes, not weeks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Fairer pricing as leakage falls</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Accessible, multilingual, trustworthy guidance</a:t>
            </a:r>
          </a:p>
          <a:p>
            <a:pPr algn="l">
              <a:lnSpc>
                <a:spcPct val="105000"/>
              </a:lnSpc>
              <a:spcBef>
                <a:spcPts val="0"/>
              </a:spcBef>
              <a:spcAft>
                <a:spcPts val="700"/>
              </a:spcAft>
            </a:pPr>
            <a:r>
              <a:rPr sz="1400" b="1" i="0">
                <a:solidFill>
                  <a:srgbClr val="3B6EF5"/>
                </a:solidFill>
                <a:latin typeface="Segoe UI"/>
              </a:rPr>
              <a:t>▸  </a:t>
            </a:r>
            <a:r>
              <a:rPr sz="1400" b="0" i="0">
                <a:solidFill>
                  <a:srgbClr val="F5F8FF"/>
                </a:solidFill>
                <a:latin typeface="Segoe UI"/>
              </a:rPr>
              <a:t>AI decisions people can actually understand</a:t>
            </a:r>
          </a:p>
        </p:txBody>
      </p:sp>
      <p:sp>
        <p:nvSpPr>
          <p:cNvPr id="8" name="TextBox 7"/>
          <p:cNvSpPr txBox="1"/>
          <p:nvPr/>
        </p:nvSpPr>
        <p:spPr>
          <a:xfrm>
            <a:off x="868680" y="5989320"/>
            <a:ext cx="10515600" cy="365760"/>
          </a:xfrm>
          <a:prstGeom prst="rect">
            <a:avLst/>
          </a:prstGeom>
          <a:noFill/>
        </p:spPr>
        <p:txBody>
          <a:bodyPr wrap="square" anchor="t" lIns="0" rIns="0" tIns="0" bIns="0">
            <a:spAutoFit/>
          </a:bodyPr>
          <a:lstStyle/>
          <a:p>
            <a:pPr algn="l">
              <a:spcBef>
                <a:spcPts val="0"/>
              </a:spcBef>
              <a:spcAft>
                <a:spcPts val="0"/>
              </a:spcAft>
            </a:pPr>
            <a:r>
              <a:rPr sz="1050" b="1" i="0">
                <a:solidFill>
                  <a:srgbClr val="2DD4E0"/>
                </a:solidFill>
                <a:latin typeface="Segoe UI"/>
              </a:rPr>
              <a:t>▣  Suggested visual:  </a:t>
            </a:r>
            <a:r>
              <a:rPr sz="1050" b="0" i="0">
                <a:solidFill>
                  <a:srgbClr val="9AA8C8"/>
                </a:solidFill>
                <a:latin typeface="Segoe UI"/>
              </a:rPr>
              <a:t>Impact dashboard mock: leakage↓, cycle-time↓, CSAT↑, explainability-coverage↑.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CURRENT STATUS</a:t>
            </a:r>
          </a:p>
          <a:p>
            <a:pPr algn="l">
              <a:spcBef>
                <a:spcPts val="0"/>
              </a:spcBef>
              <a:spcAft>
                <a:spcPts val="0"/>
              </a:spcAft>
            </a:pPr>
            <a:r>
              <a:rPr sz="2900" b="1" i="0">
                <a:solidFill>
                  <a:srgbClr val="F5F8FF"/>
                </a:solidFill>
                <a:latin typeface="Segoe UI Semibold"/>
              </a:rPr>
              <a:t>Where We Are Today</a:t>
            </a:r>
          </a:p>
          <a:p>
            <a:pPr algn="l">
              <a:spcBef>
                <a:spcPts val="200"/>
              </a:spcBef>
              <a:spcAft>
                <a:spcPts val="0"/>
              </a:spcAft>
            </a:pPr>
            <a:r>
              <a:rPr sz="1400" b="0" i="0">
                <a:solidFill>
                  <a:srgbClr val="9AA8C8"/>
                </a:solidFill>
                <a:latin typeface="Segoe UI"/>
              </a:rPr>
              <a:t>Honest status — a working platform, ready to extend.</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Traction</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47</a:t>
            </a:r>
          </a:p>
        </p:txBody>
      </p:sp>
      <p:sp>
        <p:nvSpPr>
          <p:cNvPr id="6" name="Rounded Rectangle 5"/>
          <p:cNvSpPr/>
          <p:nvPr/>
        </p:nvSpPr>
        <p:spPr>
          <a:xfrm>
            <a:off x="868680" y="201168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DD4E0"/>
                </a:solidFill>
                <a:latin typeface="Segoe UI Semibold"/>
              </a:rPr>
              <a:t>5</a:t>
            </a:r>
          </a:p>
          <a:p>
            <a:pPr algn="ctr">
              <a:spcBef>
                <a:spcPts val="0"/>
              </a:spcBef>
              <a:spcAft>
                <a:spcPts val="0"/>
              </a:spcAft>
            </a:pPr>
            <a:r>
              <a:rPr sz="1200" b="0" i="0">
                <a:solidFill>
                  <a:srgbClr val="9AA8C8"/>
                </a:solidFill>
                <a:latin typeface="Segoe UI"/>
              </a:rPr>
              <a:t>Live specialist AI agents</a:t>
            </a:r>
          </a:p>
        </p:txBody>
      </p:sp>
      <p:sp>
        <p:nvSpPr>
          <p:cNvPr id="7" name="Rounded Rectangle 6"/>
          <p:cNvSpPr/>
          <p:nvPr/>
        </p:nvSpPr>
        <p:spPr>
          <a:xfrm>
            <a:off x="4462272" y="201168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DD4E0"/>
                </a:solidFill>
                <a:latin typeface="Segoe UI Semibold"/>
              </a:rPr>
              <a:t>36</a:t>
            </a:r>
          </a:p>
          <a:p>
            <a:pPr algn="ctr">
              <a:spcBef>
                <a:spcPts val="0"/>
              </a:spcBef>
              <a:spcAft>
                <a:spcPts val="0"/>
              </a:spcAft>
            </a:pPr>
            <a:r>
              <a:rPr sz="1200" b="0" i="0">
                <a:solidFill>
                  <a:srgbClr val="9AA8C8"/>
                </a:solidFill>
                <a:latin typeface="Segoe UI"/>
              </a:rPr>
              <a:t>Curated plans, 4 categories</a:t>
            </a:r>
          </a:p>
        </p:txBody>
      </p:sp>
      <p:sp>
        <p:nvSpPr>
          <p:cNvPr id="8" name="Rounded Rectangle 7"/>
          <p:cNvSpPr/>
          <p:nvPr/>
        </p:nvSpPr>
        <p:spPr>
          <a:xfrm>
            <a:off x="8055864" y="201168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DD4E0"/>
                </a:solidFill>
                <a:latin typeface="Segoe UI Semibold"/>
              </a:rPr>
              <a:t>200+</a:t>
            </a:r>
          </a:p>
          <a:p>
            <a:pPr algn="ctr">
              <a:spcBef>
                <a:spcPts val="0"/>
              </a:spcBef>
              <a:spcAft>
                <a:spcPts val="0"/>
              </a:spcAft>
            </a:pPr>
            <a:r>
              <a:rPr sz="1200" b="0" i="0">
                <a:solidFill>
                  <a:srgbClr val="9AA8C8"/>
                </a:solidFill>
                <a:latin typeface="Segoe UI"/>
              </a:rPr>
              <a:t>Automated tests + CI</a:t>
            </a:r>
          </a:p>
        </p:txBody>
      </p:sp>
      <p:sp>
        <p:nvSpPr>
          <p:cNvPr id="9" name="Rounded Rectangle 8"/>
          <p:cNvSpPr/>
          <p:nvPr/>
        </p:nvSpPr>
        <p:spPr>
          <a:xfrm>
            <a:off x="868680" y="361188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DD4E0"/>
                </a:solidFill>
                <a:latin typeface="Segoe UI Semibold"/>
              </a:rPr>
              <a:t>3</a:t>
            </a:r>
          </a:p>
          <a:p>
            <a:pPr algn="ctr">
              <a:spcBef>
                <a:spcPts val="0"/>
              </a:spcBef>
              <a:spcAft>
                <a:spcPts val="0"/>
              </a:spcAft>
            </a:pPr>
            <a:r>
              <a:rPr sz="1200" b="0" i="0">
                <a:solidFill>
                  <a:srgbClr val="9AA8C8"/>
                </a:solidFill>
                <a:latin typeface="Segoe UI"/>
              </a:rPr>
              <a:t>Provider-agnostic LLM backends</a:t>
            </a:r>
          </a:p>
        </p:txBody>
      </p:sp>
      <p:sp>
        <p:nvSpPr>
          <p:cNvPr id="10" name="Rounded Rectangle 9"/>
          <p:cNvSpPr/>
          <p:nvPr/>
        </p:nvSpPr>
        <p:spPr>
          <a:xfrm>
            <a:off x="4462272" y="361188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DD4E0"/>
                </a:solidFill>
                <a:latin typeface="Segoe UI Semibold"/>
              </a:rPr>
              <a:t>2</a:t>
            </a:r>
          </a:p>
          <a:p>
            <a:pPr algn="ctr">
              <a:spcBef>
                <a:spcPts val="0"/>
              </a:spcBef>
              <a:spcAft>
                <a:spcPts val="0"/>
              </a:spcAft>
            </a:pPr>
            <a:r>
              <a:rPr sz="1200" b="0" i="0">
                <a:solidFill>
                  <a:srgbClr val="9AA8C8"/>
                </a:solidFill>
                <a:latin typeface="Segoe UI"/>
              </a:rPr>
              <a:t>Live portals (customer/admin)</a:t>
            </a:r>
          </a:p>
        </p:txBody>
      </p:sp>
      <p:sp>
        <p:nvSpPr>
          <p:cNvPr id="11" name="Rounded Rectangle 10"/>
          <p:cNvSpPr/>
          <p:nvPr/>
        </p:nvSpPr>
        <p:spPr>
          <a:xfrm>
            <a:off x="8055864" y="3611880"/>
            <a:ext cx="3429000" cy="1371600"/>
          </a:xfrm>
          <a:prstGeom prst="roundRect">
            <a:avLst/>
          </a:prstGeom>
          <a:solidFill>
            <a:srgbClr val="16204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DD4E0"/>
                </a:solidFill>
                <a:latin typeface="Segoe UI Semibold"/>
              </a:rPr>
              <a:t>Phase 1</a:t>
            </a:r>
          </a:p>
          <a:p>
            <a:pPr algn="ctr">
              <a:spcBef>
                <a:spcPts val="0"/>
              </a:spcBef>
              <a:spcAft>
                <a:spcPts val="0"/>
              </a:spcAft>
            </a:pPr>
            <a:r>
              <a:rPr sz="1200" b="0" i="0">
                <a:solidFill>
                  <a:srgbClr val="9AA8C8"/>
                </a:solidFill>
                <a:latin typeface="Segoe UI"/>
              </a:rPr>
              <a:t>Roadmap complete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FOR THE PANEL</a:t>
            </a:r>
          </a:p>
          <a:p>
            <a:pPr algn="l">
              <a:spcBef>
                <a:spcPts val="0"/>
              </a:spcBef>
              <a:spcAft>
                <a:spcPts val="0"/>
              </a:spcAft>
            </a:pPr>
            <a:r>
              <a:rPr sz="2900" b="1" i="0">
                <a:solidFill>
                  <a:srgbClr val="F5F8FF"/>
                </a:solidFill>
                <a:latin typeface="Segoe UI Semibold"/>
              </a:rPr>
              <a:t>Anticipated Questions</a:t>
            </a:r>
          </a:p>
          <a:p>
            <a:pPr algn="l">
              <a:spcBef>
                <a:spcPts val="200"/>
              </a:spcBef>
              <a:spcAft>
                <a:spcPts val="0"/>
              </a:spcAft>
            </a:pPr>
            <a:r>
              <a:rPr sz="1400" b="0" i="0">
                <a:solidFill>
                  <a:srgbClr val="9AA8C8"/>
                </a:solidFill>
                <a:latin typeface="Segoe UI"/>
              </a:rPr>
              <a:t>Straight answers, prepared.</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Q&amp;A</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48</a:t>
            </a:r>
          </a:p>
        </p:txBody>
      </p:sp>
      <p:sp>
        <p:nvSpPr>
          <p:cNvPr id="6" name="Rounded Rectangle 5"/>
          <p:cNvSpPr/>
          <p:nvPr/>
        </p:nvSpPr>
        <p:spPr>
          <a:xfrm>
            <a:off x="868680" y="1920240"/>
            <a:ext cx="10424160" cy="62179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lnSpc>
                <a:spcPct val="100000"/>
              </a:lnSpc>
              <a:spcBef>
                <a:spcPts val="0"/>
              </a:spcBef>
              <a:spcAft>
                <a:spcPts val="0"/>
              </a:spcAft>
            </a:pPr>
            <a:r>
              <a:rPr sz="1300" b="1" i="0">
                <a:solidFill>
                  <a:srgbClr val="2DD4E0"/>
                </a:solidFill>
                <a:latin typeface="Segoe UI"/>
              </a:rPr>
              <a:t>‘Isn't this just a chatbot?'   </a:t>
            </a:r>
            <a:r>
              <a:rPr sz="1200" b="0" i="0">
                <a:solidFill>
                  <a:srgbClr val="F5F8FF"/>
                </a:solidFill>
                <a:latin typeface="Segoe UI"/>
              </a:rPr>
              <a:t>No — it's a multi-agent platform with orchestration, memory, recommendation and an API layer; the bot is one surface.</a:t>
            </a:r>
          </a:p>
        </p:txBody>
      </p:sp>
      <p:sp>
        <p:nvSpPr>
          <p:cNvPr id="7" name="Rounded Rectangle 6"/>
          <p:cNvSpPr/>
          <p:nvPr/>
        </p:nvSpPr>
        <p:spPr>
          <a:xfrm>
            <a:off x="868680" y="2633472"/>
            <a:ext cx="10424160" cy="62179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lnSpc>
                <a:spcPct val="100000"/>
              </a:lnSpc>
              <a:spcBef>
                <a:spcPts val="0"/>
              </a:spcBef>
              <a:spcAft>
                <a:spcPts val="0"/>
              </a:spcAft>
            </a:pPr>
            <a:r>
              <a:rPr sz="1300" b="1" i="0">
                <a:solidFill>
                  <a:srgbClr val="2DD4E0"/>
                </a:solidFill>
                <a:latin typeface="Segoe UI"/>
              </a:rPr>
              <a:t>‘Do the CV / fraud models exist?'   </a:t>
            </a:r>
            <a:r>
              <a:rPr sz="1200" b="0" i="0">
                <a:solidFill>
                  <a:srgbClr val="F5F8FF"/>
                </a:solidFill>
                <a:latin typeface="Segoe UI"/>
              </a:rPr>
              <a:t>Not yet — clearly labelled roadmap. The platform that hosts them is built and tested.</a:t>
            </a:r>
          </a:p>
        </p:txBody>
      </p:sp>
      <p:sp>
        <p:nvSpPr>
          <p:cNvPr id="8" name="Rounded Rectangle 7"/>
          <p:cNvSpPr/>
          <p:nvPr/>
        </p:nvSpPr>
        <p:spPr>
          <a:xfrm>
            <a:off x="868680" y="3346704"/>
            <a:ext cx="10424160" cy="62179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lnSpc>
                <a:spcPct val="100000"/>
              </a:lnSpc>
              <a:spcBef>
                <a:spcPts val="0"/>
              </a:spcBef>
              <a:spcAft>
                <a:spcPts val="0"/>
              </a:spcAft>
            </a:pPr>
            <a:r>
              <a:rPr sz="1300" b="1" i="0">
                <a:solidFill>
                  <a:srgbClr val="2DD4E0"/>
                </a:solidFill>
                <a:latin typeface="Segoe UI"/>
              </a:rPr>
              <a:t>‘How is it explainable?'   </a:t>
            </a:r>
            <a:r>
              <a:rPr sz="1200" b="0" i="0">
                <a:solidFill>
                  <a:srgbClr val="F5F8FF"/>
                </a:solidFill>
                <a:latin typeface="Segoe UI"/>
              </a:rPr>
              <a:t>Live reasoning trace + reason-for-fit today; evidence-linked decision receipts on the roadmap.</a:t>
            </a:r>
          </a:p>
        </p:txBody>
      </p:sp>
      <p:sp>
        <p:nvSpPr>
          <p:cNvPr id="9" name="Rounded Rectangle 8"/>
          <p:cNvSpPr/>
          <p:nvPr/>
        </p:nvSpPr>
        <p:spPr>
          <a:xfrm>
            <a:off x="868680" y="4059936"/>
            <a:ext cx="10424160" cy="62179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lnSpc>
                <a:spcPct val="100000"/>
              </a:lnSpc>
              <a:spcBef>
                <a:spcPts val="0"/>
              </a:spcBef>
              <a:spcAft>
                <a:spcPts val="0"/>
              </a:spcAft>
            </a:pPr>
            <a:r>
              <a:rPr sz="1300" b="1" i="0">
                <a:solidFill>
                  <a:srgbClr val="2DD4E0"/>
                </a:solidFill>
                <a:latin typeface="Segoe UI"/>
              </a:rPr>
              <a:t>‘Why will insurers adopt?'   </a:t>
            </a:r>
            <a:r>
              <a:rPr sz="1200" b="0" i="0">
                <a:solidFill>
                  <a:srgbClr val="F5F8FF"/>
                </a:solidFill>
                <a:latin typeface="Segoe UI"/>
              </a:rPr>
              <a:t>API-first: augment, don't replace. Weeks to integrate, governed and auditable by design.</a:t>
            </a:r>
          </a:p>
        </p:txBody>
      </p:sp>
      <p:sp>
        <p:nvSpPr>
          <p:cNvPr id="10" name="Rounded Rectangle 9"/>
          <p:cNvSpPr/>
          <p:nvPr/>
        </p:nvSpPr>
        <p:spPr>
          <a:xfrm>
            <a:off x="868680" y="4773168"/>
            <a:ext cx="10424160" cy="62179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lnSpc>
                <a:spcPct val="100000"/>
              </a:lnSpc>
              <a:spcBef>
                <a:spcPts val="0"/>
              </a:spcBef>
              <a:spcAft>
                <a:spcPts val="0"/>
              </a:spcAft>
            </a:pPr>
            <a:r>
              <a:rPr sz="1300" b="1" i="0">
                <a:solidFill>
                  <a:srgbClr val="2DD4E0"/>
                </a:solidFill>
                <a:latin typeface="Segoe UI"/>
              </a:rPr>
              <a:t>‘What's the moat?'   </a:t>
            </a:r>
            <a:r>
              <a:rPr sz="1200" b="0" i="0">
                <a:solidFill>
                  <a:srgbClr val="F5F8FF"/>
                </a:solidFill>
                <a:latin typeface="Segoe UI"/>
              </a:rPr>
              <a:t>The decision/trust layer plus compounding data → knowledge graph → foundation model.</a:t>
            </a:r>
          </a:p>
        </p:txBody>
      </p:sp>
      <p:sp>
        <p:nvSpPr>
          <p:cNvPr id="11" name="Rounded Rectangle 10"/>
          <p:cNvSpPr/>
          <p:nvPr/>
        </p:nvSpPr>
        <p:spPr>
          <a:xfrm>
            <a:off x="868680" y="5486400"/>
            <a:ext cx="10424160" cy="621792"/>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lnSpc>
                <a:spcPct val="100000"/>
              </a:lnSpc>
              <a:spcBef>
                <a:spcPts val="0"/>
              </a:spcBef>
              <a:spcAft>
                <a:spcPts val="0"/>
              </a:spcAft>
            </a:pPr>
            <a:r>
              <a:rPr sz="1300" b="1" i="0">
                <a:solidFill>
                  <a:srgbClr val="2DD4E0"/>
                </a:solidFill>
                <a:latin typeface="Segoe UI"/>
              </a:rPr>
              <a:t>‘Where are the market numbers from?'   </a:t>
            </a:r>
            <a:r>
              <a:rPr sz="1200" b="0" i="0">
                <a:solidFill>
                  <a:srgbClr val="F5F8FF"/>
                </a:solidFill>
                <a:latin typeface="Segoe UI"/>
              </a:rPr>
              <a:t>Cited third-party industry estimates, labelled as estimates — never our own measurements.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0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280160" cy="100584"/>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2743200"/>
          </a:xfrm>
          <a:prstGeom prst="rect">
            <a:avLst/>
          </a:prstGeom>
          <a:noFill/>
        </p:spPr>
        <p:txBody>
          <a:bodyPr wrap="square" anchor="t" lIns="0" rIns="0" tIns="0" bIns="0">
            <a:spAutoFit/>
          </a:bodyPr>
          <a:lstStyle/>
          <a:p>
            <a:pPr algn="l">
              <a:spcBef>
                <a:spcPts val="0"/>
              </a:spcBef>
              <a:spcAft>
                <a:spcPts val="0"/>
              </a:spcAft>
            </a:pPr>
            <a:r>
              <a:rPr sz="4000" b="1" i="0">
                <a:solidFill>
                  <a:srgbClr val="F5F8FF"/>
                </a:solidFill>
                <a:latin typeface="Segoe UI Semibold"/>
              </a:rPr>
              <a:t>The Future We're Building</a:t>
            </a:r>
          </a:p>
          <a:p>
            <a:pPr algn="l">
              <a:lnSpc>
                <a:spcPct val="120000"/>
              </a:lnSpc>
              <a:spcBef>
                <a:spcPts val="1400"/>
              </a:spcBef>
              <a:spcAft>
                <a:spcPts val="0"/>
              </a:spcAft>
            </a:pPr>
            <a:r>
              <a:rPr sz="2100" b="0" i="0">
                <a:solidFill>
                  <a:srgbClr val="9AA8C8"/>
                </a:solidFill>
                <a:latin typeface="Segoe UI"/>
              </a:rPr>
              <a:t>Every insurer on Earth running trustworthy AI — fraud stopped with evidence, claims settled in minutes, and every decision one a human can understand.</a:t>
            </a:r>
          </a:p>
          <a:p>
            <a:pPr algn="l">
              <a:spcBef>
                <a:spcPts val="1800"/>
              </a:spcBef>
              <a:spcAft>
                <a:spcPts val="0"/>
              </a:spcAft>
            </a:pPr>
            <a:r>
              <a:rPr sz="1800" b="1" i="0">
                <a:solidFill>
                  <a:srgbClr val="2DD4E0"/>
                </a:solidFill>
                <a:latin typeface="Segoe UI"/>
              </a:rPr>
              <a:t>Aegis AI — the AI operating system for the global insurance industry.</a:t>
            </a:r>
          </a:p>
        </p:txBody>
      </p:sp>
      <p:sp>
        <p:nvSpPr>
          <p:cNvPr id="5" name="TextBox 4"/>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Vision</a:t>
            </a:r>
          </a:p>
        </p:txBody>
      </p:sp>
      <p:sp>
        <p:nvSpPr>
          <p:cNvPr id="6" name="TextBox 5"/>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640080" y="548640"/>
            <a:ext cx="82296" cy="566928"/>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1051560"/>
          </a:xfrm>
          <a:prstGeom prst="rect">
            <a:avLst/>
          </a:prstGeom>
          <a:noFill/>
        </p:spPr>
        <p:txBody>
          <a:bodyPr wrap="square" anchor="t" lIns="0" rIns="0" tIns="0" bIns="0">
            <a:spAutoFit/>
          </a:bodyPr>
          <a:lstStyle/>
          <a:p>
            <a:pPr algn="l">
              <a:spcBef>
                <a:spcPts val="0"/>
              </a:spcBef>
              <a:spcAft>
                <a:spcPts val="200"/>
              </a:spcAft>
            </a:pPr>
            <a:r>
              <a:rPr sz="1100" b="1" i="0">
                <a:solidFill>
                  <a:srgbClr val="2DD4E0"/>
                </a:solidFill>
                <a:latin typeface="Segoe UI"/>
              </a:rPr>
              <a:t>SELECTED REFERENCES</a:t>
            </a:r>
          </a:p>
          <a:p>
            <a:pPr algn="l">
              <a:spcBef>
                <a:spcPts val="0"/>
              </a:spcBef>
              <a:spcAft>
                <a:spcPts val="0"/>
              </a:spcAft>
            </a:pPr>
            <a:r>
              <a:rPr sz="2900" b="1" i="0">
                <a:solidFill>
                  <a:srgbClr val="F5F8FF"/>
                </a:solidFill>
                <a:latin typeface="Segoe UI Semibold"/>
              </a:rPr>
              <a:t>References</a:t>
            </a:r>
          </a:p>
          <a:p>
            <a:pPr algn="l">
              <a:spcBef>
                <a:spcPts val="200"/>
              </a:spcBef>
              <a:spcAft>
                <a:spcPts val="0"/>
              </a:spcAft>
            </a:pPr>
            <a:r>
              <a:rPr sz="1400" b="0" i="0">
                <a:solidFill>
                  <a:srgbClr val="9AA8C8"/>
                </a:solidFill>
                <a:latin typeface="Segoe UI"/>
              </a:rPr>
              <a:t>IEEE style — selected.</a:t>
            </a:r>
          </a:p>
        </p:txBody>
      </p:sp>
      <p:sp>
        <p:nvSpPr>
          <p:cNvPr id="4" name="TextBox 3"/>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References</a:t>
            </a:r>
          </a:p>
        </p:txBody>
      </p:sp>
      <p:sp>
        <p:nvSpPr>
          <p:cNvPr id="5" name="TextBox 4"/>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50</a:t>
            </a:r>
          </a:p>
        </p:txBody>
      </p:sp>
      <p:sp>
        <p:nvSpPr>
          <p:cNvPr id="6" name="TextBox 5"/>
          <p:cNvSpPr txBox="1"/>
          <p:nvPr/>
        </p:nvSpPr>
        <p:spPr>
          <a:xfrm>
            <a:off x="868680" y="1783080"/>
            <a:ext cx="10515600" cy="4389120"/>
          </a:xfrm>
          <a:prstGeom prst="rect">
            <a:avLst/>
          </a:prstGeom>
          <a:noFill/>
        </p:spPr>
        <p:txBody>
          <a:bodyPr wrap="square" anchor="t" lIns="0" rIns="0" tIns="0" bIns="0">
            <a:spAutoFit/>
          </a:bodyPr>
          <a:lstStyle/>
          <a:p>
            <a:pPr algn="l">
              <a:lnSpc>
                <a:spcPct val="102000"/>
              </a:lnSpc>
              <a:spcBef>
                <a:spcPts val="0"/>
              </a:spcBef>
              <a:spcAft>
                <a:spcPts val="600"/>
              </a:spcAft>
            </a:pPr>
            <a:r>
              <a:rPr sz="1200" b="0" i="0">
                <a:solidFill>
                  <a:srgbClr val="9AA8C8"/>
                </a:solidFill>
                <a:latin typeface="Segoe UI"/>
              </a:rPr>
              <a:t>[1] “AI Revolution in Insurance: Bridging Research and Reality,” (anchor paper for this work).</a:t>
            </a:r>
          </a:p>
          <a:p>
            <a:pPr algn="l">
              <a:lnSpc>
                <a:spcPct val="102000"/>
              </a:lnSpc>
              <a:spcBef>
                <a:spcPts val="0"/>
              </a:spcBef>
              <a:spcAft>
                <a:spcPts val="600"/>
              </a:spcAft>
            </a:pPr>
            <a:r>
              <a:rPr sz="1200" b="0" i="0">
                <a:solidFill>
                  <a:srgbClr val="9AA8C8"/>
                </a:solidFill>
                <a:latin typeface="Segoe UI"/>
              </a:rPr>
              <a:t>[2] F. T. Liu et al., “Isolation Forest,” IEEE ICDM, 2008.</a:t>
            </a:r>
          </a:p>
          <a:p>
            <a:pPr algn="l">
              <a:lnSpc>
                <a:spcPct val="102000"/>
              </a:lnSpc>
              <a:spcBef>
                <a:spcPts val="0"/>
              </a:spcBef>
              <a:spcAft>
                <a:spcPts val="600"/>
              </a:spcAft>
            </a:pPr>
            <a:r>
              <a:rPr sz="1200" b="0" i="0">
                <a:solidFill>
                  <a:srgbClr val="9AA8C8"/>
                </a:solidFill>
                <a:latin typeface="Segoe UI"/>
              </a:rPr>
              <a:t>[3] T. Chen and C. Guestrin, “XGBoost: A Scalable Tree Boosting System,” ACM KDD, 2016.</a:t>
            </a:r>
          </a:p>
          <a:p>
            <a:pPr algn="l">
              <a:lnSpc>
                <a:spcPct val="102000"/>
              </a:lnSpc>
              <a:spcBef>
                <a:spcPts val="0"/>
              </a:spcBef>
              <a:spcAft>
                <a:spcPts val="600"/>
              </a:spcAft>
            </a:pPr>
            <a:r>
              <a:rPr sz="1200" b="0" i="0">
                <a:solidFill>
                  <a:srgbClr val="9AA8C8"/>
                </a:solidFill>
                <a:latin typeface="Segoe UI"/>
              </a:rPr>
              <a:t>[4] T. N. Kipf and M. Welling, “Semi-Supervised Classification with Graph Convolutional Networks,” ICLR, 2017.</a:t>
            </a:r>
          </a:p>
          <a:p>
            <a:pPr algn="l">
              <a:lnSpc>
                <a:spcPct val="102000"/>
              </a:lnSpc>
              <a:spcBef>
                <a:spcPts val="0"/>
              </a:spcBef>
              <a:spcAft>
                <a:spcPts val="600"/>
              </a:spcAft>
            </a:pPr>
            <a:r>
              <a:rPr sz="1200" b="0" i="0">
                <a:solidFill>
                  <a:srgbClr val="9AA8C8"/>
                </a:solidFill>
                <a:latin typeface="Segoe UI"/>
              </a:rPr>
              <a:t>[5] J. Redmon et al., “You Only Look Once (YOLO): Unified, Real-Time Object Detection,” IEEE CVPR, 2016.</a:t>
            </a:r>
          </a:p>
          <a:p>
            <a:pPr algn="l">
              <a:lnSpc>
                <a:spcPct val="102000"/>
              </a:lnSpc>
              <a:spcBef>
                <a:spcPts val="0"/>
              </a:spcBef>
              <a:spcAft>
                <a:spcPts val="600"/>
              </a:spcAft>
            </a:pPr>
            <a:r>
              <a:rPr sz="1200" b="0" i="0">
                <a:solidFill>
                  <a:srgbClr val="9AA8C8"/>
                </a:solidFill>
                <a:latin typeface="Segoe UI"/>
              </a:rPr>
              <a:t>[6] A. Kirillov et al., “Segment Anything (SAM),” IEEE/CVF ICCV, 2023.</a:t>
            </a:r>
          </a:p>
          <a:p>
            <a:pPr algn="l">
              <a:lnSpc>
                <a:spcPct val="102000"/>
              </a:lnSpc>
              <a:spcBef>
                <a:spcPts val="0"/>
              </a:spcBef>
              <a:spcAft>
                <a:spcPts val="600"/>
              </a:spcAft>
            </a:pPr>
            <a:r>
              <a:rPr sz="1200" b="0" i="0">
                <a:solidFill>
                  <a:srgbClr val="9AA8C8"/>
                </a:solidFill>
                <a:latin typeface="Segoe UI"/>
              </a:rPr>
              <a:t>[7] A. Dosovitskiy et al., “An Image is Worth 16×16 Words: Transformers for Image Recognition,” ICLR, 2021.</a:t>
            </a:r>
          </a:p>
          <a:p>
            <a:pPr algn="l">
              <a:lnSpc>
                <a:spcPct val="102000"/>
              </a:lnSpc>
              <a:spcBef>
                <a:spcPts val="0"/>
              </a:spcBef>
              <a:spcAft>
                <a:spcPts val="600"/>
              </a:spcAft>
            </a:pPr>
            <a:r>
              <a:rPr sz="1200" b="0" i="0">
                <a:solidFill>
                  <a:srgbClr val="9AA8C8"/>
                </a:solidFill>
                <a:latin typeface="Segoe UI"/>
              </a:rPr>
              <a:t>[8] A. Vaswani et al., “Attention Is All You Need,” NeurIPS, 2017.</a:t>
            </a:r>
          </a:p>
          <a:p>
            <a:pPr algn="l">
              <a:lnSpc>
                <a:spcPct val="102000"/>
              </a:lnSpc>
              <a:spcBef>
                <a:spcPts val="0"/>
              </a:spcBef>
              <a:spcAft>
                <a:spcPts val="600"/>
              </a:spcAft>
            </a:pPr>
            <a:r>
              <a:rPr sz="1200" b="0" i="0">
                <a:solidFill>
                  <a:srgbClr val="9AA8C8"/>
                </a:solidFill>
                <a:latin typeface="Segoe UI"/>
              </a:rPr>
              <a:t>[9] S. Lundberg and S.-I. Lee, “A Unified Approach to Interpreting Model Predictions (SHAP),” NeurIPS, 2017.</a:t>
            </a:r>
          </a:p>
          <a:p>
            <a:pPr algn="l">
              <a:lnSpc>
                <a:spcPct val="102000"/>
              </a:lnSpc>
              <a:spcBef>
                <a:spcPts val="0"/>
              </a:spcBef>
              <a:spcAft>
                <a:spcPts val="600"/>
              </a:spcAft>
            </a:pPr>
            <a:r>
              <a:rPr sz="1200" b="0" i="0">
                <a:solidFill>
                  <a:srgbClr val="9AA8C8"/>
                </a:solidFill>
                <a:latin typeface="Segoe UI"/>
              </a:rPr>
              <a:t>[10] B. McMahan et al., “Communication-Efficient Learning of Deep Networks from Decentralized Data (Federated Learning),” AISTATS, 2017.</a:t>
            </a:r>
          </a:p>
          <a:p>
            <a:pPr algn="l">
              <a:lnSpc>
                <a:spcPct val="102000"/>
              </a:lnSpc>
              <a:spcBef>
                <a:spcPts val="0"/>
              </a:spcBef>
              <a:spcAft>
                <a:spcPts val="600"/>
              </a:spcAft>
            </a:pPr>
            <a:r>
              <a:rPr sz="1200" b="0" i="0">
                <a:solidFill>
                  <a:srgbClr val="9AA8C8"/>
                </a:solidFill>
                <a:latin typeface="Segoe UI"/>
              </a:rPr>
              <a:t>[11] Industry fraud-cost estimates: Coalition Against Insurance Fraud; Swiss Re / Deloitte insurance-AI reports.</a:t>
            </a:r>
          </a:p>
          <a:p>
            <a:pPr algn="l">
              <a:lnSpc>
                <a:spcPct val="102000"/>
              </a:lnSpc>
              <a:spcBef>
                <a:spcPts val="0"/>
              </a:spcBef>
              <a:spcAft>
                <a:spcPts val="600"/>
              </a:spcAft>
            </a:pPr>
            <a:r>
              <a:rPr sz="1200" b="0" i="0">
                <a:solidFill>
                  <a:srgbClr val="9AA8C8"/>
                </a:solidFill>
                <a:latin typeface="Segoe UI"/>
              </a:rPr>
              <a:t>[12] Technical reports &amp; model documentation: OpenAI, Google, Anthropic, Microsoft Research, NVIDIA.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F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0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600200"/>
            <a:ext cx="1280160" cy="100584"/>
          </a:xfrm>
          <a:prstGeom prst="rect">
            <a:avLst/>
          </a:prstGeom>
          <a:solidFill>
            <a:srgbClr val="2DD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515600" cy="2011680"/>
          </a:xfrm>
          <a:prstGeom prst="rect">
            <a:avLst/>
          </a:prstGeom>
          <a:noFill/>
        </p:spPr>
        <p:txBody>
          <a:bodyPr wrap="square" anchor="t" lIns="0" rIns="0" tIns="0" bIns="0">
            <a:spAutoFit/>
          </a:bodyPr>
          <a:lstStyle/>
          <a:p>
            <a:pPr algn="l">
              <a:spcBef>
                <a:spcPts val="0"/>
              </a:spcBef>
              <a:spcAft>
                <a:spcPts val="0"/>
              </a:spcAft>
            </a:pPr>
            <a:r>
              <a:rPr sz="5400" b="1" i="0">
                <a:solidFill>
                  <a:srgbClr val="F5F8FF"/>
                </a:solidFill>
                <a:latin typeface="Segoe UI Semibold"/>
              </a:rPr>
              <a:t>Thank You</a:t>
            </a:r>
          </a:p>
          <a:p>
            <a:pPr algn="l">
              <a:spcBef>
                <a:spcPts val="1000"/>
              </a:spcBef>
              <a:spcAft>
                <a:spcPts val="0"/>
              </a:spcAft>
            </a:pPr>
            <a:r>
              <a:rPr sz="2000" b="1" i="0">
                <a:solidFill>
                  <a:srgbClr val="2DD4E0"/>
                </a:solidFill>
                <a:latin typeface="Segoe UI"/>
              </a:rPr>
              <a:t>Let's build the AI operating system for insurance — together.</a:t>
            </a:r>
          </a:p>
        </p:txBody>
      </p:sp>
      <p:sp>
        <p:nvSpPr>
          <p:cNvPr id="5" name="Rounded Rectangle 4"/>
          <p:cNvSpPr/>
          <p:nvPr/>
        </p:nvSpPr>
        <p:spPr>
          <a:xfrm>
            <a:off x="822960" y="3657600"/>
            <a:ext cx="10515600" cy="1143000"/>
          </a:xfrm>
          <a:prstGeom prst="roundRect">
            <a:avLst/>
          </a:prstGeom>
          <a:solidFill>
            <a:srgbClr val="101830"/>
          </a:solidFill>
          <a:ln w="12700">
            <a:solidFill>
              <a:srgbClr val="2A3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840480"/>
            <a:ext cx="10058400" cy="822960"/>
          </a:xfrm>
          <a:prstGeom prst="rect">
            <a:avLst/>
          </a:prstGeom>
          <a:noFill/>
        </p:spPr>
        <p:txBody>
          <a:bodyPr wrap="square" anchor="ctr" lIns="0" rIns="0" tIns="0" bIns="0">
            <a:spAutoFit/>
          </a:bodyPr>
          <a:lstStyle/>
          <a:p>
            <a:pPr algn="l">
              <a:lnSpc>
                <a:spcPct val="115000"/>
              </a:lnSpc>
              <a:spcBef>
                <a:spcPts val="0"/>
              </a:spcBef>
              <a:spcAft>
                <a:spcPts val="0"/>
              </a:spcAft>
            </a:pPr>
            <a:r>
              <a:rPr sz="1500" b="0" i="0">
                <a:solidFill>
                  <a:srgbClr val="F5F8FF"/>
                </a:solidFill>
                <a:latin typeface="Segoe UI"/>
              </a:rPr>
              <a:t>We've built the platform and proven the architecture. The ask: a design-partner insurer and the backing to ship Phase 2 — fraud, OCR and damage intelligence — as the first APIs of an industry standard.</a:t>
            </a:r>
          </a:p>
        </p:txBody>
      </p:sp>
      <p:sp>
        <p:nvSpPr>
          <p:cNvPr id="7" name="TextBox 6"/>
          <p:cNvSpPr txBox="1"/>
          <p:nvPr/>
        </p:nvSpPr>
        <p:spPr>
          <a:xfrm>
            <a:off x="822960" y="5212080"/>
            <a:ext cx="10515600" cy="914400"/>
          </a:xfrm>
          <a:prstGeom prst="rect">
            <a:avLst/>
          </a:prstGeom>
          <a:noFill/>
        </p:spPr>
        <p:txBody>
          <a:bodyPr wrap="square" anchor="t" lIns="0" rIns="0" tIns="0" bIns="0">
            <a:spAutoFit/>
          </a:bodyPr>
          <a:lstStyle/>
          <a:p>
            <a:pPr algn="l">
              <a:spcBef>
                <a:spcPts val="0"/>
              </a:spcBef>
              <a:spcAft>
                <a:spcPts val="200"/>
              </a:spcAft>
            </a:pPr>
            <a:r>
              <a:rPr sz="1600" b="1" i="0">
                <a:solidFill>
                  <a:srgbClr val="F5F8FF"/>
                </a:solidFill>
                <a:latin typeface="Segoe UI"/>
              </a:rPr>
              <a:t>Sri Nivaspanneer</a:t>
            </a:r>
          </a:p>
          <a:p>
            <a:pPr algn="l">
              <a:spcBef>
                <a:spcPts val="0"/>
              </a:spcBef>
              <a:spcAft>
                <a:spcPts val="0"/>
              </a:spcAft>
            </a:pPr>
            <a:r>
              <a:rPr sz="1300" b="0" i="0">
                <a:solidFill>
                  <a:srgbClr val="9AA8C8"/>
                </a:solidFill>
                <a:latin typeface="Segoe UI"/>
              </a:rPr>
              <a:t>srinivaspanneerlm@gmail.com     ·     Aegis AI — The AI Operating System for Insurance</a:t>
            </a:r>
          </a:p>
        </p:txBody>
      </p:sp>
      <p:sp>
        <p:nvSpPr>
          <p:cNvPr id="8" name="TextBox 7"/>
          <p:cNvSpPr txBox="1"/>
          <p:nvPr/>
        </p:nvSpPr>
        <p:spPr>
          <a:xfrm>
            <a:off x="640080" y="6419088"/>
            <a:ext cx="8229600" cy="320040"/>
          </a:xfrm>
          <a:prstGeom prst="rect">
            <a:avLst/>
          </a:prstGeom>
          <a:noFill/>
        </p:spPr>
        <p:txBody>
          <a:bodyPr wrap="square" anchor="t" lIns="0" rIns="0" tIns="0" bIns="0">
            <a:spAutoFit/>
          </a:bodyPr>
          <a:lstStyle/>
          <a:p>
            <a:pPr algn="l">
              <a:spcBef>
                <a:spcPts val="0"/>
              </a:spcBef>
              <a:spcAft>
                <a:spcPts val="0"/>
              </a:spcAft>
            </a:pPr>
            <a:r>
              <a:rPr sz="900" b="1" i="0">
                <a:solidFill>
                  <a:srgbClr val="2DD4E0"/>
                </a:solidFill>
                <a:latin typeface="Segoe UI"/>
              </a:rPr>
              <a:t>AEGIS AI</a:t>
            </a:r>
            <a:r>
              <a:rPr sz="900" b="0" i="0">
                <a:solidFill>
                  <a:srgbClr val="6C7A9C"/>
                </a:solidFill>
                <a:latin typeface="Segoe UI"/>
              </a:rPr>
              <a:t>   ·   The AI Operating System for Insurance</a:t>
            </a:r>
            <a:r>
              <a:rPr sz="900" b="0" i="0">
                <a:solidFill>
                  <a:srgbClr val="6C7A9C"/>
                </a:solidFill>
                <a:latin typeface="Segoe UI"/>
              </a:rPr>
              <a:t>    ·   Close</a:t>
            </a:r>
          </a:p>
        </p:txBody>
      </p:sp>
      <p:sp>
        <p:nvSpPr>
          <p:cNvPr id="9" name="TextBox 8"/>
          <p:cNvSpPr txBox="1"/>
          <p:nvPr/>
        </p:nvSpPr>
        <p:spPr>
          <a:xfrm>
            <a:off x="11155680" y="6419088"/>
            <a:ext cx="822960" cy="320040"/>
          </a:xfrm>
          <a:prstGeom prst="rect">
            <a:avLst/>
          </a:prstGeom>
          <a:noFill/>
        </p:spPr>
        <p:txBody>
          <a:bodyPr wrap="square" anchor="t" lIns="0" rIns="0" tIns="0" bIns="0">
            <a:spAutoFit/>
          </a:bodyPr>
          <a:lstStyle/>
          <a:p>
            <a:pPr algn="r">
              <a:spcBef>
                <a:spcPts val="0"/>
              </a:spcBef>
              <a:spcAft>
                <a:spcPts val="0"/>
              </a:spcAft>
            </a:pPr>
            <a:r>
              <a:rPr sz="900" b="1" i="0">
                <a:solidFill>
                  <a:srgbClr val="6C7A9C"/>
                </a:solidFill>
                <a:latin typeface="Segoe UI"/>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